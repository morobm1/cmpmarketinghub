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Harbour at Orange Coast College Resident Assistant training for the ResLife Hub and the Creative Studio. In this video we will walk through every tab you have access to as an RA, what each one is for, and step by step how to use it. Keep the Hub open in another window so you can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We start with the basics: logging in, the header, your sidebar, and the Dashboard. Then team and program tools: Announcements, Program Proposals, Committees, and the Schedule. Then your on-duty tools: the Duty Log, Guest Log, Incident Reports, and Maintenance and Keys. We finish with reference tabs and the Creative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getting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log in, go to the Hub login page and enter the username and password your Reslife Admin gave you. Click Sign In and you will land on the ResLife Hub Dashboard. If you ever see a message that your account is not tied to a property, reach out to your Reslife Admin. For security, the Hub signs you out after twelve hours of inactivity, and you should always click Log Out on a shared computer. Never share your login, because everything you submit is recorded under your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top of every page is the header. The bell shows your unread notifications: announcements, program updates, shift changes and creative approvals. Click any item to jump right to it, or click Mark all read. Urgent announcements pop up on screen; read them and click Got it. At the bottom right of every page is the Feedback button. Use it to report a bug, request a feature, or ask a question, and you can paste in a screenshot. Your role badge shows Reslife RA, and if you work at more than one property you will see a property switcher. Log Out is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sidebar map. As an RA you can use the Dashboard, Announcements, Program Proposals, Committees, Schedule and On-Call, Duty Log, Guest Log, Incident Reports, Maintenance and Keys, Resident Directory, Campus Contacts, the Curriculum Tracker, the SOP Library, Resources, Training Modules, and the Creative Studio. A few sidebar links, like the Incident Report Assistant, Curriculum Management and the Collateral Hub, open their own pages. Some tabs you may hear about, such as Safety Records or Manage Users, are for RECs and Admins only, so you will not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your home base. The stat cards across the top show open incidents, open maintenance and key requests, your upcoming shifts, active program proposals and more. Click any card to jump into that tab. Below that you will see pinned and recent announcements, the On Call Now panel showing who is on duty and your next duty shift, and the Incident Report Assistant where you can start a new report or continue a draft. A good habit is to start every shift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Announcements is your team news feed. RECs and Admins post updates here, sometimes with images or video. Pinned posts stay at the top and usually contain expectations you are responsible for, so read them carefully. Urgent announcements will also pop up on your screen and show in your bell. As an RA you read announcements; posting and pinning is handled by RECs and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Program Proposals, where you plan and submit your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Proposals is where you plan your programs. You can view everything as a dashboard, a list, or a calendar. The stat strip shows what is upcoming, what is awaiting approval, and anything that needs revision. Use the filters or tick Mine only to see just your programs. The dashboard cards highlight what needs your attention, like changes your REC requested or missing action items. To start, click New Program Proposal, or click Templates to begin from a template or a past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New Program Proposal to open the five-step wizard. In step one, Program Information, enter a title, choose the program type, either Individual, Collaborative, or Large Scale, and pick Active or Passive format. Choose your programming category, your assigned REC, the date, times and location. In step two, Program Purpose, write your description. Click the little i icon and Insert this template for a helpful outline. Then add your learning objectives, starting with Residents will be able to. If your program has stations, list who runs each one. Fields with a star are required to submit, but you can save a draft at any time, and drafts auto-save once there is a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covers logistics: space, equipment, setup and breakdown, promotion, and accessibility. Step four is your action item list and budget. Add purchases with the vendor, link, cost and quantity, plus any supplies you already have, flyer or marketing requests, and tasks. Enter each vendor’s tax, delivery fees, Instacart fees and tip, because nothing is assumed. If your program needs nothing, tick the No supplies box. Step five reviews everything and tells you what is still missing. When it is complete, click Submit for Approval. Remember: all purchases use the Emburse card, and out-of-pocket reimbursements are not permitted.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build your budget, the Hub shows purchasing reminders. Amazon is for non-food items only; buy food locally, often through Instacart. Costco Food Court does not take MasterCard, so it cannot be paid with the Emburse card. For delivery and Instacart, include all fees and the tip. Pickup orders need a needed-by date and a responsible RA. For perishables, confirm a pickup window and refrigeration. And you will see a flag if you go over the approved budget. These are warnings only; the Hub never changes your numbers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submitted, click Open on any program to see its details. If your REC requests changes, click Edit, make the updates, and submit again. You can also withdraw a proposal back to draft. The Checklist tab tracks the standard tasks; update each one as Not started, In progress, Done, or Blocked. If you edit a program that is already approved, it may go back to your REC for re-review. After the program, fill in the Evaluation and Report with attendance, actual expenses, results, feedback and photos, then click Save evaluation. Use Duplicate or Templates to reuse a successful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Committees tab shows each committee roster: advisors, the lead, how often you meet, and members. To record a meeting, click Meeting Minutes, then Add Meeting. Enter the date and your agenda or notes, add action items with who is assigned and the due date, review, and click Save Minutes. You can edit or delete minutes that you logged. For deeper project tracking, use the Open Collateral Hub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your schedule and on-call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Schedule and On-Call, the Overview shows who is on call right now, the duty phone, and the escalation list: backup, other on-call roles, and emergency. When a new schedule is published you will see a banner; click Review schedule, then I have reviewed my schedule. My Schedule shows your next ninety days, and you can add it to your personal calendar with the dot-ics button. Team Schedule shows everyone in month, week, or list view. History shows the shifts you have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away a shift, click one of your future shifts and choose Offer shift, or Request swap to ask a specific teammate. To pick up extra hours, go to Open Shifts and click Pick up shift. If someone offers you a shift or a swap, you can take or accept it. Track all requests in Shift Requests. In Availability, set each weekday as available, preferred, or unavailable and save, and request time off with a reason. Remember: until a swap is approved, the original person is still responsible for that shift. After your shift you can add a handoff note, but official incidents still belong in the Duty Log or an Incident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the Duty Log, one of your most important on-duty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Duty Log at the start of your shift. Click the button for your scheduled shift, or choose a shift and click Start or open shift log. There is one shared log per shift, so your duty partner opens the same log; they can click Join on the shift chip. Confirm you are the Duty RA and select your Duty Partner. If your shift is quiet, tick No Calls or Incidents to Report. Everyone on the shift can add entries, and only one of you needs to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log a call, click Add Call or Incident. Enter the incident date and time of call, the caller’s name and title, the location with building and room, and the incident type. Under Reason for Call, write the initial information you were given. Under Response or Follow-Up, write a short two to three sentence summary of what you did. Important: do not include resident names or student IDs in that section. Choose what documentation was completed, then click Done. Every field saves as you type, and you can edit or remove entries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your duty period, click Submit Duty Log. You need at least one entry or the No Calls box ticked. Review the summary and confirm. Once submitted, the log becomes read-only; you can view and print the report. If you need to fix something the same day, use Reopen to edit; otherwise, click Request Edit Unlock and your REC or Admin will unlock it. If you lose connection, keep working: changes are saved on your device and sync automatically, but you will need a connection to submit. Always submit at the end of your duty period and follow your REC’s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use the Duty Log on your phone. Open the Duty Log page and sign in, then add it to your home screen. On iPhone, tap Share in Safari and choose Add to Home Screen. On Android, choose Install app or Add to Home screen. Tap the Duty Log icon to open it full screen. Start today’s log, choose your duty partner, and add calls as they happen. Entries save automatically and retry if you lose signal. Submit when your duty period ends. Note: even on your phone, keep resident names and student IDs out of the response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Guest Log, Incident Reports, and Maintenance and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Guest Log tracks every guest on property. The top buttons let you run a restricted-access check, open the front-desk kiosk, send a pre-registration link, or log a guest yourself. The stats show who is on property, who is expected, and anyone past their expected time. Pre-registered guests appear in their own list; click Check In when they arrive. Guests on property have a Check Out button. View ID shows the photo of their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log a guest, click Log a Guest, then choose Check in now or Pre-register. Select the resident they are visiting, enter the guest’s full name and contact information, choose the ID type, and take or upload a photo of the ID. Set the length of stay and click Check In Guest. Residents can also pre-register guests: click Send Pre-Registration Link, select the resident and date, generate the link, and copy or email it. Pre-registered guests must still check in at the front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restricted-access check screens a guest’s name against active, verified restrictions. Click Restricted-Access Check, type the full name, and click Check. If there is no match, continue as normal. If there is a possible match, pause the check-in politely, contact the on-call REC right away, and follow the Campus Safety escalation process. Then record the outcome. A match is never an identification, and you should not confirm or deny anything to the guest or resident. This check may also pop up automatically during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report incidents. The Incident Reports tab is a quick log: click New Incident Report, add who and where with a severity of low, medium or high, describe what happened, and submit. You can edit or delete your own reports. For the official, detailed report, use the Incident Report Assistant, which guides you through a Maxient-ready narrative. Your drafts appear on the Dashboard with a Continue link. RECs handle resolving and reopening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and Keys is where you log work orders and key or lock issues. Click New Request and choose Maintenance or Key and Lock. Select the resident, which saves the request to their record, and the unit or area. For maintenance, choose the category, area and priority. For keys, choose the request type and item. Add a short note and confirm whether you documented it in Entrata and submitted a work order. Then submit. RECs mark requests in progress or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to the request form you will see the standard procedures. For keys and locks: verify photo ID, never admit anyone not on the License Agreement, log every lockout and charge, deactivate lost fobs, record key numbers with a signature, and never lend master or staff keys. For maintenance: emergencies like floods, gas smells, or fire safety issues mean calling on-call maintenance immediately, then logging. Urgent issues get reported to your REC and maintenance the same shift. Normal requests go here, and remind residents to submit a portal work order. Ask about permission to enter and pets, photograph damage, and follow up within forty-eight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your reference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Resident Directory lets you look up residents. Search by name, unit or email, or filter by building, floor, tag or RA. Click a resident to open their profile with their unit, bed, roommates and contact information, plus tabs for incidents, violations, duty log mentions, guests, keys and maintenance. You can add key and lock entries from the profile. If you see a non-leasing occupant notice, that resident is a minor who is not on the License Agreement, so contact the primary resident. Resident information is confidential; use it only for your RA duties.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Contacts is your directory of campus partners. Search by name, department or category. Click a contact to see why you would reach out to them and which Capstone staff to include. Email This Contact opens an email with those staff already copied. To email several partners at once, click Email Multiple Contacts, select them, and click Open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 Tracker shows which requirements are due by semester. It is read-only for RAs; your REC marks completions, and Open Curriculum Management gives the full view. The SOP Library opens the property’s written procedures; read them, follow the steps, and acknowledge them when asked. Resources has helpful links grouped by category, including The Harbour Information Library. When you are unsure how to handle something, check the SOP Library first, then ask your REC.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Modules holds your required lessons and quizzes. Read the lesson on each card, and complete any linked Canvas or external course. Then click Take Quiz, answer every question, and Submit. You will see if you passed, with your score; the pass mark is usually eighty percent. If you did not pass, review the lesson and retake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seven: the Creative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Creative Studio is where you make on-brand flyers, social posts, signs, emails and more. Open it from the Hub sidebar; the Hub link brings you back. On Home, use a quick button like Create Flyer, or try the AI Assistant: describe what you need, pick the audience, and click Create. You will also see your favorites, recent projects, approved examples, and the brand kit. The search bar at the top finds templates, examples and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Templates, filter by type and format, preview a design, and click Use Template. In the editor, the Content tab holds your headline, date, time, location and call to action. AI tools can write copy, shorten it, fix grammar, or create a social caption, text or email version. Choose images from the Photo Library or an Entrata media link, and switch layouts between letter, post, story and sign. Brand colors, fonts and logos are locked so everything stays on-brand. Watch the brand check, save drafts as you go, and submit for approval when it is ready. Always proofread details, especially anything AI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Campaigns turns one event into every format at once. Enter the event details, click Generate Campaign, and you get a flyer, Instagram post and story, a digital sign, a resident email, a text reminder and a caption. Save them all to My Projects. Communications has approved email, text and social copy. Use a template or copy it, rewrite with AI, and watch the SMS counter. For emergency templates, always verify every detail with your supervisor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Monthly Newsletter builder lets you assemble blocks, preview, validate, send a test, and copy the Entrata HTML; RECs and Admins approve it. HTML Entrata lets you safely edit just the text of an existing Entrata email. The Brand Kit has our logos, colors, fonts, graphics and voice. Photos lets you browse approved images; ask an REC or Admin if you need a new one added. And remember our brand words: License Agreement, not lease; Resident, not tenant; The Harbour, spelled H-A-R-B-O-U-R; and Guarantor, not cosigner.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creative approval works. Save drafts anytime. When you are ready, click Submit for Approval and the project becomes pending. An REC or Admin either approves it, or sends it back with a note; either way you get a bell notification. If it is sent back, fix it and resubmit. If you edit approved work, it goes back to pending. My Projects organizes your work into folders like My pending, Approved and Drafts. The Creative Library lets you upload images and PDFs, which stay pending until approved. Never post anything publicly until it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reference. As an RA you can read announcements, create and submit your programs, log committee minutes, manage your shifts and availability, complete Duty Logs, handle guests, log incidents and maintenance, look up residents, take training quizzes, and create creative work for approval. RECs and Admins handle approvals, publishing schedules, unlocking logs, resolving requests, editing resident records, restricted records like safety and conduct meetings, and system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a few best practices. Protect resident privacy. Document in real time while details are fresh. Submit your Duty Log at the end of every duty period and meet your program deadlines. Escalate early; when in doubt, call your on-call REC. Follow the purchasing rules. And use the Feedback button whenever something is not working or could be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your ResLife Hub and Creative Studio training. You are ready to go. If you have questions, ask your REC, or use the Feedback button in the Hub. Thank you for everything you do for our residents at The Harbour.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002D6A"/>
          </a:solidFill>
          <a:ln/>
        </p:spPr>
      </p:sp>
      <p:sp>
        <p:nvSpPr>
          <p:cNvPr id="3" name="Shape 1"/>
          <p:cNvSpPr/>
          <p:nvPr/>
        </p:nvSpPr>
        <p:spPr>
          <a:xfrm>
            <a:off x="0" y="384048"/>
            <a:ext cx="12191695" cy="54864"/>
          </a:xfrm>
          <a:prstGeom prst="rect">
            <a:avLst/>
          </a:prstGeom>
          <a:solidFill>
            <a:srgbClr val="F99239"/>
          </a:solidFill>
          <a:ln/>
        </p:spPr>
      </p:sp>
      <p:pic>
        <p:nvPicPr>
          <p:cNvPr id="4" name="Image 0" descr="C:\Users\brian\AppData\Local\Temp\kilo\ppt\img\logo-white.png">    </p:cNvPr>
          <p:cNvPicPr>
            <a:picLocks noChangeAspect="1"/>
          </p:cNvPicPr>
          <p:nvPr/>
        </p:nvPicPr>
        <p:blipFill>
          <a:blip r:embed="rId1"/>
          <a:stretch>
            <a:fillRect/>
          </a:stretch>
        </p:blipFill>
        <p:spPr>
          <a:xfrm>
            <a:off x="10561320" y="64008"/>
            <a:ext cx="1298448" cy="256032"/>
          </a:xfrm>
          <a:prstGeom prst="rect">
            <a:avLst/>
          </a:prstGeom>
        </p:spPr>
      </p:pic>
      <p:sp>
        <p:nvSpPr>
          <p:cNvPr id="5" name="Text 2"/>
          <p:cNvSpPr/>
          <p:nvPr/>
        </p:nvSpPr>
        <p:spPr>
          <a:xfrm>
            <a:off x="411480" y="54864"/>
            <a:ext cx="5486400" cy="274320"/>
          </a:xfrm>
          <a:prstGeom prst="rect">
            <a:avLst/>
          </a:prstGeom>
          <a:noFill/>
          <a:ln/>
        </p:spPr>
        <p:txBody>
          <a:bodyPr wrap="square" rtlCol="0" anchor="ctr"/>
          <a:lstStyle/>
          <a:p>
            <a:pPr indent="0" marL="0">
              <a:buNone/>
            </a:pPr>
            <a:r>
              <a:rPr lang="en-US" sz="1000" b="1" spc="300" kern="0" dirty="0">
                <a:solidFill>
                  <a:srgbClr val="FFFFFF"/>
                </a:solidFill>
                <a:latin typeface="Montserrat" pitchFamily="34" charset="0"/>
                <a:ea typeface="Montserrat" pitchFamily="34" charset="-122"/>
                <a:cs typeface="Montserrat" pitchFamily="34" charset="-120"/>
              </a:rPr>
              <a:t>RESLIFE HUB · RA TRAINING</a:t>
            </a:r>
            <a:endParaRPr lang="en-US" sz="1000" dirty="0"/>
          </a:p>
        </p:txBody>
      </p:sp>
      <p:pic>
        <p:nvPicPr>
          <p:cNvPr id="6" name="Image 1" descr="C:\Users\brian\AppData\Local\Temp\kilo\ppt\img\footerwave.png">    </p:cNvPr>
          <p:cNvPicPr>
            <a:picLocks noChangeAspect="1"/>
          </p:cNvPicPr>
          <p:nvPr/>
        </p:nvPicPr>
        <p:blipFill>
          <a:blip r:embed="rId2">
            <a:alphaModFix amt="70000"/>
          </a:blip>
          <a:stretch>
            <a:fillRect/>
          </a:stretch>
        </p:blipFill>
        <p:spPr>
          <a:xfrm>
            <a:off x="0" y="6144768"/>
            <a:ext cx="12191695" cy="713232"/>
          </a:xfrm>
          <a:prstGeom prst="rect">
            <a:avLst/>
          </a:prstGeom>
        </p:spPr>
      </p:pic>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brian\AppData\Local\Temp\kilo\ppt\img\rooftop-terrace-0235.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1B40">
              <a:alpha val="70000"/>
            </a:srgbClr>
          </a:solidFill>
          <a:ln w="12700">
            <a:solidFill>
              <a:srgbClr val="001B40">
                <a:alpha val="0"/>
              </a:srgbClr>
            </a:solidFill>
            <a:prstDash val="solid"/>
          </a:ln>
        </p:spPr>
      </p:sp>
      <p:sp>
        <p:nvSpPr>
          <p:cNvPr id="4" name="Shape 1"/>
          <p:cNvSpPr/>
          <p:nvPr/>
        </p:nvSpPr>
        <p:spPr>
          <a:xfrm>
            <a:off x="0" y="0"/>
            <a:ext cx="6949440" cy="6858000"/>
          </a:xfrm>
          <a:prstGeom prst="rect">
            <a:avLst/>
          </a:prstGeom>
          <a:solidFill>
            <a:srgbClr val="002D6A">
              <a:alpha val="88000"/>
            </a:srgbClr>
          </a:solidFill>
          <a:ln w="12700">
            <a:solidFill>
              <a:srgbClr val="002D6A">
                <a:alpha val="0"/>
              </a:srgbClr>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731520" y="731520"/>
            <a:ext cx="2560320" cy="1005840"/>
          </a:xfrm>
          <a:prstGeom prst="rect">
            <a:avLst/>
          </a:prstGeom>
        </p:spPr>
      </p:pic>
      <p:sp>
        <p:nvSpPr>
          <p:cNvPr id="6" name="Text 2"/>
          <p:cNvSpPr/>
          <p:nvPr/>
        </p:nvSpPr>
        <p:spPr>
          <a:xfrm>
            <a:off x="731520" y="2331720"/>
            <a:ext cx="5943600" cy="365760"/>
          </a:xfrm>
          <a:prstGeom prst="rect">
            <a:avLst/>
          </a:prstGeom>
          <a:noFill/>
          <a:ln/>
        </p:spPr>
        <p:txBody>
          <a:bodyPr wrap="square" rtlCol="0" anchor="ctr"/>
          <a:lstStyle/>
          <a:p>
            <a:pPr indent="0" marL="0">
              <a:buNone/>
            </a:pPr>
            <a:r>
              <a:rPr lang="en-US" sz="1400" b="1" spc="400" kern="0" dirty="0">
                <a:solidFill>
                  <a:srgbClr val="F99239"/>
                </a:solidFill>
                <a:latin typeface="Montserrat" pitchFamily="34" charset="0"/>
                <a:ea typeface="Montserrat" pitchFamily="34" charset="-122"/>
                <a:cs typeface="Montserrat" pitchFamily="34" charset="-120"/>
              </a:rPr>
              <a:t>RESIDENT ASSISTANT TRAINING</a:t>
            </a:r>
            <a:endParaRPr lang="en-US" sz="1400" dirty="0"/>
          </a:p>
        </p:txBody>
      </p:sp>
      <p:sp>
        <p:nvSpPr>
          <p:cNvPr id="7" name="Text 3"/>
          <p:cNvSpPr/>
          <p:nvPr/>
        </p:nvSpPr>
        <p:spPr>
          <a:xfrm>
            <a:off x="731520" y="2697480"/>
            <a:ext cx="6035040" cy="1371600"/>
          </a:xfrm>
          <a:prstGeom prst="rect">
            <a:avLst/>
          </a:prstGeom>
          <a:noFill/>
          <a:ln/>
        </p:spPr>
        <p:txBody>
          <a:bodyPr wrap="square" rtlCol="0" anchor="ctr"/>
          <a:lstStyle/>
          <a:p>
            <a:pPr indent="0" marL="0">
              <a:buNone/>
            </a:pPr>
            <a:r>
              <a:rPr lang="en-US" sz="3400" b="1" dirty="0">
                <a:solidFill>
                  <a:srgbClr val="FFFFFF"/>
                </a:solidFill>
                <a:latin typeface="Montserrat" pitchFamily="34" charset="0"/>
                <a:ea typeface="Montserrat" pitchFamily="34" charset="-122"/>
                <a:cs typeface="Montserrat" pitchFamily="34" charset="-120"/>
              </a:rPr>
              <a:t>ResLife Hub &amp; Creative Studio</a:t>
            </a:r>
            <a:endParaRPr lang="en-US" sz="3400" dirty="0"/>
          </a:p>
        </p:txBody>
      </p:sp>
      <p:sp>
        <p:nvSpPr>
          <p:cNvPr id="8" name="Shape 4"/>
          <p:cNvSpPr/>
          <p:nvPr/>
        </p:nvSpPr>
        <p:spPr>
          <a:xfrm>
            <a:off x="749808" y="4114800"/>
            <a:ext cx="1097280" cy="73152"/>
          </a:xfrm>
          <a:prstGeom prst="rect">
            <a:avLst/>
          </a:prstGeom>
          <a:solidFill>
            <a:srgbClr val="F99239"/>
          </a:solidFill>
          <a:ln w="12700">
            <a:solidFill>
              <a:srgbClr val="F99239"/>
            </a:solidFill>
            <a:prstDash val="solid"/>
          </a:ln>
        </p:spPr>
      </p:sp>
      <p:sp>
        <p:nvSpPr>
          <p:cNvPr id="9" name="Text 5"/>
          <p:cNvSpPr/>
          <p:nvPr/>
        </p:nvSpPr>
        <p:spPr>
          <a:xfrm>
            <a:off x="731520" y="4343400"/>
            <a:ext cx="5669280" cy="731520"/>
          </a:xfrm>
          <a:prstGeom prst="rect">
            <a:avLst/>
          </a:prstGeom>
          <a:noFill/>
          <a:ln/>
        </p:spPr>
        <p:txBody>
          <a:bodyPr wrap="square" rtlCol="0" anchor="ctr"/>
          <a:lstStyle/>
          <a:p>
            <a:pPr indent="0" marL="0">
              <a:buNone/>
            </a:pPr>
            <a:r>
              <a:rPr lang="en-US" sz="1600" dirty="0">
                <a:solidFill>
                  <a:srgbClr val="DCEBF7"/>
                </a:solidFill>
                <a:latin typeface="Montserrat" pitchFamily="34" charset="0"/>
                <a:ea typeface="Montserrat" pitchFamily="34" charset="-122"/>
                <a:cs typeface="Montserrat" pitchFamily="34" charset="-120"/>
              </a:rPr>
              <a:t>Every tab you can use as an RA — and exactly how to use it.</a:t>
            </a:r>
            <a:endParaRPr lang="en-US" sz="1600" dirty="0"/>
          </a:p>
        </p:txBody>
      </p:sp>
      <p:sp>
        <p:nvSpPr>
          <p:cNvPr id="10" name="Text 6"/>
          <p:cNvSpPr/>
          <p:nvPr/>
        </p:nvSpPr>
        <p:spPr>
          <a:xfrm>
            <a:off x="731520" y="5989320"/>
            <a:ext cx="5943600" cy="365760"/>
          </a:xfrm>
          <a:prstGeom prst="rect">
            <a:avLst/>
          </a:prstGeom>
          <a:noFill/>
          <a:ln/>
        </p:spPr>
        <p:txBody>
          <a:bodyPr wrap="square" rtlCol="0" anchor="ctr"/>
          <a:lstStyle/>
          <a:p>
            <a:pPr indent="0" marL="0">
              <a:buNone/>
            </a:pPr>
            <a:r>
              <a:rPr lang="en-US" sz="1100" dirty="0">
                <a:solidFill>
                  <a:srgbClr val="FFFFFF"/>
                </a:solidFill>
                <a:latin typeface="Montserrat" pitchFamily="34" charset="0"/>
                <a:ea typeface="Montserrat" pitchFamily="34" charset="-122"/>
                <a:cs typeface="Montserrat" pitchFamily="34" charset="-120"/>
              </a:rPr>
              <a:t>The Harbour at Orange Coast College · Resident Life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AGENDA</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What you will learn</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28800"/>
            <a:ext cx="2633472" cy="3291840"/>
          </a:xfrm>
          <a:prstGeom prst="roundRect">
            <a:avLst>
              <a:gd name="adj" fmla="val 2778"/>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828800"/>
            <a:ext cx="73152" cy="3291840"/>
          </a:xfrm>
          <a:prstGeom prst="rect">
            <a:avLst/>
          </a:prstGeom>
          <a:solidFill>
            <a:srgbClr val="F99239"/>
          </a:solidFill>
          <a:ln w="12700">
            <a:solidFill>
              <a:srgbClr val="F99239"/>
            </a:solidFill>
            <a:prstDash val="solid"/>
          </a:ln>
        </p:spPr>
      </p:sp>
      <p:sp>
        <p:nvSpPr>
          <p:cNvPr id="7" name="Text 5"/>
          <p:cNvSpPr/>
          <p:nvPr/>
        </p:nvSpPr>
        <p:spPr>
          <a:xfrm>
            <a:off x="749808" y="1920240"/>
            <a:ext cx="2313432" cy="347472"/>
          </a:xfrm>
          <a:prstGeom prst="rect">
            <a:avLst/>
          </a:prstGeom>
          <a:noFill/>
          <a:ln/>
        </p:spPr>
        <p:txBody>
          <a:bodyPr wrap="square" rtlCol="0" anchor="ctr"/>
          <a:lstStyle/>
          <a:p>
            <a:pPr indent="0" marL="0">
              <a:buNone/>
            </a:pPr>
            <a:r>
              <a:rPr lang="en-US" sz="1500" b="1" dirty="0">
                <a:solidFill>
                  <a:srgbClr val="F99239"/>
                </a:solidFill>
                <a:latin typeface="Montserrat" pitchFamily="34" charset="0"/>
                <a:ea typeface="Montserrat" pitchFamily="34" charset="-122"/>
                <a:cs typeface="Montserrat" pitchFamily="34" charset="-120"/>
              </a:rPr>
              <a:t>Getting Started</a:t>
            </a:r>
            <a:endParaRPr lang="en-US" sz="1500" dirty="0"/>
          </a:p>
        </p:txBody>
      </p:sp>
      <p:sp>
        <p:nvSpPr>
          <p:cNvPr id="8" name="Text 6"/>
          <p:cNvSpPr/>
          <p:nvPr/>
        </p:nvSpPr>
        <p:spPr>
          <a:xfrm>
            <a:off x="685800" y="2286000"/>
            <a:ext cx="2359152" cy="274320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Logging in</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The header &amp; notifications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Your sidebar map</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Dashboard</a:t>
            </a:r>
            <a:endParaRPr lang="en-US" sz="1200" dirty="0"/>
          </a:p>
        </p:txBody>
      </p:sp>
      <p:sp>
        <p:nvSpPr>
          <p:cNvPr id="9" name="Shape 7"/>
          <p:cNvSpPr/>
          <p:nvPr/>
        </p:nvSpPr>
        <p:spPr>
          <a:xfrm>
            <a:off x="3364992" y="1828800"/>
            <a:ext cx="2633472" cy="3291840"/>
          </a:xfrm>
          <a:prstGeom prst="roundRect">
            <a:avLst>
              <a:gd name="adj" fmla="val 2778"/>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3364992" y="1828800"/>
            <a:ext cx="73152" cy="3291840"/>
          </a:xfrm>
          <a:prstGeom prst="rect">
            <a:avLst/>
          </a:prstGeom>
          <a:solidFill>
            <a:srgbClr val="002D6A"/>
          </a:solidFill>
          <a:ln w="12700">
            <a:solidFill>
              <a:srgbClr val="002D6A"/>
            </a:solidFill>
            <a:prstDash val="solid"/>
          </a:ln>
        </p:spPr>
      </p:sp>
      <p:sp>
        <p:nvSpPr>
          <p:cNvPr id="11" name="Text 9"/>
          <p:cNvSpPr/>
          <p:nvPr/>
        </p:nvSpPr>
        <p:spPr>
          <a:xfrm>
            <a:off x="3566160" y="1920240"/>
            <a:ext cx="2313432" cy="347472"/>
          </a:xfrm>
          <a:prstGeom prst="rect">
            <a:avLst/>
          </a:prstGeom>
          <a:noFill/>
          <a:ln/>
        </p:spPr>
        <p:txBody>
          <a:bodyPr wrap="square" rtlCol="0" anchor="ctr"/>
          <a:lstStyle/>
          <a:p>
            <a:pPr indent="0" marL="0">
              <a:buNone/>
            </a:pPr>
            <a:r>
              <a:rPr lang="en-US" sz="1500" b="1" dirty="0">
                <a:solidFill>
                  <a:srgbClr val="002D6A"/>
                </a:solidFill>
                <a:latin typeface="Montserrat" pitchFamily="34" charset="0"/>
                <a:ea typeface="Montserrat" pitchFamily="34" charset="-122"/>
                <a:cs typeface="Montserrat" pitchFamily="34" charset="-120"/>
              </a:rPr>
              <a:t>Team &amp; Programs</a:t>
            </a:r>
            <a:endParaRPr lang="en-US" sz="1500" dirty="0"/>
          </a:p>
        </p:txBody>
      </p:sp>
      <p:sp>
        <p:nvSpPr>
          <p:cNvPr id="12" name="Text 10"/>
          <p:cNvSpPr/>
          <p:nvPr/>
        </p:nvSpPr>
        <p:spPr>
          <a:xfrm>
            <a:off x="3502152" y="2286000"/>
            <a:ext cx="2359152" cy="274320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Announcements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Program Proposals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Committees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Schedule &amp; On-Call</a:t>
            </a:r>
            <a:endParaRPr lang="en-US" sz="1200" dirty="0"/>
          </a:p>
        </p:txBody>
      </p:sp>
      <p:sp>
        <p:nvSpPr>
          <p:cNvPr id="13" name="Shape 11"/>
          <p:cNvSpPr/>
          <p:nvPr/>
        </p:nvSpPr>
        <p:spPr>
          <a:xfrm>
            <a:off x="6181344" y="1828800"/>
            <a:ext cx="2633472" cy="3291840"/>
          </a:xfrm>
          <a:prstGeom prst="roundRect">
            <a:avLst>
              <a:gd name="adj" fmla="val 2778"/>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6181344" y="1828800"/>
            <a:ext cx="73152" cy="3291840"/>
          </a:xfrm>
          <a:prstGeom prst="rect">
            <a:avLst/>
          </a:prstGeom>
          <a:solidFill>
            <a:srgbClr val="1F5FA8"/>
          </a:solidFill>
          <a:ln w="12700">
            <a:solidFill>
              <a:srgbClr val="1F5FA8"/>
            </a:solidFill>
            <a:prstDash val="solid"/>
          </a:ln>
        </p:spPr>
      </p:sp>
      <p:sp>
        <p:nvSpPr>
          <p:cNvPr id="15" name="Text 13"/>
          <p:cNvSpPr/>
          <p:nvPr/>
        </p:nvSpPr>
        <p:spPr>
          <a:xfrm>
            <a:off x="6382512" y="1920240"/>
            <a:ext cx="2313432" cy="347472"/>
          </a:xfrm>
          <a:prstGeom prst="rect">
            <a:avLst/>
          </a:prstGeom>
          <a:noFill/>
          <a:ln/>
        </p:spPr>
        <p:txBody>
          <a:bodyPr wrap="square" rtlCol="0" anchor="ctr"/>
          <a:lstStyle/>
          <a:p>
            <a:pPr indent="0" marL="0">
              <a:buNone/>
            </a:pPr>
            <a:r>
              <a:rPr lang="en-US" sz="1500" b="1" dirty="0">
                <a:solidFill>
                  <a:srgbClr val="1F5FA8"/>
                </a:solidFill>
                <a:latin typeface="Montserrat" pitchFamily="34" charset="0"/>
                <a:ea typeface="Montserrat" pitchFamily="34" charset="-122"/>
                <a:cs typeface="Montserrat" pitchFamily="34" charset="-120"/>
              </a:rPr>
              <a:t>On Duty</a:t>
            </a:r>
            <a:endParaRPr lang="en-US" sz="1500" dirty="0"/>
          </a:p>
        </p:txBody>
      </p:sp>
      <p:sp>
        <p:nvSpPr>
          <p:cNvPr id="16" name="Text 14"/>
          <p:cNvSpPr/>
          <p:nvPr/>
        </p:nvSpPr>
        <p:spPr>
          <a:xfrm>
            <a:off x="6318504" y="2286000"/>
            <a:ext cx="2359152" cy="274320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Duty Log (desktop &amp; phone)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Guest Log</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Incident Reports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Maintenance &amp; Keys</a:t>
            </a:r>
            <a:endParaRPr lang="en-US" sz="1200" dirty="0"/>
          </a:p>
        </p:txBody>
      </p:sp>
      <p:sp>
        <p:nvSpPr>
          <p:cNvPr id="17" name="Shape 15"/>
          <p:cNvSpPr/>
          <p:nvPr/>
        </p:nvSpPr>
        <p:spPr>
          <a:xfrm>
            <a:off x="8997696" y="1828800"/>
            <a:ext cx="2633472" cy="3291840"/>
          </a:xfrm>
          <a:prstGeom prst="roundRect">
            <a:avLst>
              <a:gd name="adj" fmla="val 2778"/>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8" name="Shape 16"/>
          <p:cNvSpPr/>
          <p:nvPr/>
        </p:nvSpPr>
        <p:spPr>
          <a:xfrm>
            <a:off x="8997696" y="1828800"/>
            <a:ext cx="73152" cy="3291840"/>
          </a:xfrm>
          <a:prstGeom prst="rect">
            <a:avLst/>
          </a:prstGeom>
          <a:solidFill>
            <a:srgbClr val="F99239"/>
          </a:solidFill>
          <a:ln w="12700">
            <a:solidFill>
              <a:srgbClr val="F99239"/>
            </a:solidFill>
            <a:prstDash val="solid"/>
          </a:ln>
        </p:spPr>
      </p:sp>
      <p:sp>
        <p:nvSpPr>
          <p:cNvPr id="19" name="Text 17"/>
          <p:cNvSpPr/>
          <p:nvPr/>
        </p:nvSpPr>
        <p:spPr>
          <a:xfrm>
            <a:off x="9198864" y="1920240"/>
            <a:ext cx="2313432" cy="347472"/>
          </a:xfrm>
          <a:prstGeom prst="rect">
            <a:avLst/>
          </a:prstGeom>
          <a:noFill/>
          <a:ln/>
        </p:spPr>
        <p:txBody>
          <a:bodyPr wrap="square" rtlCol="0" anchor="ctr"/>
          <a:lstStyle/>
          <a:p>
            <a:pPr indent="0" marL="0">
              <a:buNone/>
            </a:pPr>
            <a:r>
              <a:rPr lang="en-US" sz="1500" b="1" dirty="0">
                <a:solidFill>
                  <a:srgbClr val="F99239"/>
                </a:solidFill>
                <a:latin typeface="Montserrat" pitchFamily="34" charset="0"/>
                <a:ea typeface="Montserrat" pitchFamily="34" charset="-122"/>
                <a:cs typeface="Montserrat" pitchFamily="34" charset="-120"/>
              </a:rPr>
              <a:t>Reference &amp; Creative</a:t>
            </a:r>
            <a:endParaRPr lang="en-US" sz="1500" dirty="0"/>
          </a:p>
        </p:txBody>
      </p:sp>
      <p:sp>
        <p:nvSpPr>
          <p:cNvPr id="20" name="Text 18"/>
          <p:cNvSpPr/>
          <p:nvPr/>
        </p:nvSpPr>
        <p:spPr>
          <a:xfrm>
            <a:off x="9134856" y="2286000"/>
            <a:ext cx="2359152" cy="274320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Resident Directory</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Contacts, Curriculum, SOPs, Resources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Training Modules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Creative Studio</a:t>
            </a:r>
            <a:endParaRPr lang="en-US" sz="1200" dirty="0"/>
          </a:p>
        </p:txBody>
      </p:sp>
      <p:sp>
        <p:nvSpPr>
          <p:cNvPr id="21" name="Shape 19"/>
          <p:cNvSpPr/>
          <p:nvPr/>
        </p:nvSpPr>
        <p:spPr>
          <a:xfrm>
            <a:off x="548640" y="5349240"/>
            <a:ext cx="11064240" cy="548640"/>
          </a:xfrm>
          <a:prstGeom prst="roundRect">
            <a:avLst>
              <a:gd name="adj" fmla="val 13333"/>
            </a:avLst>
          </a:prstGeom>
          <a:solidFill>
            <a:srgbClr val="FFF7ED"/>
          </a:solidFill>
          <a:ln w="12700">
            <a:solidFill>
              <a:srgbClr val="FED7AA"/>
            </a:solidFill>
            <a:prstDash val="solid"/>
          </a:ln>
        </p:spPr>
      </p:sp>
      <p:sp>
        <p:nvSpPr>
          <p:cNvPr id="22" name="Shape 20"/>
          <p:cNvSpPr/>
          <p:nvPr/>
        </p:nvSpPr>
        <p:spPr>
          <a:xfrm>
            <a:off x="548640" y="5349240"/>
            <a:ext cx="73152" cy="548640"/>
          </a:xfrm>
          <a:prstGeom prst="rect">
            <a:avLst/>
          </a:prstGeom>
          <a:solidFill>
            <a:srgbClr val="F99239"/>
          </a:solidFill>
          <a:ln w="12700">
            <a:solidFill>
              <a:srgbClr val="F99239"/>
            </a:solidFill>
            <a:prstDash val="solid"/>
          </a:ln>
        </p:spPr>
      </p:sp>
      <p:sp>
        <p:nvSpPr>
          <p:cNvPr id="23" name="Text 21"/>
          <p:cNvSpPr/>
          <p:nvPr/>
        </p:nvSpPr>
        <p:spPr>
          <a:xfrm>
            <a:off x="731520" y="5349240"/>
            <a:ext cx="10789920" cy="5486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Pause the video at any step and try it in the Hub. Nothing you click in this training changes another RA's work.</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D6A"/>
        </a:solidFill>
      </p:bgPr>
    </p:bg>
    <p:spTree>
      <p:nvGrpSpPr>
        <p:cNvPr id="1" name=""/>
        <p:cNvGrpSpPr/>
        <p:nvPr/>
      </p:nvGrpSpPr>
      <p:grpSpPr>
        <a:xfrm>
          <a:off x="0" y="0"/>
          <a:ext cx="0" cy="0"/>
          <a:chOff x="0" y="0"/>
          <a:chExt cx="0" cy="0"/>
        </a:xfrm>
      </p:grpSpPr>
      <p:pic>
        <p:nvPicPr>
          <p:cNvPr id="2" name="Image 0" descr="C:\Users\brian\AppData\Local\Temp\kilo\ppt\img\occ-campus-students-walking.jpg">    </p:cNvPr>
          <p:cNvPicPr>
            <a:picLocks noChangeAspect="1"/>
          </p:cNvPicPr>
          <p:nvPr/>
        </p:nvPicPr>
        <p:blipFill>
          <a:blip r:embed="rId1"/>
          <a:srcRect l="0" r="0" t="0" b="0"/>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02D6A">
              <a:alpha val="45000"/>
            </a:srgbClr>
          </a:solidFill>
          <a:ln w="12700">
            <a:solidFill>
              <a:srgbClr val="002D6A">
                <a:alpha val="0"/>
              </a:srgbClr>
            </a:solidFill>
            <a:prstDash val="solid"/>
          </a:ln>
        </p:spPr>
      </p:sp>
      <p:sp>
        <p:nvSpPr>
          <p:cNvPr id="4" name="Shape 1"/>
          <p:cNvSpPr/>
          <p:nvPr/>
        </p:nvSpPr>
        <p:spPr>
          <a:xfrm>
            <a:off x="6876288" y="0"/>
            <a:ext cx="73152" cy="6858000"/>
          </a:xfrm>
          <a:prstGeom prst="rect">
            <a:avLst/>
          </a:prstGeom>
          <a:solidFill>
            <a:srgbClr val="F99239"/>
          </a:solidFill>
          <a:ln w="12700">
            <a:solidFill>
              <a:srgbClr val="F99239"/>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640080" y="548640"/>
            <a:ext cx="1828800" cy="722376"/>
          </a:xfrm>
          <a:prstGeom prst="rect">
            <a:avLst/>
          </a:prstGeom>
        </p:spPr>
      </p:pic>
      <p:sp>
        <p:nvSpPr>
          <p:cNvPr id="6" name="Text 2"/>
          <p:cNvSpPr/>
          <p:nvPr/>
        </p:nvSpPr>
        <p:spPr>
          <a:xfrm>
            <a:off x="640080" y="2011680"/>
            <a:ext cx="2743200" cy="1097280"/>
          </a:xfrm>
          <a:prstGeom prst="rect">
            <a:avLst/>
          </a:prstGeom>
          <a:noFill/>
          <a:ln/>
        </p:spPr>
        <p:txBody>
          <a:bodyPr wrap="square" rtlCol="0" anchor="ctr"/>
          <a:lstStyle/>
          <a:p>
            <a:pPr indent="0" marL="0">
              <a:buNone/>
            </a:pPr>
            <a:r>
              <a:rPr lang="en-US" sz="7200" b="1" dirty="0">
                <a:solidFill>
                  <a:srgbClr val="F99239"/>
                </a:solidFill>
                <a:latin typeface="Montserrat" pitchFamily="34" charset="0"/>
                <a:ea typeface="Montserrat" pitchFamily="34" charset="-122"/>
                <a:cs typeface="Montserrat" pitchFamily="34" charset="-120"/>
              </a:rPr>
              <a:t>01</a:t>
            </a:r>
            <a:endParaRPr lang="en-US" sz="7200" dirty="0"/>
          </a:p>
        </p:txBody>
      </p:sp>
      <p:sp>
        <p:nvSpPr>
          <p:cNvPr id="7" name="Text 3"/>
          <p:cNvSpPr/>
          <p:nvPr/>
        </p:nvSpPr>
        <p:spPr>
          <a:xfrm>
            <a:off x="640080" y="3154680"/>
            <a:ext cx="6035040" cy="100584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Getting Started</a:t>
            </a:r>
            <a:endParaRPr lang="en-US" sz="3600" dirty="0"/>
          </a:p>
        </p:txBody>
      </p:sp>
      <p:sp>
        <p:nvSpPr>
          <p:cNvPr id="8" name="Text 4"/>
          <p:cNvSpPr/>
          <p:nvPr/>
        </p:nvSpPr>
        <p:spPr>
          <a:xfrm>
            <a:off x="640080" y="4206240"/>
            <a:ext cx="5852160" cy="1097280"/>
          </a:xfrm>
          <a:prstGeom prst="rect">
            <a:avLst/>
          </a:prstGeom>
          <a:noFill/>
          <a:ln/>
        </p:spPr>
        <p:txBody>
          <a:bodyPr wrap="square" rtlCol="0" anchor="t"/>
          <a:lstStyle/>
          <a:p>
            <a:pPr indent="0" marL="0">
              <a:buNone/>
            </a:pPr>
            <a:r>
              <a:rPr lang="en-US" sz="1500" dirty="0">
                <a:solidFill>
                  <a:srgbClr val="DCEBF7"/>
                </a:solidFill>
                <a:latin typeface="Montserrat" pitchFamily="34" charset="0"/>
                <a:ea typeface="Montserrat" pitchFamily="34" charset="-122"/>
                <a:cs typeface="Montserrat" pitchFamily="34" charset="-120"/>
              </a:rPr>
              <a:t>Logging in, finding your way around, and staying on top of notifications.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GETTING STARTED</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Logging in &amp; landing</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30352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Go to the </a:t>
            </a:r>
            <a:pPr indent="0" marL="0">
              <a:buNone/>
            </a:pPr>
            <a:r>
              <a:rPr lang="en-US" sz="1300" b="1" dirty="0">
                <a:solidFill>
                  <a:srgbClr val="002D6A"/>
                </a:solidFill>
                <a:latin typeface="Montserrat" pitchFamily="34" charset="0"/>
                <a:ea typeface="Montserrat" pitchFamily="34" charset="-122"/>
                <a:cs typeface="Montserrat" pitchFamily="34" charset="-120"/>
              </a:rPr>
              <a:t>Hub login page</a:t>
            </a:r>
            <a:pPr indent="0" marL="0">
              <a:buNone/>
            </a:pPr>
            <a:r>
              <a:rPr lang="en-US" sz="1300" dirty="0">
                <a:solidFill>
                  <a:srgbClr val="14213D"/>
                </a:solidFill>
                <a:latin typeface="Montserrat" pitchFamily="34" charset="0"/>
                <a:ea typeface="Montserrat" pitchFamily="34" charset="-122"/>
                <a:cs typeface="Montserrat" pitchFamily="34" charset="-120"/>
              </a:rPr>
              <a:t> and enter your </a:t>
            </a:r>
            <a:pPr indent="0" marL="0">
              <a:buNone/>
            </a:pPr>
            <a:r>
              <a:rPr lang="en-US" sz="1300" b="1" dirty="0">
                <a:solidFill>
                  <a:srgbClr val="002D6A"/>
                </a:solidFill>
                <a:latin typeface="Montserrat" pitchFamily="34" charset="0"/>
                <a:ea typeface="Montserrat" pitchFamily="34" charset="-122"/>
                <a:cs typeface="Montserrat" pitchFamily="34" charset="-120"/>
              </a:rPr>
              <a:t>Username</a:t>
            </a:r>
            <a:pPr indent="0" marL="0">
              <a:buNone/>
            </a:pPr>
            <a:r>
              <a:rPr lang="en-US" sz="1300" dirty="0">
                <a:solidFill>
                  <a:srgbClr val="14213D"/>
                </a:solidFill>
                <a:latin typeface="Montserrat" pitchFamily="34" charset="0"/>
                <a:ea typeface="Montserrat" pitchFamily="34" charset="-122"/>
                <a:cs typeface="Montserrat" pitchFamily="34" charset="-120"/>
              </a:rPr>
              <a:t> and </a:t>
            </a:r>
            <a:pPr indent="0" marL="0">
              <a:buNone/>
            </a:pPr>
            <a:r>
              <a:rPr lang="en-US" sz="1300" b="1" dirty="0">
                <a:solidFill>
                  <a:srgbClr val="002D6A"/>
                </a:solidFill>
                <a:latin typeface="Montserrat" pitchFamily="34" charset="0"/>
                <a:ea typeface="Montserrat" pitchFamily="34" charset="-122"/>
                <a:cs typeface="Montserrat" pitchFamily="34" charset="-120"/>
              </a:rPr>
              <a:t>Password</a:t>
            </a:r>
            <a:pPr indent="0" marL="0">
              <a:buNone/>
            </a:pPr>
            <a:r>
              <a:rPr lang="en-US" sz="1300" dirty="0">
                <a:solidFill>
                  <a:srgbClr val="14213D"/>
                </a:solidFill>
                <a:latin typeface="Montserrat" pitchFamily="34" charset="0"/>
                <a:ea typeface="Montserrat" pitchFamily="34" charset="-122"/>
                <a:cs typeface="Montserrat" pitchFamily="34" charset="-120"/>
              </a:rPr>
              <a:t>. Tick </a:t>
            </a:r>
            <a:pPr indent="0" marL="0">
              <a:buNone/>
            </a:pPr>
            <a:r>
              <a:rPr lang="en-US" sz="1300" b="1" dirty="0">
                <a:solidFill>
                  <a:srgbClr val="002D6A"/>
                </a:solidFill>
                <a:latin typeface="Montserrat" pitchFamily="34" charset="0"/>
                <a:ea typeface="Montserrat" pitchFamily="34" charset="-122"/>
                <a:cs typeface="Montserrat" pitchFamily="34" charset="-120"/>
              </a:rPr>
              <a:t>Show password</a:t>
            </a:r>
            <a:pPr indent="0" marL="0">
              <a:buNone/>
            </a:pPr>
            <a:r>
              <a:rPr lang="en-US" sz="1300" dirty="0">
                <a:solidFill>
                  <a:srgbClr val="14213D"/>
                </a:solidFill>
                <a:latin typeface="Montserrat" pitchFamily="34" charset="0"/>
                <a:ea typeface="Montserrat" pitchFamily="34" charset="-122"/>
                <a:cs typeface="Montserrat" pitchFamily="34" charset="-120"/>
              </a:rPr>
              <a:t> if you need to check it.</a:t>
            </a:r>
            <a:endParaRPr lang="en-US" sz="1300" dirty="0"/>
          </a:p>
        </p:txBody>
      </p:sp>
      <p:sp>
        <p:nvSpPr>
          <p:cNvPr id="8" name="Shape 6"/>
          <p:cNvSpPr/>
          <p:nvPr/>
        </p:nvSpPr>
        <p:spPr>
          <a:xfrm>
            <a:off x="548640" y="2532888"/>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328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478024"/>
            <a:ext cx="530352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Sign In</a:t>
            </a:r>
            <a:pPr indent="0" marL="0">
              <a:buNone/>
            </a:pPr>
            <a:r>
              <a:rPr lang="en-US" sz="1300" dirty="0">
                <a:solidFill>
                  <a:srgbClr val="14213D"/>
                </a:solidFill>
                <a:latin typeface="Montserrat" pitchFamily="34" charset="0"/>
                <a:ea typeface="Montserrat" pitchFamily="34" charset="-122"/>
                <a:cs typeface="Montserrat" pitchFamily="34" charset="-120"/>
              </a:rPr>
              <a:t>. RA accounts go straight to the </a:t>
            </a:r>
            <a:pPr indent="0" marL="0">
              <a:buNone/>
            </a:pPr>
            <a:r>
              <a:rPr lang="en-US" sz="1300" b="1" dirty="0">
                <a:solidFill>
                  <a:srgbClr val="002D6A"/>
                </a:solidFill>
                <a:latin typeface="Montserrat" pitchFamily="34" charset="0"/>
                <a:ea typeface="Montserrat" pitchFamily="34" charset="-122"/>
                <a:cs typeface="Montserrat" pitchFamily="34" charset="-120"/>
              </a:rPr>
              <a:t>ResLife Hub</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1" name="Shape 9"/>
          <p:cNvSpPr/>
          <p:nvPr/>
        </p:nvSpPr>
        <p:spPr>
          <a:xfrm>
            <a:off x="548640" y="3264408"/>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26440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209544"/>
            <a:ext cx="530352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You land on the </a:t>
            </a:r>
            <a:pPr indent="0" marL="0">
              <a:buNone/>
            </a:pPr>
            <a:r>
              <a:rPr lang="en-US" sz="1300" b="1" dirty="0">
                <a:solidFill>
                  <a:srgbClr val="002D6A"/>
                </a:solidFill>
                <a:latin typeface="Montserrat" pitchFamily="34" charset="0"/>
                <a:ea typeface="Montserrat" pitchFamily="34" charset="-122"/>
                <a:cs typeface="Montserrat" pitchFamily="34" charset="-120"/>
              </a:rPr>
              <a:t>Dashboard</a:t>
            </a:r>
            <a:pPr indent="0" marL="0">
              <a:buNone/>
            </a:pPr>
            <a:r>
              <a:rPr lang="en-US" sz="1300" dirty="0">
                <a:solidFill>
                  <a:srgbClr val="14213D"/>
                </a:solidFill>
                <a:latin typeface="Montserrat" pitchFamily="34" charset="0"/>
                <a:ea typeface="Montserrat" pitchFamily="34" charset="-122"/>
                <a:cs typeface="Montserrat" pitchFamily="34" charset="-120"/>
              </a:rPr>
              <a:t>. Bookmarked links (like the Duty Log shortcut) open that tab directly.</a:t>
            </a:r>
            <a:endParaRPr lang="en-US" sz="1300" dirty="0"/>
          </a:p>
        </p:txBody>
      </p:sp>
      <p:sp>
        <p:nvSpPr>
          <p:cNvPr id="14" name="Shape 12"/>
          <p:cNvSpPr/>
          <p:nvPr/>
        </p:nvSpPr>
        <p:spPr>
          <a:xfrm>
            <a:off x="548640" y="3995928"/>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99592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941064"/>
            <a:ext cx="530352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If you see “Your account is not tied to a property yet” — contact your </a:t>
            </a:r>
            <a:pPr indent="0" marL="0">
              <a:buNone/>
            </a:pPr>
            <a:r>
              <a:rPr lang="en-US" sz="1300" b="1" dirty="0">
                <a:solidFill>
                  <a:srgbClr val="002D6A"/>
                </a:solidFill>
                <a:latin typeface="Montserrat" pitchFamily="34" charset="0"/>
                <a:ea typeface="Montserrat" pitchFamily="34" charset="-122"/>
                <a:cs typeface="Montserrat" pitchFamily="34" charset="-120"/>
              </a:rPr>
              <a:t>Reslife Admin</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727448"/>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72744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672584"/>
            <a:ext cx="530352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You are signed out after </a:t>
            </a:r>
            <a:pPr indent="0" marL="0">
              <a:buNone/>
            </a:pPr>
            <a:r>
              <a:rPr lang="en-US" sz="1300" b="1" dirty="0">
                <a:solidFill>
                  <a:srgbClr val="002D6A"/>
                </a:solidFill>
                <a:latin typeface="Montserrat" pitchFamily="34" charset="0"/>
                <a:ea typeface="Montserrat" pitchFamily="34" charset="-122"/>
                <a:cs typeface="Montserrat" pitchFamily="34" charset="-120"/>
              </a:rPr>
              <a:t>12 hours of inactivity</a:t>
            </a:r>
            <a:pPr indent="0" marL="0">
              <a:buNone/>
            </a:pPr>
            <a:r>
              <a:rPr lang="en-US" sz="1300" dirty="0">
                <a:solidFill>
                  <a:srgbClr val="14213D"/>
                </a:solidFill>
                <a:latin typeface="Montserrat" pitchFamily="34" charset="0"/>
                <a:ea typeface="Montserrat" pitchFamily="34" charset="-122"/>
                <a:cs typeface="Montserrat" pitchFamily="34" charset="-120"/>
              </a:rPr>
              <a:t>. Use </a:t>
            </a:r>
            <a:pPr indent="0" marL="0">
              <a:buNone/>
            </a:pPr>
            <a:r>
              <a:rPr lang="en-US" sz="1300" b="1" dirty="0">
                <a:solidFill>
                  <a:srgbClr val="002D6A"/>
                </a:solidFill>
                <a:latin typeface="Montserrat" pitchFamily="34" charset="0"/>
                <a:ea typeface="Montserrat" pitchFamily="34" charset="-122"/>
                <a:cs typeface="Montserrat" pitchFamily="34" charset="-120"/>
              </a:rPr>
              <a:t>Log Out</a:t>
            </a:r>
            <a:pPr indent="0" marL="0">
              <a:buNone/>
            </a:pPr>
            <a:r>
              <a:rPr lang="en-US" sz="1300" dirty="0">
                <a:solidFill>
                  <a:srgbClr val="14213D"/>
                </a:solidFill>
                <a:latin typeface="Montserrat" pitchFamily="34" charset="0"/>
                <a:ea typeface="Montserrat" pitchFamily="34" charset="-122"/>
                <a:cs typeface="Montserrat" pitchFamily="34" charset="-120"/>
              </a:rPr>
              <a:t> on shared computers.</a:t>
            </a:r>
            <a:endParaRPr lang="en-US" sz="1300" dirty="0"/>
          </a:p>
        </p:txBody>
      </p:sp>
      <p:sp>
        <p:nvSpPr>
          <p:cNvPr id="20" name="Shape 18"/>
          <p:cNvSpPr/>
          <p:nvPr/>
        </p:nvSpPr>
        <p:spPr>
          <a:xfrm>
            <a:off x="6675120" y="1783080"/>
            <a:ext cx="4983480" cy="3063240"/>
          </a:xfrm>
          <a:prstGeom prst="roundRect">
            <a:avLst>
              <a:gd name="adj" fmla="val 1791"/>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21" name="Shape 19"/>
          <p:cNvSpPr/>
          <p:nvPr/>
        </p:nvSpPr>
        <p:spPr>
          <a:xfrm>
            <a:off x="6675120" y="1783080"/>
            <a:ext cx="1196035" cy="3063240"/>
          </a:xfrm>
          <a:prstGeom prst="rect">
            <a:avLst/>
          </a:prstGeom>
          <a:solidFill>
            <a:srgbClr val="002D6A"/>
          </a:solidFill>
          <a:ln w="12700">
            <a:solidFill>
              <a:srgbClr val="002D6A"/>
            </a:solidFill>
            <a:prstDash val="solid"/>
          </a:ln>
        </p:spPr>
      </p:sp>
      <p:pic>
        <p:nvPicPr>
          <p:cNvPr id="22" name="Image 0" descr="C:\Users\brian\AppData\Local\Temp\kilo\ppt\img\logo-white.png">    </p:cNvPr>
          <p:cNvPicPr>
            <a:picLocks noChangeAspect="1"/>
          </p:cNvPicPr>
          <p:nvPr/>
        </p:nvPicPr>
        <p:blipFill>
          <a:blip r:embed="rId1"/>
          <a:stretch>
            <a:fillRect/>
          </a:stretch>
        </p:blipFill>
        <p:spPr>
          <a:xfrm>
            <a:off x="6784848" y="1892808"/>
            <a:ext cx="976579" cy="380866"/>
          </a:xfrm>
          <a:prstGeom prst="rect">
            <a:avLst/>
          </a:prstGeom>
        </p:spPr>
      </p:pic>
      <p:sp>
        <p:nvSpPr>
          <p:cNvPr id="23" name="Shape 20"/>
          <p:cNvSpPr/>
          <p:nvPr/>
        </p:nvSpPr>
        <p:spPr>
          <a:xfrm>
            <a:off x="6675120" y="2359152"/>
            <a:ext cx="1196035" cy="237744"/>
          </a:xfrm>
          <a:prstGeom prst="rect">
            <a:avLst/>
          </a:prstGeom>
          <a:solidFill>
            <a:srgbClr val="F99239"/>
          </a:solidFill>
          <a:ln w="12700">
            <a:solidFill>
              <a:srgbClr val="F99239"/>
            </a:solidFill>
            <a:prstDash val="solid"/>
          </a:ln>
        </p:spPr>
      </p:sp>
      <p:sp>
        <p:nvSpPr>
          <p:cNvPr id="24" name="Text 21"/>
          <p:cNvSpPr/>
          <p:nvPr/>
        </p:nvSpPr>
        <p:spPr>
          <a:xfrm>
            <a:off x="6784848" y="2359152"/>
            <a:ext cx="1058875"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25" name="Text 22"/>
          <p:cNvSpPr/>
          <p:nvPr/>
        </p:nvSpPr>
        <p:spPr>
          <a:xfrm>
            <a:off x="6784848" y="260604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26" name="Text 23"/>
          <p:cNvSpPr/>
          <p:nvPr/>
        </p:nvSpPr>
        <p:spPr>
          <a:xfrm>
            <a:off x="6784848" y="285292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27" name="Text 24"/>
          <p:cNvSpPr/>
          <p:nvPr/>
        </p:nvSpPr>
        <p:spPr>
          <a:xfrm>
            <a:off x="6784848" y="309981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28" name="Text 25"/>
          <p:cNvSpPr/>
          <p:nvPr/>
        </p:nvSpPr>
        <p:spPr>
          <a:xfrm>
            <a:off x="6784848" y="3346704"/>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29" name="Text 26"/>
          <p:cNvSpPr/>
          <p:nvPr/>
        </p:nvSpPr>
        <p:spPr>
          <a:xfrm>
            <a:off x="6784848" y="359359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30" name="Text 27"/>
          <p:cNvSpPr/>
          <p:nvPr/>
        </p:nvSpPr>
        <p:spPr>
          <a:xfrm>
            <a:off x="6784848" y="384048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31" name="Text 28"/>
          <p:cNvSpPr/>
          <p:nvPr/>
        </p:nvSpPr>
        <p:spPr>
          <a:xfrm>
            <a:off x="6784848" y="408736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32" name="Text 29"/>
          <p:cNvSpPr/>
          <p:nvPr/>
        </p:nvSpPr>
        <p:spPr>
          <a:xfrm>
            <a:off x="6784848" y="433425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33" name="Shape 30"/>
          <p:cNvSpPr/>
          <p:nvPr/>
        </p:nvSpPr>
        <p:spPr>
          <a:xfrm>
            <a:off x="7871155" y="1783080"/>
            <a:ext cx="3787445" cy="347472"/>
          </a:xfrm>
          <a:prstGeom prst="rect">
            <a:avLst/>
          </a:prstGeom>
          <a:solidFill>
            <a:srgbClr val="FFFFFF"/>
          </a:solidFill>
          <a:ln w="12700">
            <a:solidFill>
              <a:srgbClr val="E2E8F0"/>
            </a:solidFill>
            <a:prstDash val="solid"/>
          </a:ln>
        </p:spPr>
      </p:sp>
      <p:sp>
        <p:nvSpPr>
          <p:cNvPr id="34" name="Text 31"/>
          <p:cNvSpPr/>
          <p:nvPr/>
        </p:nvSpPr>
        <p:spPr>
          <a:xfrm>
            <a:off x="8008315"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35" name="Text 32"/>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36" name="Shape 33"/>
          <p:cNvSpPr/>
          <p:nvPr/>
        </p:nvSpPr>
        <p:spPr>
          <a:xfrm>
            <a:off x="8035747" y="2286000"/>
            <a:ext cx="3458261" cy="2377440"/>
          </a:xfrm>
          <a:prstGeom prst="rect">
            <a:avLst/>
          </a:prstGeom>
          <a:solidFill>
            <a:srgbClr val="FFFFFF"/>
          </a:solidFill>
          <a:ln w="12700">
            <a:solidFill>
              <a:srgbClr val="E2E8F0"/>
            </a:solidFill>
            <a:prstDash val="solid"/>
          </a:ln>
        </p:spPr>
      </p:sp>
      <p:sp>
        <p:nvSpPr>
          <p:cNvPr id="37" name="Text 34"/>
          <p:cNvSpPr/>
          <p:nvPr/>
        </p:nvSpPr>
        <p:spPr>
          <a:xfrm>
            <a:off x="8145475" y="2331720"/>
            <a:ext cx="1995221"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DASHBOARD</a:t>
            </a:r>
            <a:endParaRPr lang="en-US" sz="900" dirty="0"/>
          </a:p>
        </p:txBody>
      </p:sp>
      <p:sp>
        <p:nvSpPr>
          <p:cNvPr id="38" name="Shape 35"/>
          <p:cNvSpPr/>
          <p:nvPr/>
        </p:nvSpPr>
        <p:spPr>
          <a:xfrm>
            <a:off x="8127187" y="2724912"/>
            <a:ext cx="3275381" cy="310896"/>
          </a:xfrm>
          <a:prstGeom prst="rect">
            <a:avLst/>
          </a:prstGeom>
          <a:solidFill>
            <a:srgbClr val="F8FAFC"/>
          </a:solidFill>
          <a:ln w="12700">
            <a:solidFill>
              <a:srgbClr val="E2E8F0"/>
            </a:solidFill>
            <a:prstDash val="solid"/>
          </a:ln>
        </p:spPr>
      </p:sp>
      <p:sp>
        <p:nvSpPr>
          <p:cNvPr id="39" name="Text 36"/>
          <p:cNvSpPr/>
          <p:nvPr/>
        </p:nvSpPr>
        <p:spPr>
          <a:xfrm>
            <a:off x="8218627" y="272491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Open Incidents · Open Maintenance · My Upcoming Shifts</a:t>
            </a:r>
            <a:endParaRPr lang="en-US" sz="800" dirty="0"/>
          </a:p>
        </p:txBody>
      </p:sp>
      <p:sp>
        <p:nvSpPr>
          <p:cNvPr id="40" name="Shape 37"/>
          <p:cNvSpPr/>
          <p:nvPr/>
        </p:nvSpPr>
        <p:spPr>
          <a:xfrm>
            <a:off x="8127187" y="3090672"/>
            <a:ext cx="3275381" cy="310896"/>
          </a:xfrm>
          <a:prstGeom prst="rect">
            <a:avLst/>
          </a:prstGeom>
          <a:solidFill>
            <a:srgbClr val="FFFFFF"/>
          </a:solidFill>
          <a:ln w="12700">
            <a:solidFill>
              <a:srgbClr val="E2E8F0"/>
            </a:solidFill>
            <a:prstDash val="solid"/>
          </a:ln>
        </p:spPr>
      </p:sp>
      <p:sp>
        <p:nvSpPr>
          <p:cNvPr id="41" name="Text 38"/>
          <p:cNvSpPr/>
          <p:nvPr/>
        </p:nvSpPr>
        <p:spPr>
          <a:xfrm>
            <a:off x="8218627" y="309067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Pinned &amp; Recent Announcements</a:t>
            </a:r>
            <a:endParaRPr lang="en-US" sz="800" dirty="0"/>
          </a:p>
        </p:txBody>
      </p:sp>
      <p:sp>
        <p:nvSpPr>
          <p:cNvPr id="42" name="Shape 39"/>
          <p:cNvSpPr/>
          <p:nvPr/>
        </p:nvSpPr>
        <p:spPr>
          <a:xfrm>
            <a:off x="8127187" y="3456432"/>
            <a:ext cx="3275381" cy="310896"/>
          </a:xfrm>
          <a:prstGeom prst="rect">
            <a:avLst/>
          </a:prstGeom>
          <a:solidFill>
            <a:srgbClr val="F8FAFC"/>
          </a:solidFill>
          <a:ln w="12700">
            <a:solidFill>
              <a:srgbClr val="E2E8F0"/>
            </a:solidFill>
            <a:prstDash val="solid"/>
          </a:ln>
        </p:spPr>
      </p:sp>
      <p:sp>
        <p:nvSpPr>
          <p:cNvPr id="43" name="Text 40"/>
          <p:cNvSpPr/>
          <p:nvPr/>
        </p:nvSpPr>
        <p:spPr>
          <a:xfrm>
            <a:off x="8218627" y="345643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On Call Now · My next duty</a:t>
            </a:r>
            <a:endParaRPr lang="en-US" sz="800" dirty="0"/>
          </a:p>
        </p:txBody>
      </p:sp>
      <p:sp>
        <p:nvSpPr>
          <p:cNvPr id="44" name="Shape 41"/>
          <p:cNvSpPr/>
          <p:nvPr/>
        </p:nvSpPr>
        <p:spPr>
          <a:xfrm>
            <a:off x="8127187" y="3822192"/>
            <a:ext cx="3275381" cy="310896"/>
          </a:xfrm>
          <a:prstGeom prst="rect">
            <a:avLst/>
          </a:prstGeom>
          <a:solidFill>
            <a:srgbClr val="FFFFFF"/>
          </a:solidFill>
          <a:ln w="12700">
            <a:solidFill>
              <a:srgbClr val="E2E8F0"/>
            </a:solidFill>
            <a:prstDash val="solid"/>
          </a:ln>
        </p:spPr>
      </p:sp>
      <p:sp>
        <p:nvSpPr>
          <p:cNvPr id="45" name="Text 42"/>
          <p:cNvSpPr/>
          <p:nvPr/>
        </p:nvSpPr>
        <p:spPr>
          <a:xfrm>
            <a:off x="8218627" y="382219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Incident Report Assistant · + New Report</a:t>
            </a:r>
            <a:endParaRPr lang="en-US" sz="800" dirty="0"/>
          </a:p>
        </p:txBody>
      </p:sp>
      <p:sp>
        <p:nvSpPr>
          <p:cNvPr id="46" name="Shape 43"/>
          <p:cNvSpPr/>
          <p:nvPr/>
        </p:nvSpPr>
        <p:spPr>
          <a:xfrm>
            <a:off x="6675120" y="5074920"/>
            <a:ext cx="4983480" cy="868680"/>
          </a:xfrm>
          <a:prstGeom prst="roundRect">
            <a:avLst>
              <a:gd name="adj" fmla="val 8421"/>
            </a:avLst>
          </a:prstGeom>
          <a:solidFill>
            <a:srgbClr val="FFF7ED"/>
          </a:solidFill>
          <a:ln w="12700">
            <a:solidFill>
              <a:srgbClr val="FED7AA"/>
            </a:solidFill>
            <a:prstDash val="solid"/>
          </a:ln>
        </p:spPr>
      </p:sp>
      <p:sp>
        <p:nvSpPr>
          <p:cNvPr id="47" name="Shape 44"/>
          <p:cNvSpPr/>
          <p:nvPr/>
        </p:nvSpPr>
        <p:spPr>
          <a:xfrm>
            <a:off x="6675120" y="5074920"/>
            <a:ext cx="73152" cy="868680"/>
          </a:xfrm>
          <a:prstGeom prst="rect">
            <a:avLst/>
          </a:prstGeom>
          <a:solidFill>
            <a:srgbClr val="F99239"/>
          </a:solidFill>
          <a:ln w="12700">
            <a:solidFill>
              <a:srgbClr val="F99239"/>
            </a:solidFill>
            <a:prstDash val="solid"/>
          </a:ln>
        </p:spPr>
      </p:sp>
      <p:sp>
        <p:nvSpPr>
          <p:cNvPr id="48" name="Text 45"/>
          <p:cNvSpPr/>
          <p:nvPr/>
        </p:nvSpPr>
        <p:spPr>
          <a:xfrm>
            <a:off x="6858000" y="5074920"/>
            <a:ext cx="4709160" cy="86868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Never share your login. Everything you submit is recorded under your name.</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GETTING STARTED</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The header: notifications, feedback &amp; your account</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356616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1874520"/>
          </a:xfrm>
          <a:prstGeom prst="rect">
            <a:avLst/>
          </a:prstGeom>
          <a:solidFill>
            <a:srgbClr val="F99239"/>
          </a:solidFill>
          <a:ln w="12700">
            <a:solidFill>
              <a:srgbClr val="F99239"/>
            </a:solidFill>
            <a:prstDash val="solid"/>
          </a:ln>
        </p:spPr>
      </p:sp>
      <p:sp>
        <p:nvSpPr>
          <p:cNvPr id="7" name="Text 5"/>
          <p:cNvSpPr/>
          <p:nvPr/>
        </p:nvSpPr>
        <p:spPr>
          <a:xfrm>
            <a:off x="749808" y="1874520"/>
            <a:ext cx="324612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Notifications bell</a:t>
            </a:r>
            <a:endParaRPr lang="en-US" sz="1300" dirty="0"/>
          </a:p>
        </p:txBody>
      </p:sp>
      <p:sp>
        <p:nvSpPr>
          <p:cNvPr id="8" name="Text 6"/>
          <p:cNvSpPr/>
          <p:nvPr/>
        </p:nvSpPr>
        <p:spPr>
          <a:xfrm>
            <a:off x="685800" y="2240280"/>
            <a:ext cx="3291840" cy="132588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Badge shows unread items (checks every 20 sec)</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Click an item to jump to its tab</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Mark all read</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Sound on/off</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Urgent announcements pop up — click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Got it</a:t>
            </a:r>
            <a:endParaRPr lang="en-US" sz="1100" dirty="0"/>
          </a:p>
        </p:txBody>
      </p:sp>
      <p:sp>
        <p:nvSpPr>
          <p:cNvPr id="9" name="Shape 7"/>
          <p:cNvSpPr/>
          <p:nvPr/>
        </p:nvSpPr>
        <p:spPr>
          <a:xfrm>
            <a:off x="4297680" y="1783080"/>
            <a:ext cx="356616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4297680" y="1783080"/>
            <a:ext cx="73152" cy="1874520"/>
          </a:xfrm>
          <a:prstGeom prst="rect">
            <a:avLst/>
          </a:prstGeom>
          <a:solidFill>
            <a:srgbClr val="002D6A"/>
          </a:solidFill>
          <a:ln w="12700">
            <a:solidFill>
              <a:srgbClr val="002D6A"/>
            </a:solidFill>
            <a:prstDash val="solid"/>
          </a:ln>
        </p:spPr>
      </p:sp>
      <p:sp>
        <p:nvSpPr>
          <p:cNvPr id="11" name="Text 9"/>
          <p:cNvSpPr/>
          <p:nvPr/>
        </p:nvSpPr>
        <p:spPr>
          <a:xfrm>
            <a:off x="4498848" y="1874520"/>
            <a:ext cx="324612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Feedback button</a:t>
            </a:r>
            <a:endParaRPr lang="en-US" sz="1300" dirty="0"/>
          </a:p>
        </p:txBody>
      </p:sp>
      <p:sp>
        <p:nvSpPr>
          <p:cNvPr id="12" name="Text 10"/>
          <p:cNvSpPr/>
          <p:nvPr/>
        </p:nvSpPr>
        <p:spPr>
          <a:xfrm>
            <a:off x="4434840" y="2240280"/>
            <a:ext cx="3291840" cy="132588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Navy pill, bottom-right of every page</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Choose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Error / Bug</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Feature request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or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Question</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Add a summary + optional screenshot (paste with Ctrl/⌘+V)</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Click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Send</a:t>
            </a:r>
            <a:endParaRPr lang="en-US" sz="1100" dirty="0"/>
          </a:p>
        </p:txBody>
      </p:sp>
      <p:sp>
        <p:nvSpPr>
          <p:cNvPr id="13" name="Shape 11"/>
          <p:cNvSpPr/>
          <p:nvPr/>
        </p:nvSpPr>
        <p:spPr>
          <a:xfrm>
            <a:off x="8046720" y="1783080"/>
            <a:ext cx="3611880"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8046720" y="1783080"/>
            <a:ext cx="73152" cy="1874520"/>
          </a:xfrm>
          <a:prstGeom prst="rect">
            <a:avLst/>
          </a:prstGeom>
          <a:solidFill>
            <a:srgbClr val="1F5FA8"/>
          </a:solidFill>
          <a:ln w="12700">
            <a:solidFill>
              <a:srgbClr val="1F5FA8"/>
            </a:solidFill>
            <a:prstDash val="solid"/>
          </a:ln>
        </p:spPr>
      </p:sp>
      <p:sp>
        <p:nvSpPr>
          <p:cNvPr id="15" name="Text 13"/>
          <p:cNvSpPr/>
          <p:nvPr/>
        </p:nvSpPr>
        <p:spPr>
          <a:xfrm>
            <a:off x="8247888" y="1874520"/>
            <a:ext cx="3291840" cy="347472"/>
          </a:xfrm>
          <a:prstGeom prst="rect">
            <a:avLst/>
          </a:prstGeom>
          <a:noFill/>
          <a:ln/>
        </p:spPr>
        <p:txBody>
          <a:bodyPr wrap="square" rtlCol="0" anchor="ctr"/>
          <a:lstStyle/>
          <a:p>
            <a:pPr indent="0" marL="0">
              <a:buNone/>
            </a:pPr>
            <a:r>
              <a:rPr lang="en-US" sz="1300" b="1" dirty="0">
                <a:solidFill>
                  <a:srgbClr val="1F5FA8"/>
                </a:solidFill>
                <a:latin typeface="Montserrat" pitchFamily="34" charset="0"/>
                <a:ea typeface="Montserrat" pitchFamily="34" charset="-122"/>
                <a:cs typeface="Montserrat" pitchFamily="34" charset="-120"/>
              </a:rPr>
              <a:t>👤  Your account</a:t>
            </a:r>
            <a:endParaRPr lang="en-US" sz="1300" dirty="0"/>
          </a:p>
        </p:txBody>
      </p:sp>
      <p:sp>
        <p:nvSpPr>
          <p:cNvPr id="16" name="Text 14"/>
          <p:cNvSpPr/>
          <p:nvPr/>
        </p:nvSpPr>
        <p:spPr>
          <a:xfrm>
            <a:off x="8183880" y="2240280"/>
            <a:ext cx="3337560" cy="132588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Role badge reads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Reslife - RA</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Property switcher appears only if you have more than one property</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Log Out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button</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Sidebar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Collapse / Expand</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at the bottom</a:t>
            </a:r>
            <a:endParaRPr lang="en-US" sz="1100" dirty="0"/>
          </a:p>
        </p:txBody>
      </p:sp>
      <p:sp>
        <p:nvSpPr>
          <p:cNvPr id="17" name="Shape 15"/>
          <p:cNvSpPr/>
          <p:nvPr/>
        </p:nvSpPr>
        <p:spPr>
          <a:xfrm>
            <a:off x="548640" y="3931920"/>
            <a:ext cx="11109960" cy="566928"/>
          </a:xfrm>
          <a:prstGeom prst="roundRect">
            <a:avLst>
              <a:gd name="adj" fmla="val 8065"/>
            </a:avLst>
          </a:prstGeom>
          <a:solidFill>
            <a:srgbClr val="FFFFFF"/>
          </a:solidFill>
          <a:ln w="12700">
            <a:solidFill>
              <a:srgbClr val="E2E8F0"/>
            </a:solidFill>
            <a:prstDash val="solid"/>
          </a:ln>
        </p:spPr>
      </p:sp>
      <p:sp>
        <p:nvSpPr>
          <p:cNvPr id="18" name="Text 16"/>
          <p:cNvSpPr/>
          <p:nvPr/>
        </p:nvSpPr>
        <p:spPr>
          <a:xfrm>
            <a:off x="731520" y="3931920"/>
            <a:ext cx="10789920" cy="566928"/>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  The Harbour at OCC  </a:t>
            </a:r>
            <a:pPr indent="0" marL="0">
              <a:buNone/>
            </a:pPr>
            <a:r>
              <a:rPr lang="en-US" sz="1200" b="1" dirty="0">
                <a:solidFill>
                  <a:srgbClr val="F99239"/>
                </a:solidFill>
                <a:latin typeface="Montserrat" pitchFamily="34" charset="0"/>
                <a:ea typeface="Montserrat" pitchFamily="34" charset="-122"/>
                <a:cs typeface="Montserrat" pitchFamily="34" charset="-120"/>
              </a:rPr>
              <a:t>RESLIFE HUB</a:t>
            </a:r>
            <a:pPr indent="0" marL="0">
              <a:buNone/>
            </a:pPr>
            <a:r>
              <a:rPr lang="en-US" sz="1200" dirty="0">
                <a:solidFill>
                  <a:srgbClr val="64748B"/>
                </a:solidFill>
                <a:latin typeface="Montserrat" pitchFamily="34" charset="0"/>
                <a:ea typeface="Montserrat" pitchFamily="34" charset="-122"/>
                <a:cs typeface="Montserrat" pitchFamily="34" charset="-120"/>
              </a:rPr>
              <a:t>                                                           🔔 3     Reslife - RA     username     Log Out</a:t>
            </a:r>
            <a:endParaRPr lang="en-US" sz="1200" dirty="0"/>
          </a:p>
        </p:txBody>
      </p:sp>
      <p:sp>
        <p:nvSpPr>
          <p:cNvPr id="19" name="Shape 17"/>
          <p:cNvSpPr/>
          <p:nvPr/>
        </p:nvSpPr>
        <p:spPr>
          <a:xfrm>
            <a:off x="548640" y="4754880"/>
            <a:ext cx="11109960" cy="594360"/>
          </a:xfrm>
          <a:prstGeom prst="roundRect">
            <a:avLst>
              <a:gd name="adj" fmla="val 12308"/>
            </a:avLst>
          </a:prstGeom>
          <a:solidFill>
            <a:srgbClr val="FFF7ED"/>
          </a:solidFill>
          <a:ln w="12700">
            <a:solidFill>
              <a:srgbClr val="FED7AA"/>
            </a:solidFill>
            <a:prstDash val="solid"/>
          </a:ln>
        </p:spPr>
      </p:sp>
      <p:sp>
        <p:nvSpPr>
          <p:cNvPr id="20" name="Shape 18"/>
          <p:cNvSpPr/>
          <p:nvPr/>
        </p:nvSpPr>
        <p:spPr>
          <a:xfrm>
            <a:off x="548640" y="4754880"/>
            <a:ext cx="73152" cy="594360"/>
          </a:xfrm>
          <a:prstGeom prst="rect">
            <a:avLst/>
          </a:prstGeom>
          <a:solidFill>
            <a:srgbClr val="F99239"/>
          </a:solidFill>
          <a:ln w="12700">
            <a:solidFill>
              <a:srgbClr val="F99239"/>
            </a:solidFill>
            <a:prstDash val="solid"/>
          </a:ln>
        </p:spPr>
      </p:sp>
      <p:sp>
        <p:nvSpPr>
          <p:cNvPr id="21" name="Text 19"/>
          <p:cNvSpPr/>
          <p:nvPr/>
        </p:nvSpPr>
        <p:spPr>
          <a:xfrm>
            <a:off x="731520" y="4754880"/>
            <a:ext cx="10835640" cy="59436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Turn on browser notifications so you hear about urgent announcements, swaps and creative approvals right away.</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GETTING STARTED</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Your sidebar: the tabs RAs can use</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2651760" cy="777240"/>
          </a:xfrm>
          <a:prstGeom prst="roundRect">
            <a:avLst>
              <a:gd name="adj" fmla="val 7059"/>
            </a:avLst>
          </a:prstGeom>
          <a:solidFill>
            <a:srgbClr val="F8FAFC"/>
          </a:solidFill>
          <a:ln w="12700">
            <a:solidFill>
              <a:srgbClr val="E2E8F0"/>
            </a:solidFill>
            <a:prstDash val="solid"/>
          </a:ln>
        </p:spPr>
      </p:sp>
      <p:sp>
        <p:nvSpPr>
          <p:cNvPr id="6" name="Text 4"/>
          <p:cNvSpPr/>
          <p:nvPr/>
        </p:nvSpPr>
        <p:spPr>
          <a:xfrm>
            <a:off x="685800" y="17830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Dashboard</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Your property at a glance</a:t>
            </a:r>
            <a:endParaRPr lang="en-US" sz="1300" dirty="0"/>
          </a:p>
        </p:txBody>
      </p:sp>
      <p:sp>
        <p:nvSpPr>
          <p:cNvPr id="7" name="Shape 5"/>
          <p:cNvSpPr/>
          <p:nvPr/>
        </p:nvSpPr>
        <p:spPr>
          <a:xfrm>
            <a:off x="3346704" y="1783080"/>
            <a:ext cx="2651760" cy="777240"/>
          </a:xfrm>
          <a:prstGeom prst="roundRect">
            <a:avLst>
              <a:gd name="adj" fmla="val 7059"/>
            </a:avLst>
          </a:prstGeom>
          <a:solidFill>
            <a:srgbClr val="F8FAFC"/>
          </a:solidFill>
          <a:ln w="12700">
            <a:solidFill>
              <a:srgbClr val="E2E8F0"/>
            </a:solidFill>
            <a:prstDash val="solid"/>
          </a:ln>
        </p:spPr>
      </p:sp>
      <p:sp>
        <p:nvSpPr>
          <p:cNvPr id="8" name="Text 6"/>
          <p:cNvSpPr/>
          <p:nvPr/>
        </p:nvSpPr>
        <p:spPr>
          <a:xfrm>
            <a:off x="3483864" y="17830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Announcements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Team news (read-only)</a:t>
            </a:r>
            <a:endParaRPr lang="en-US" sz="1300" dirty="0"/>
          </a:p>
        </p:txBody>
      </p:sp>
      <p:sp>
        <p:nvSpPr>
          <p:cNvPr id="9" name="Shape 7"/>
          <p:cNvSpPr/>
          <p:nvPr/>
        </p:nvSpPr>
        <p:spPr>
          <a:xfrm>
            <a:off x="6144768" y="1783080"/>
            <a:ext cx="2651760" cy="777240"/>
          </a:xfrm>
          <a:prstGeom prst="roundRect">
            <a:avLst>
              <a:gd name="adj" fmla="val 7059"/>
            </a:avLst>
          </a:prstGeom>
          <a:solidFill>
            <a:srgbClr val="F8FAFC"/>
          </a:solidFill>
          <a:ln w="12700">
            <a:solidFill>
              <a:srgbClr val="E2E8F0"/>
            </a:solidFill>
            <a:prstDash val="solid"/>
          </a:ln>
        </p:spPr>
      </p:sp>
      <p:sp>
        <p:nvSpPr>
          <p:cNvPr id="10" name="Text 8"/>
          <p:cNvSpPr/>
          <p:nvPr/>
        </p:nvSpPr>
        <p:spPr>
          <a:xfrm>
            <a:off x="6281928" y="17830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Program Proposals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Plan &amp; submit programs</a:t>
            </a:r>
            <a:endParaRPr lang="en-US" sz="1300" dirty="0"/>
          </a:p>
        </p:txBody>
      </p:sp>
      <p:sp>
        <p:nvSpPr>
          <p:cNvPr id="11" name="Shape 9"/>
          <p:cNvSpPr/>
          <p:nvPr/>
        </p:nvSpPr>
        <p:spPr>
          <a:xfrm>
            <a:off x="8942832" y="1783080"/>
            <a:ext cx="2651760" cy="777240"/>
          </a:xfrm>
          <a:prstGeom prst="roundRect">
            <a:avLst>
              <a:gd name="adj" fmla="val 7059"/>
            </a:avLst>
          </a:prstGeom>
          <a:solidFill>
            <a:srgbClr val="F8FAFC"/>
          </a:solidFill>
          <a:ln w="12700">
            <a:solidFill>
              <a:srgbClr val="E2E8F0"/>
            </a:solidFill>
            <a:prstDash val="solid"/>
          </a:ln>
        </p:spPr>
      </p:sp>
      <p:sp>
        <p:nvSpPr>
          <p:cNvPr id="12" name="Text 10"/>
          <p:cNvSpPr/>
          <p:nvPr/>
        </p:nvSpPr>
        <p:spPr>
          <a:xfrm>
            <a:off x="9079992" y="17830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Committees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Rosters &amp; meeting minutes</a:t>
            </a:r>
            <a:endParaRPr lang="en-US" sz="1300" dirty="0"/>
          </a:p>
        </p:txBody>
      </p:sp>
      <p:sp>
        <p:nvSpPr>
          <p:cNvPr id="13" name="Shape 11"/>
          <p:cNvSpPr/>
          <p:nvPr/>
        </p:nvSpPr>
        <p:spPr>
          <a:xfrm>
            <a:off x="548640" y="2697480"/>
            <a:ext cx="2651760" cy="777240"/>
          </a:xfrm>
          <a:prstGeom prst="roundRect">
            <a:avLst>
              <a:gd name="adj" fmla="val 7059"/>
            </a:avLst>
          </a:prstGeom>
          <a:solidFill>
            <a:srgbClr val="F8FAFC"/>
          </a:solidFill>
          <a:ln w="12700">
            <a:solidFill>
              <a:srgbClr val="E2E8F0"/>
            </a:solidFill>
            <a:prstDash val="solid"/>
          </a:ln>
        </p:spPr>
      </p:sp>
      <p:sp>
        <p:nvSpPr>
          <p:cNvPr id="14" name="Text 12"/>
          <p:cNvSpPr/>
          <p:nvPr/>
        </p:nvSpPr>
        <p:spPr>
          <a:xfrm>
            <a:off x="685800" y="26974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Schedule &amp; On-Call</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Shifts, swaps, availability</a:t>
            </a:r>
            <a:endParaRPr lang="en-US" sz="1300" dirty="0"/>
          </a:p>
        </p:txBody>
      </p:sp>
      <p:sp>
        <p:nvSpPr>
          <p:cNvPr id="15" name="Shape 13"/>
          <p:cNvSpPr/>
          <p:nvPr/>
        </p:nvSpPr>
        <p:spPr>
          <a:xfrm>
            <a:off x="3346704" y="2697480"/>
            <a:ext cx="2651760" cy="777240"/>
          </a:xfrm>
          <a:prstGeom prst="roundRect">
            <a:avLst>
              <a:gd name="adj" fmla="val 7059"/>
            </a:avLst>
          </a:prstGeom>
          <a:solidFill>
            <a:srgbClr val="F8FAFC"/>
          </a:solidFill>
          <a:ln w="12700">
            <a:solidFill>
              <a:srgbClr val="E2E8F0"/>
            </a:solidFill>
            <a:prstDash val="solid"/>
          </a:ln>
        </p:spPr>
      </p:sp>
      <p:sp>
        <p:nvSpPr>
          <p:cNvPr id="16" name="Text 14"/>
          <p:cNvSpPr/>
          <p:nvPr/>
        </p:nvSpPr>
        <p:spPr>
          <a:xfrm>
            <a:off x="3483864" y="26974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Duty Log</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Calls &amp; incidents per shift</a:t>
            </a:r>
            <a:endParaRPr lang="en-US" sz="1300" dirty="0"/>
          </a:p>
        </p:txBody>
      </p:sp>
      <p:sp>
        <p:nvSpPr>
          <p:cNvPr id="17" name="Shape 15"/>
          <p:cNvSpPr/>
          <p:nvPr/>
        </p:nvSpPr>
        <p:spPr>
          <a:xfrm>
            <a:off x="6144768" y="2697480"/>
            <a:ext cx="2651760" cy="777240"/>
          </a:xfrm>
          <a:prstGeom prst="roundRect">
            <a:avLst>
              <a:gd name="adj" fmla="val 7059"/>
            </a:avLst>
          </a:prstGeom>
          <a:solidFill>
            <a:srgbClr val="F8FAFC"/>
          </a:solidFill>
          <a:ln w="12700">
            <a:solidFill>
              <a:srgbClr val="E2E8F0"/>
            </a:solidFill>
            <a:prstDash val="solid"/>
          </a:ln>
        </p:spPr>
      </p:sp>
      <p:sp>
        <p:nvSpPr>
          <p:cNvPr id="18" name="Text 16"/>
          <p:cNvSpPr/>
          <p:nvPr/>
        </p:nvSpPr>
        <p:spPr>
          <a:xfrm>
            <a:off x="6281928" y="26974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Guest Log</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Check guests in &amp; out</a:t>
            </a:r>
            <a:endParaRPr lang="en-US" sz="1300" dirty="0"/>
          </a:p>
        </p:txBody>
      </p:sp>
      <p:sp>
        <p:nvSpPr>
          <p:cNvPr id="19" name="Shape 17"/>
          <p:cNvSpPr/>
          <p:nvPr/>
        </p:nvSpPr>
        <p:spPr>
          <a:xfrm>
            <a:off x="8942832" y="2697480"/>
            <a:ext cx="2651760" cy="777240"/>
          </a:xfrm>
          <a:prstGeom prst="roundRect">
            <a:avLst>
              <a:gd name="adj" fmla="val 7059"/>
            </a:avLst>
          </a:prstGeom>
          <a:solidFill>
            <a:srgbClr val="F8FAFC"/>
          </a:solidFill>
          <a:ln w="12700">
            <a:solidFill>
              <a:srgbClr val="E2E8F0"/>
            </a:solidFill>
            <a:prstDash val="solid"/>
          </a:ln>
        </p:spPr>
      </p:sp>
      <p:sp>
        <p:nvSpPr>
          <p:cNvPr id="20" name="Text 18"/>
          <p:cNvSpPr/>
          <p:nvPr/>
        </p:nvSpPr>
        <p:spPr>
          <a:xfrm>
            <a:off x="9079992" y="26974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Incident Reports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Quick incident log</a:t>
            </a:r>
            <a:endParaRPr lang="en-US" sz="1300" dirty="0"/>
          </a:p>
        </p:txBody>
      </p:sp>
      <p:sp>
        <p:nvSpPr>
          <p:cNvPr id="21" name="Shape 19"/>
          <p:cNvSpPr/>
          <p:nvPr/>
        </p:nvSpPr>
        <p:spPr>
          <a:xfrm>
            <a:off x="548640" y="3611880"/>
            <a:ext cx="2651760" cy="777240"/>
          </a:xfrm>
          <a:prstGeom prst="roundRect">
            <a:avLst>
              <a:gd name="adj" fmla="val 7059"/>
            </a:avLst>
          </a:prstGeom>
          <a:solidFill>
            <a:srgbClr val="F8FAFC"/>
          </a:solidFill>
          <a:ln w="12700">
            <a:solidFill>
              <a:srgbClr val="E2E8F0"/>
            </a:solidFill>
            <a:prstDash val="solid"/>
          </a:ln>
        </p:spPr>
      </p:sp>
      <p:sp>
        <p:nvSpPr>
          <p:cNvPr id="22" name="Text 20"/>
          <p:cNvSpPr/>
          <p:nvPr/>
        </p:nvSpPr>
        <p:spPr>
          <a:xfrm>
            <a:off x="685800" y="36118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Maintenance &amp; Keys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Work orders &amp; lockouts</a:t>
            </a:r>
            <a:endParaRPr lang="en-US" sz="1300" dirty="0"/>
          </a:p>
        </p:txBody>
      </p:sp>
      <p:sp>
        <p:nvSpPr>
          <p:cNvPr id="23" name="Shape 21"/>
          <p:cNvSpPr/>
          <p:nvPr/>
        </p:nvSpPr>
        <p:spPr>
          <a:xfrm>
            <a:off x="3346704" y="3611880"/>
            <a:ext cx="2651760" cy="777240"/>
          </a:xfrm>
          <a:prstGeom prst="roundRect">
            <a:avLst>
              <a:gd name="adj" fmla="val 7059"/>
            </a:avLst>
          </a:prstGeom>
          <a:solidFill>
            <a:srgbClr val="F8FAFC"/>
          </a:solidFill>
          <a:ln w="12700">
            <a:solidFill>
              <a:srgbClr val="E2E8F0"/>
            </a:solidFill>
            <a:prstDash val="solid"/>
          </a:ln>
        </p:spPr>
      </p:sp>
      <p:sp>
        <p:nvSpPr>
          <p:cNvPr id="24" name="Text 22"/>
          <p:cNvSpPr/>
          <p:nvPr/>
        </p:nvSpPr>
        <p:spPr>
          <a:xfrm>
            <a:off x="3483864" y="36118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Resident Directory</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Residents &amp; history</a:t>
            </a:r>
            <a:endParaRPr lang="en-US" sz="1300" dirty="0"/>
          </a:p>
        </p:txBody>
      </p:sp>
      <p:sp>
        <p:nvSpPr>
          <p:cNvPr id="25" name="Shape 23"/>
          <p:cNvSpPr/>
          <p:nvPr/>
        </p:nvSpPr>
        <p:spPr>
          <a:xfrm>
            <a:off x="6144768" y="3611880"/>
            <a:ext cx="2651760" cy="777240"/>
          </a:xfrm>
          <a:prstGeom prst="roundRect">
            <a:avLst>
              <a:gd name="adj" fmla="val 7059"/>
            </a:avLst>
          </a:prstGeom>
          <a:solidFill>
            <a:srgbClr val="F8FAFC"/>
          </a:solidFill>
          <a:ln w="12700">
            <a:solidFill>
              <a:srgbClr val="E2E8F0"/>
            </a:solidFill>
            <a:prstDash val="solid"/>
          </a:ln>
        </p:spPr>
      </p:sp>
      <p:sp>
        <p:nvSpPr>
          <p:cNvPr id="26" name="Text 24"/>
          <p:cNvSpPr/>
          <p:nvPr/>
        </p:nvSpPr>
        <p:spPr>
          <a:xfrm>
            <a:off x="6281928" y="36118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Campus Contacts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Who to call on campus</a:t>
            </a:r>
            <a:endParaRPr lang="en-US" sz="1300" dirty="0"/>
          </a:p>
        </p:txBody>
      </p:sp>
      <p:sp>
        <p:nvSpPr>
          <p:cNvPr id="27" name="Shape 25"/>
          <p:cNvSpPr/>
          <p:nvPr/>
        </p:nvSpPr>
        <p:spPr>
          <a:xfrm>
            <a:off x="8942832" y="3611880"/>
            <a:ext cx="2651760" cy="777240"/>
          </a:xfrm>
          <a:prstGeom prst="roundRect">
            <a:avLst>
              <a:gd name="adj" fmla="val 7059"/>
            </a:avLst>
          </a:prstGeom>
          <a:solidFill>
            <a:srgbClr val="F8FAFC"/>
          </a:solidFill>
          <a:ln w="12700">
            <a:solidFill>
              <a:srgbClr val="E2E8F0"/>
            </a:solidFill>
            <a:prstDash val="solid"/>
          </a:ln>
        </p:spPr>
      </p:sp>
      <p:sp>
        <p:nvSpPr>
          <p:cNvPr id="28" name="Text 26"/>
          <p:cNvSpPr/>
          <p:nvPr/>
        </p:nvSpPr>
        <p:spPr>
          <a:xfrm>
            <a:off x="9079992" y="36118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Curriculum Tracker</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Your required items</a:t>
            </a:r>
            <a:endParaRPr lang="en-US" sz="1300" dirty="0"/>
          </a:p>
        </p:txBody>
      </p:sp>
      <p:sp>
        <p:nvSpPr>
          <p:cNvPr id="29" name="Shape 27"/>
          <p:cNvSpPr/>
          <p:nvPr/>
        </p:nvSpPr>
        <p:spPr>
          <a:xfrm>
            <a:off x="548640" y="4526280"/>
            <a:ext cx="2651760" cy="777240"/>
          </a:xfrm>
          <a:prstGeom prst="roundRect">
            <a:avLst>
              <a:gd name="adj" fmla="val 7059"/>
            </a:avLst>
          </a:prstGeom>
          <a:solidFill>
            <a:srgbClr val="F8FAFC"/>
          </a:solidFill>
          <a:ln w="12700">
            <a:solidFill>
              <a:srgbClr val="E2E8F0"/>
            </a:solidFill>
            <a:prstDash val="solid"/>
          </a:ln>
        </p:spPr>
      </p:sp>
      <p:sp>
        <p:nvSpPr>
          <p:cNvPr id="30" name="Text 28"/>
          <p:cNvSpPr/>
          <p:nvPr/>
        </p:nvSpPr>
        <p:spPr>
          <a:xfrm>
            <a:off x="685800" y="45262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SOP Library</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Written procedures</a:t>
            </a:r>
            <a:endParaRPr lang="en-US" sz="1300" dirty="0"/>
          </a:p>
        </p:txBody>
      </p:sp>
      <p:sp>
        <p:nvSpPr>
          <p:cNvPr id="31" name="Shape 29"/>
          <p:cNvSpPr/>
          <p:nvPr/>
        </p:nvSpPr>
        <p:spPr>
          <a:xfrm>
            <a:off x="3346704" y="4526280"/>
            <a:ext cx="2651760" cy="777240"/>
          </a:xfrm>
          <a:prstGeom prst="roundRect">
            <a:avLst>
              <a:gd name="adj" fmla="val 7059"/>
            </a:avLst>
          </a:prstGeom>
          <a:solidFill>
            <a:srgbClr val="F8FAFC"/>
          </a:solidFill>
          <a:ln w="12700">
            <a:solidFill>
              <a:srgbClr val="E2E8F0"/>
            </a:solidFill>
            <a:prstDash val="solid"/>
          </a:ln>
        </p:spPr>
      </p:sp>
      <p:sp>
        <p:nvSpPr>
          <p:cNvPr id="32" name="Text 30"/>
          <p:cNvSpPr/>
          <p:nvPr/>
        </p:nvSpPr>
        <p:spPr>
          <a:xfrm>
            <a:off x="3483864" y="45262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Resources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Links &amp; property info</a:t>
            </a:r>
            <a:endParaRPr lang="en-US" sz="1300" dirty="0"/>
          </a:p>
        </p:txBody>
      </p:sp>
      <p:sp>
        <p:nvSpPr>
          <p:cNvPr id="33" name="Shape 31"/>
          <p:cNvSpPr/>
          <p:nvPr/>
        </p:nvSpPr>
        <p:spPr>
          <a:xfrm>
            <a:off x="6144768" y="4526280"/>
            <a:ext cx="2651760" cy="777240"/>
          </a:xfrm>
          <a:prstGeom prst="roundRect">
            <a:avLst>
              <a:gd name="adj" fmla="val 7059"/>
            </a:avLst>
          </a:prstGeom>
          <a:solidFill>
            <a:srgbClr val="F8FAFC"/>
          </a:solidFill>
          <a:ln w="12700">
            <a:solidFill>
              <a:srgbClr val="E2E8F0"/>
            </a:solidFill>
            <a:prstDash val="solid"/>
          </a:ln>
        </p:spPr>
      </p:sp>
      <p:sp>
        <p:nvSpPr>
          <p:cNvPr id="34" name="Text 32"/>
          <p:cNvSpPr/>
          <p:nvPr/>
        </p:nvSpPr>
        <p:spPr>
          <a:xfrm>
            <a:off x="6281928" y="45262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Training Modules</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Lessons &amp; quizzes</a:t>
            </a:r>
            <a:endParaRPr lang="en-US" sz="1300" dirty="0"/>
          </a:p>
        </p:txBody>
      </p:sp>
      <p:sp>
        <p:nvSpPr>
          <p:cNvPr id="35" name="Shape 33"/>
          <p:cNvSpPr/>
          <p:nvPr/>
        </p:nvSpPr>
        <p:spPr>
          <a:xfrm>
            <a:off x="8942832" y="4526280"/>
            <a:ext cx="2651760" cy="777240"/>
          </a:xfrm>
          <a:prstGeom prst="roundRect">
            <a:avLst>
              <a:gd name="adj" fmla="val 7059"/>
            </a:avLst>
          </a:prstGeom>
          <a:solidFill>
            <a:srgbClr val="FFF7ED"/>
          </a:solidFill>
          <a:ln w="12700">
            <a:solidFill>
              <a:srgbClr val="F99239"/>
            </a:solidFill>
            <a:prstDash val="solid"/>
          </a:ln>
        </p:spPr>
      </p:sp>
      <p:sp>
        <p:nvSpPr>
          <p:cNvPr id="36" name="Text 34"/>
          <p:cNvSpPr/>
          <p:nvPr/>
        </p:nvSpPr>
        <p:spPr>
          <a:xfrm>
            <a:off x="9079992" y="4526280"/>
            <a:ext cx="2468880" cy="777240"/>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Creative Studio ↗</a:t>
            </a:r>
            <a:endParaRPr lang="en-US" sz="1300" dirty="0"/>
          </a:p>
          <a:p>
            <a:pPr indent="0" marL="0">
              <a:buNone/>
            </a:pPr>
            <a:r>
              <a:rPr lang="en-US" sz="1050" dirty="0">
                <a:solidFill>
                  <a:srgbClr val="64748B"/>
                </a:solidFill>
                <a:latin typeface="Montserrat" pitchFamily="34" charset="0"/>
                <a:ea typeface="Montserrat" pitchFamily="34" charset="-122"/>
                <a:cs typeface="Montserrat" pitchFamily="34" charset="-120"/>
              </a:rPr>
              <a:t>Flyers, posts, emails</a:t>
            </a:r>
            <a:endParaRPr lang="en-US" sz="1300" dirty="0"/>
          </a:p>
        </p:txBody>
      </p:sp>
      <p:sp>
        <p:nvSpPr>
          <p:cNvPr id="37" name="Text 35"/>
          <p:cNvSpPr/>
          <p:nvPr/>
        </p:nvSpPr>
        <p:spPr>
          <a:xfrm>
            <a:off x="548640" y="5532120"/>
            <a:ext cx="10972800" cy="365760"/>
          </a:xfrm>
          <a:prstGeom prst="rect">
            <a:avLst/>
          </a:prstGeom>
          <a:noFill/>
          <a:ln/>
        </p:spPr>
        <p:txBody>
          <a:bodyPr wrap="square" rtlCol="0" anchor="ctr"/>
          <a:lstStyle/>
          <a:p>
            <a:pPr indent="0" marL="0">
              <a:buNone/>
            </a:pPr>
            <a:r>
              <a:rPr lang="en-US" sz="1100" i="1" dirty="0">
                <a:solidFill>
                  <a:srgbClr val="64748B"/>
                </a:solidFill>
                <a:latin typeface="Montserrat" pitchFamily="34" charset="0"/>
                <a:ea typeface="Montserrat" pitchFamily="34" charset="-122"/>
                <a:cs typeface="Montserrat" pitchFamily="34" charset="-120"/>
              </a:rPr>
              <a:t>Also in the sidebar (open in a new page): Incident Report Assistant · Curriculum Management · Collateral Hub</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GETTING STARTED</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Dashboard</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Text 3"/>
          <p:cNvSpPr/>
          <p:nvPr/>
        </p:nvSpPr>
        <p:spPr>
          <a:xfrm>
            <a:off x="548640" y="1783080"/>
            <a:ext cx="5760720" cy="4114800"/>
          </a:xfrm>
          <a:prstGeom prst="rect">
            <a:avLst/>
          </a:prstGeom>
          <a:noFill/>
          <a:ln/>
        </p:spPr>
        <p:txBody>
          <a:bodyPr wrap="square" rtlCol="0" anchor="t"/>
          <a:lstStyle/>
          <a:p>
            <a:pPr marL="342900" indent="-342900">
              <a:lnSpc>
                <a:spcPct val="105000"/>
              </a:lnSpc>
              <a:spcAft>
                <a:spcPts val="700"/>
              </a:spcAft>
              <a:buSzPct val="100000"/>
              <a:buChar char="●"/>
            </a:pPr>
            <a:r>
              <a:rPr lang="en-US" sz="1350" b="1" dirty="0">
                <a:solidFill>
                  <a:srgbClr val="002D6A"/>
                </a:solidFill>
                <a:latin typeface="Montserrat" pitchFamily="34" charset="0"/>
                <a:ea typeface="Montserrat" pitchFamily="34" charset="-122"/>
                <a:cs typeface="Montserrat" pitchFamily="34" charset="-120"/>
              </a:rPr>
              <a:t>Stat cards</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 — Open Incidents, Open Maintenance &amp; Keys, My Upcoming Shifts, Active Program Proposals, Committees, SOP entries, Training Modules. </a:t>
            </a:r>
            <a:pPr indent="0" marL="0">
              <a:lnSpc>
                <a:spcPct val="105000"/>
              </a:lnSpc>
              <a:spcAft>
                <a:spcPts val="700"/>
              </a:spcAft>
              <a:buNone/>
            </a:pPr>
            <a:r>
              <a:rPr lang="en-US" sz="1350" b="1" dirty="0">
                <a:solidFill>
                  <a:srgbClr val="002D6A"/>
                </a:solidFill>
                <a:latin typeface="Montserrat" pitchFamily="34" charset="0"/>
                <a:ea typeface="Montserrat" pitchFamily="34" charset="-122"/>
                <a:cs typeface="Montserrat" pitchFamily="34" charset="-120"/>
              </a:rPr>
              <a:t>Click a card</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 to open that tab.</a:t>
            </a:r>
            <a:endParaRPr lang="en-US" sz="1350" dirty="0"/>
          </a:p>
          <a:p>
            <a:pPr marL="342900" indent="-342900">
              <a:lnSpc>
                <a:spcPct val="105000"/>
              </a:lnSpc>
              <a:spcAft>
                <a:spcPts val="700"/>
              </a:spcAft>
              <a:buSzPct val="100000"/>
              <a:buChar char="●"/>
            </a:pPr>
            <a:r>
              <a:rPr lang="en-US" sz="1350" b="1" dirty="0">
                <a:solidFill>
                  <a:srgbClr val="002D6A"/>
                </a:solidFill>
                <a:latin typeface="Montserrat" pitchFamily="34" charset="0"/>
                <a:ea typeface="Montserrat" pitchFamily="34" charset="-122"/>
                <a:cs typeface="Montserrat" pitchFamily="34" charset="-120"/>
              </a:rPr>
              <a:t>Pinned &amp; Recent Announcements</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 — the five latest, pinned first.</a:t>
            </a:r>
            <a:endParaRPr lang="en-US" sz="1350" dirty="0"/>
          </a:p>
          <a:p>
            <a:pPr marL="342900" indent="-342900">
              <a:lnSpc>
                <a:spcPct val="105000"/>
              </a:lnSpc>
              <a:spcAft>
                <a:spcPts val="700"/>
              </a:spcAft>
              <a:buSzPct val="100000"/>
              <a:buChar char="●"/>
            </a:pPr>
            <a:r>
              <a:rPr lang="en-US" sz="1350" b="1" dirty="0">
                <a:solidFill>
                  <a:srgbClr val="002D6A"/>
                </a:solidFill>
                <a:latin typeface="Montserrat" pitchFamily="34" charset="0"/>
                <a:ea typeface="Montserrat" pitchFamily="34" charset="-122"/>
                <a:cs typeface="Montserrat" pitchFamily="34" charset="-120"/>
              </a:rPr>
              <a:t>On Call Now</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 — who is on call, </a:t>
            </a:r>
            <a:pPr indent="0" marL="0">
              <a:lnSpc>
                <a:spcPct val="105000"/>
              </a:lnSpc>
              <a:spcAft>
                <a:spcPts val="700"/>
              </a:spcAft>
              <a:buNone/>
            </a:pPr>
            <a:r>
              <a:rPr lang="en-US" sz="1350" b="1" dirty="0">
                <a:solidFill>
                  <a:srgbClr val="002D6A"/>
                </a:solidFill>
                <a:latin typeface="Montserrat" pitchFamily="34" charset="0"/>
                <a:ea typeface="Montserrat" pitchFamily="34" charset="-122"/>
                <a:cs typeface="Montserrat" pitchFamily="34" charset="-120"/>
              </a:rPr>
              <a:t>My next duty</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 and </a:t>
            </a:r>
            <a:pPr indent="0" marL="0">
              <a:lnSpc>
                <a:spcPct val="105000"/>
              </a:lnSpc>
              <a:spcAft>
                <a:spcPts val="700"/>
              </a:spcAft>
              <a:buNone/>
            </a:pPr>
            <a:r>
              <a:rPr lang="en-US" sz="1350" b="1" dirty="0">
                <a:solidFill>
                  <a:srgbClr val="002D6A"/>
                </a:solidFill>
                <a:latin typeface="Montserrat" pitchFamily="34" charset="0"/>
                <a:ea typeface="Montserrat" pitchFamily="34" charset="-122"/>
                <a:cs typeface="Montserrat" pitchFamily="34" charset="-120"/>
              </a:rPr>
              <a:t>View Schedule</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a:t>
            </a:r>
            <a:endParaRPr lang="en-US" sz="1350" dirty="0"/>
          </a:p>
          <a:p>
            <a:pPr marL="342900" indent="-342900">
              <a:lnSpc>
                <a:spcPct val="105000"/>
              </a:lnSpc>
              <a:spcAft>
                <a:spcPts val="700"/>
              </a:spcAft>
              <a:buSzPct val="100000"/>
              <a:buChar char="●"/>
            </a:pPr>
            <a:r>
              <a:rPr lang="en-US" sz="1350" b="1" dirty="0">
                <a:solidFill>
                  <a:srgbClr val="002D6A"/>
                </a:solidFill>
                <a:latin typeface="Montserrat" pitchFamily="34" charset="0"/>
                <a:ea typeface="Montserrat" pitchFamily="34" charset="-122"/>
                <a:cs typeface="Montserrat" pitchFamily="34" charset="-120"/>
              </a:rPr>
              <a:t>Incident Report Assistant</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350" b="1" dirty="0">
                <a:solidFill>
                  <a:srgbClr val="002D6A"/>
                </a:solidFill>
                <a:latin typeface="Montserrat" pitchFamily="34" charset="0"/>
                <a:ea typeface="Montserrat" pitchFamily="34" charset="-122"/>
                <a:cs typeface="Montserrat" pitchFamily="34" charset="-120"/>
              </a:rPr>
              <a:t>+ New Report</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 and your last five drafts with </a:t>
            </a:r>
            <a:pPr indent="0" marL="0">
              <a:lnSpc>
                <a:spcPct val="105000"/>
              </a:lnSpc>
              <a:spcAft>
                <a:spcPts val="700"/>
              </a:spcAft>
              <a:buNone/>
            </a:pPr>
            <a:r>
              <a:rPr lang="en-US" sz="1350" b="1" dirty="0">
                <a:solidFill>
                  <a:srgbClr val="002D6A"/>
                </a:solidFill>
                <a:latin typeface="Montserrat" pitchFamily="34" charset="0"/>
                <a:ea typeface="Montserrat" pitchFamily="34" charset="-122"/>
                <a:cs typeface="Montserrat" pitchFamily="34" charset="-120"/>
              </a:rPr>
              <a:t>Continue</a:t>
            </a:r>
            <a:pPr indent="0" marL="0">
              <a:lnSpc>
                <a:spcPct val="105000"/>
              </a:lnSpc>
              <a:spcAft>
                <a:spcPts val="700"/>
              </a:spcAft>
              <a:buNone/>
            </a:pPr>
            <a:r>
              <a:rPr lang="en-US" sz="1350" dirty="0">
                <a:solidFill>
                  <a:srgbClr val="14213D"/>
                </a:solidFill>
                <a:latin typeface="Montserrat" pitchFamily="34" charset="0"/>
                <a:ea typeface="Montserrat" pitchFamily="34" charset="-122"/>
                <a:cs typeface="Montserrat" pitchFamily="34" charset="-120"/>
              </a:rPr>
              <a:t>.</a:t>
            </a:r>
            <a:endParaRPr lang="en-US" sz="1350" dirty="0"/>
          </a:p>
        </p:txBody>
      </p:sp>
      <p:sp>
        <p:nvSpPr>
          <p:cNvPr id="6" name="Shape 4"/>
          <p:cNvSpPr/>
          <p:nvPr/>
        </p:nvSpPr>
        <p:spPr>
          <a:xfrm>
            <a:off x="6675120" y="1783080"/>
            <a:ext cx="4983480" cy="3108960"/>
          </a:xfrm>
          <a:prstGeom prst="roundRect">
            <a:avLst>
              <a:gd name="adj" fmla="val 1765"/>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7" name="Shape 5"/>
          <p:cNvSpPr/>
          <p:nvPr/>
        </p:nvSpPr>
        <p:spPr>
          <a:xfrm>
            <a:off x="6675120" y="1783080"/>
            <a:ext cx="1196035" cy="3108960"/>
          </a:xfrm>
          <a:prstGeom prst="rect">
            <a:avLst/>
          </a:prstGeom>
          <a:solidFill>
            <a:srgbClr val="002D6A"/>
          </a:solidFill>
          <a:ln w="12700">
            <a:solidFill>
              <a:srgbClr val="002D6A"/>
            </a:solidFill>
            <a:prstDash val="solid"/>
          </a:ln>
        </p:spPr>
      </p:sp>
      <p:pic>
        <p:nvPicPr>
          <p:cNvPr id="8" name="Image 0" descr="C:\Users\brian\AppData\Local\Temp\kilo\ppt\img\logo-white.png">    </p:cNvPr>
          <p:cNvPicPr>
            <a:picLocks noChangeAspect="1"/>
          </p:cNvPicPr>
          <p:nvPr/>
        </p:nvPicPr>
        <p:blipFill>
          <a:blip r:embed="rId1"/>
          <a:stretch>
            <a:fillRect/>
          </a:stretch>
        </p:blipFill>
        <p:spPr>
          <a:xfrm>
            <a:off x="6784848" y="1892808"/>
            <a:ext cx="976579" cy="380866"/>
          </a:xfrm>
          <a:prstGeom prst="rect">
            <a:avLst/>
          </a:prstGeom>
        </p:spPr>
      </p:pic>
      <p:sp>
        <p:nvSpPr>
          <p:cNvPr id="9" name="Shape 6"/>
          <p:cNvSpPr/>
          <p:nvPr/>
        </p:nvSpPr>
        <p:spPr>
          <a:xfrm>
            <a:off x="6675120" y="2359152"/>
            <a:ext cx="1196035" cy="237744"/>
          </a:xfrm>
          <a:prstGeom prst="rect">
            <a:avLst/>
          </a:prstGeom>
          <a:solidFill>
            <a:srgbClr val="F99239"/>
          </a:solidFill>
          <a:ln w="12700">
            <a:solidFill>
              <a:srgbClr val="F99239"/>
            </a:solidFill>
            <a:prstDash val="solid"/>
          </a:ln>
        </p:spPr>
      </p:sp>
      <p:sp>
        <p:nvSpPr>
          <p:cNvPr id="10" name="Text 7"/>
          <p:cNvSpPr/>
          <p:nvPr/>
        </p:nvSpPr>
        <p:spPr>
          <a:xfrm>
            <a:off x="6784848" y="2359152"/>
            <a:ext cx="1058875"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11" name="Text 8"/>
          <p:cNvSpPr/>
          <p:nvPr/>
        </p:nvSpPr>
        <p:spPr>
          <a:xfrm>
            <a:off x="6784848" y="260604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12" name="Text 9"/>
          <p:cNvSpPr/>
          <p:nvPr/>
        </p:nvSpPr>
        <p:spPr>
          <a:xfrm>
            <a:off x="6784848" y="285292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13" name="Text 10"/>
          <p:cNvSpPr/>
          <p:nvPr/>
        </p:nvSpPr>
        <p:spPr>
          <a:xfrm>
            <a:off x="6784848" y="309981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14" name="Text 11"/>
          <p:cNvSpPr/>
          <p:nvPr/>
        </p:nvSpPr>
        <p:spPr>
          <a:xfrm>
            <a:off x="6784848" y="3346704"/>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15" name="Text 12"/>
          <p:cNvSpPr/>
          <p:nvPr/>
        </p:nvSpPr>
        <p:spPr>
          <a:xfrm>
            <a:off x="6784848" y="359359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16" name="Text 13"/>
          <p:cNvSpPr/>
          <p:nvPr/>
        </p:nvSpPr>
        <p:spPr>
          <a:xfrm>
            <a:off x="6784848" y="384048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17" name="Text 14"/>
          <p:cNvSpPr/>
          <p:nvPr/>
        </p:nvSpPr>
        <p:spPr>
          <a:xfrm>
            <a:off x="6784848" y="408736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18" name="Text 15"/>
          <p:cNvSpPr/>
          <p:nvPr/>
        </p:nvSpPr>
        <p:spPr>
          <a:xfrm>
            <a:off x="6784848" y="433425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19" name="Shape 16"/>
          <p:cNvSpPr/>
          <p:nvPr/>
        </p:nvSpPr>
        <p:spPr>
          <a:xfrm>
            <a:off x="7871155" y="1783080"/>
            <a:ext cx="3787445" cy="347472"/>
          </a:xfrm>
          <a:prstGeom prst="rect">
            <a:avLst/>
          </a:prstGeom>
          <a:solidFill>
            <a:srgbClr val="FFFFFF"/>
          </a:solidFill>
          <a:ln w="12700">
            <a:solidFill>
              <a:srgbClr val="E2E8F0"/>
            </a:solidFill>
            <a:prstDash val="solid"/>
          </a:ln>
        </p:spPr>
      </p:sp>
      <p:sp>
        <p:nvSpPr>
          <p:cNvPr id="20" name="Text 17"/>
          <p:cNvSpPr/>
          <p:nvPr/>
        </p:nvSpPr>
        <p:spPr>
          <a:xfrm>
            <a:off x="8008315"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21" name="Text 18"/>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22" name="Shape 19"/>
          <p:cNvSpPr/>
          <p:nvPr/>
        </p:nvSpPr>
        <p:spPr>
          <a:xfrm>
            <a:off x="8035747" y="2286000"/>
            <a:ext cx="3458261" cy="2423160"/>
          </a:xfrm>
          <a:prstGeom prst="rect">
            <a:avLst/>
          </a:prstGeom>
          <a:solidFill>
            <a:srgbClr val="FFFFFF"/>
          </a:solidFill>
          <a:ln w="12700">
            <a:solidFill>
              <a:srgbClr val="E2E8F0"/>
            </a:solidFill>
            <a:prstDash val="solid"/>
          </a:ln>
        </p:spPr>
      </p:sp>
      <p:sp>
        <p:nvSpPr>
          <p:cNvPr id="23" name="Text 20"/>
          <p:cNvSpPr/>
          <p:nvPr/>
        </p:nvSpPr>
        <p:spPr>
          <a:xfrm>
            <a:off x="8145475" y="2331720"/>
            <a:ext cx="1995221"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SIGNED IN AS YOU (RESLIFE - RA)</a:t>
            </a:r>
            <a:endParaRPr lang="en-US" sz="900" dirty="0"/>
          </a:p>
        </p:txBody>
      </p:sp>
      <p:sp>
        <p:nvSpPr>
          <p:cNvPr id="24" name="Shape 21"/>
          <p:cNvSpPr/>
          <p:nvPr/>
        </p:nvSpPr>
        <p:spPr>
          <a:xfrm>
            <a:off x="8127187" y="2724912"/>
            <a:ext cx="3275381" cy="310896"/>
          </a:xfrm>
          <a:prstGeom prst="rect">
            <a:avLst/>
          </a:prstGeom>
          <a:solidFill>
            <a:srgbClr val="F8FAFC"/>
          </a:solidFill>
          <a:ln w="12700">
            <a:solidFill>
              <a:srgbClr val="E2E8F0"/>
            </a:solidFill>
            <a:prstDash val="solid"/>
          </a:ln>
        </p:spPr>
      </p:sp>
      <p:sp>
        <p:nvSpPr>
          <p:cNvPr id="25" name="Text 22"/>
          <p:cNvSpPr/>
          <p:nvPr/>
        </p:nvSpPr>
        <p:spPr>
          <a:xfrm>
            <a:off x="8218627" y="272491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3 Open Incidents   ·   2 Open Maintenance   ·   4 My Shifts</a:t>
            </a:r>
            <a:endParaRPr lang="en-US" sz="800" dirty="0"/>
          </a:p>
        </p:txBody>
      </p:sp>
      <p:sp>
        <p:nvSpPr>
          <p:cNvPr id="26" name="Shape 23"/>
          <p:cNvSpPr/>
          <p:nvPr/>
        </p:nvSpPr>
        <p:spPr>
          <a:xfrm>
            <a:off x="8127187" y="3090672"/>
            <a:ext cx="3275381" cy="310896"/>
          </a:xfrm>
          <a:prstGeom prst="rect">
            <a:avLst/>
          </a:prstGeom>
          <a:solidFill>
            <a:srgbClr val="FFFFFF"/>
          </a:solidFill>
          <a:ln w="12700">
            <a:solidFill>
              <a:srgbClr val="E2E8F0"/>
            </a:solidFill>
            <a:prstDash val="solid"/>
          </a:ln>
        </p:spPr>
      </p:sp>
      <p:sp>
        <p:nvSpPr>
          <p:cNvPr id="27" name="Text 24"/>
          <p:cNvSpPr/>
          <p:nvPr/>
        </p:nvSpPr>
        <p:spPr>
          <a:xfrm>
            <a:off x="8218627" y="309067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Pinned: Fall Opening Duty Expectations</a:t>
            </a:r>
            <a:endParaRPr lang="en-US" sz="800" dirty="0"/>
          </a:p>
        </p:txBody>
      </p:sp>
      <p:sp>
        <p:nvSpPr>
          <p:cNvPr id="28" name="Shape 25"/>
          <p:cNvSpPr/>
          <p:nvPr/>
        </p:nvSpPr>
        <p:spPr>
          <a:xfrm>
            <a:off x="8127187" y="3456432"/>
            <a:ext cx="3275381" cy="310896"/>
          </a:xfrm>
          <a:prstGeom prst="rect">
            <a:avLst/>
          </a:prstGeom>
          <a:solidFill>
            <a:srgbClr val="F8FAFC"/>
          </a:solidFill>
          <a:ln w="12700">
            <a:solidFill>
              <a:srgbClr val="E2E8F0"/>
            </a:solidFill>
            <a:prstDash val="solid"/>
          </a:ln>
        </p:spPr>
      </p:sp>
      <p:sp>
        <p:nvSpPr>
          <p:cNvPr id="29" name="Text 26"/>
          <p:cNvSpPr/>
          <p:nvPr/>
        </p:nvSpPr>
        <p:spPr>
          <a:xfrm>
            <a:off x="8218627" y="345643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On Call Now: RA on duty · Duty phone</a:t>
            </a:r>
            <a:endParaRPr lang="en-US" sz="800" dirty="0"/>
          </a:p>
        </p:txBody>
      </p:sp>
      <p:sp>
        <p:nvSpPr>
          <p:cNvPr id="30" name="Shape 27"/>
          <p:cNvSpPr/>
          <p:nvPr/>
        </p:nvSpPr>
        <p:spPr>
          <a:xfrm>
            <a:off x="8127187" y="3822192"/>
            <a:ext cx="3275381" cy="310896"/>
          </a:xfrm>
          <a:prstGeom prst="rect">
            <a:avLst/>
          </a:prstGeom>
          <a:solidFill>
            <a:srgbClr val="FFFFFF"/>
          </a:solidFill>
          <a:ln w="12700">
            <a:solidFill>
              <a:srgbClr val="E2E8F0"/>
            </a:solidFill>
            <a:prstDash val="solid"/>
          </a:ln>
        </p:spPr>
      </p:sp>
      <p:sp>
        <p:nvSpPr>
          <p:cNvPr id="31" name="Text 28"/>
          <p:cNvSpPr/>
          <p:nvPr/>
        </p:nvSpPr>
        <p:spPr>
          <a:xfrm>
            <a:off x="8218627" y="382219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Draft · Noise complaint 10/12 — Continue</a:t>
            </a:r>
            <a:endParaRPr lang="en-US" sz="800" dirty="0"/>
          </a:p>
        </p:txBody>
      </p:sp>
      <p:sp>
        <p:nvSpPr>
          <p:cNvPr id="32" name="Shape 29"/>
          <p:cNvSpPr/>
          <p:nvPr/>
        </p:nvSpPr>
        <p:spPr>
          <a:xfrm>
            <a:off x="6675120" y="5074920"/>
            <a:ext cx="4983480" cy="868680"/>
          </a:xfrm>
          <a:prstGeom prst="roundRect">
            <a:avLst>
              <a:gd name="adj" fmla="val 8421"/>
            </a:avLst>
          </a:prstGeom>
          <a:solidFill>
            <a:srgbClr val="FFF7ED"/>
          </a:solidFill>
          <a:ln w="12700">
            <a:solidFill>
              <a:srgbClr val="FED7AA"/>
            </a:solidFill>
            <a:prstDash val="solid"/>
          </a:ln>
        </p:spPr>
      </p:sp>
      <p:sp>
        <p:nvSpPr>
          <p:cNvPr id="33" name="Shape 30"/>
          <p:cNvSpPr/>
          <p:nvPr/>
        </p:nvSpPr>
        <p:spPr>
          <a:xfrm>
            <a:off x="6675120" y="5074920"/>
            <a:ext cx="73152" cy="868680"/>
          </a:xfrm>
          <a:prstGeom prst="rect">
            <a:avLst/>
          </a:prstGeom>
          <a:solidFill>
            <a:srgbClr val="F99239"/>
          </a:solidFill>
          <a:ln w="12700">
            <a:solidFill>
              <a:srgbClr val="F99239"/>
            </a:solidFill>
            <a:prstDash val="solid"/>
          </a:ln>
        </p:spPr>
      </p:sp>
      <p:sp>
        <p:nvSpPr>
          <p:cNvPr id="34" name="Text 31"/>
          <p:cNvSpPr/>
          <p:nvPr/>
        </p:nvSpPr>
        <p:spPr>
          <a:xfrm>
            <a:off x="6858000" y="5074920"/>
            <a:ext cx="4709160" cy="86868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Start every shift on the Dashboard: check On Call Now and any pinned announcements first.</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TEAM &amp; PROGRAMS</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Announcements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Text 3"/>
          <p:cNvSpPr/>
          <p:nvPr/>
        </p:nvSpPr>
        <p:spPr>
          <a:xfrm>
            <a:off x="548640" y="1783080"/>
            <a:ext cx="5760720" cy="4114800"/>
          </a:xfrm>
          <a:prstGeom prst="rect">
            <a:avLst/>
          </a:prstGeom>
          <a:noFill/>
          <a:ln/>
        </p:spPr>
        <p:txBody>
          <a:bodyPr wrap="square" rtlCol="0" anchor="t"/>
          <a:lstStyle/>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Your team’s news feed: posts from RECs and Admins with text, images, GIFs and video.</a:t>
            </a:r>
            <a:endParaRPr lang="en-US" sz="1300" dirty="0"/>
          </a:p>
          <a:p>
            <a:pPr marL="342900" indent="-342900">
              <a:lnSpc>
                <a:spcPct val="105000"/>
              </a:lnSpc>
              <a:spcAft>
                <a:spcPts val="700"/>
              </a:spcAft>
              <a:buSzPct val="100000"/>
              <a:buChar char="●"/>
            </a:pPr>
            <a:r>
              <a:rPr lang="en-US" sz="1300" b="1" dirty="0">
                <a:solidFill>
                  <a:srgbClr val="002D6A"/>
                </a:solidFill>
                <a:latin typeface="Montserrat" pitchFamily="34" charset="0"/>
                <a:ea typeface="Montserrat" pitchFamily="34" charset="-122"/>
                <a:cs typeface="Montserrat" pitchFamily="34" charset="-120"/>
              </a:rPr>
              <a:t>📌 Pinned</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posts stay at the top — these are expectations you are responsible for.</a:t>
            </a:r>
            <a:endParaRPr lang="en-US" sz="1300" dirty="0"/>
          </a:p>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Each post shows the author, how long ago it was posted, and if it was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edited</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a:p>
            <a:pPr marL="342900" indent="-342900">
              <a:lnSpc>
                <a:spcPct val="105000"/>
              </a:lnSpc>
              <a:spcAft>
                <a:spcPts val="700"/>
              </a:spcAft>
              <a:buSzPct val="100000"/>
              <a:buChar char="●"/>
            </a:pPr>
            <a:r>
              <a:rPr lang="en-US" sz="1300" b="1" dirty="0">
                <a:solidFill>
                  <a:srgbClr val="002D6A"/>
                </a:solidFill>
                <a:latin typeface="Montserrat" pitchFamily="34" charset="0"/>
                <a:ea typeface="Montserrat" pitchFamily="34" charset="-122"/>
                <a:cs typeface="Montserrat" pitchFamily="34" charset="-120"/>
              </a:rPr>
              <a:t>Urgent</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announcements also pop up and appear in your 🔔 bell.</a:t>
            </a:r>
            <a:endParaRPr lang="en-US" sz="1300" dirty="0"/>
          </a:p>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RAs read announcements; posting, editing and pinning are for RECs and Admins.</a:t>
            </a:r>
            <a:endParaRPr lang="en-US" sz="1300" dirty="0"/>
          </a:p>
        </p:txBody>
      </p:sp>
      <p:sp>
        <p:nvSpPr>
          <p:cNvPr id="6" name="Shape 4"/>
          <p:cNvSpPr/>
          <p:nvPr/>
        </p:nvSpPr>
        <p:spPr>
          <a:xfrm>
            <a:off x="6675120" y="1783080"/>
            <a:ext cx="4983480" cy="3108960"/>
          </a:xfrm>
          <a:prstGeom prst="roundRect">
            <a:avLst>
              <a:gd name="adj" fmla="val 1765"/>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7" name="Shape 5"/>
          <p:cNvSpPr/>
          <p:nvPr/>
        </p:nvSpPr>
        <p:spPr>
          <a:xfrm>
            <a:off x="6675120" y="1783080"/>
            <a:ext cx="1196035" cy="3108960"/>
          </a:xfrm>
          <a:prstGeom prst="rect">
            <a:avLst/>
          </a:prstGeom>
          <a:solidFill>
            <a:srgbClr val="002D6A"/>
          </a:solidFill>
          <a:ln w="12700">
            <a:solidFill>
              <a:srgbClr val="002D6A"/>
            </a:solidFill>
            <a:prstDash val="solid"/>
          </a:ln>
        </p:spPr>
      </p:sp>
      <p:pic>
        <p:nvPicPr>
          <p:cNvPr id="8" name="Image 0" descr="C:\Users\brian\AppData\Local\Temp\kilo\ppt\img\logo-white.png">    </p:cNvPr>
          <p:cNvPicPr>
            <a:picLocks noChangeAspect="1"/>
          </p:cNvPicPr>
          <p:nvPr/>
        </p:nvPicPr>
        <p:blipFill>
          <a:blip r:embed="rId1"/>
          <a:stretch>
            <a:fillRect/>
          </a:stretch>
        </p:blipFill>
        <p:spPr>
          <a:xfrm>
            <a:off x="6784848" y="1892808"/>
            <a:ext cx="976579" cy="380866"/>
          </a:xfrm>
          <a:prstGeom prst="rect">
            <a:avLst/>
          </a:prstGeom>
        </p:spPr>
      </p:pic>
      <p:sp>
        <p:nvSpPr>
          <p:cNvPr id="9" name="Text 6"/>
          <p:cNvSpPr/>
          <p:nvPr/>
        </p:nvSpPr>
        <p:spPr>
          <a:xfrm>
            <a:off x="6784848" y="235915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10" name="Shape 7"/>
          <p:cNvSpPr/>
          <p:nvPr/>
        </p:nvSpPr>
        <p:spPr>
          <a:xfrm>
            <a:off x="6675120" y="2606040"/>
            <a:ext cx="1196035" cy="237744"/>
          </a:xfrm>
          <a:prstGeom prst="rect">
            <a:avLst/>
          </a:prstGeom>
          <a:solidFill>
            <a:srgbClr val="F99239"/>
          </a:solidFill>
          <a:ln w="12700">
            <a:solidFill>
              <a:srgbClr val="F99239"/>
            </a:solidFill>
            <a:prstDash val="solid"/>
          </a:ln>
        </p:spPr>
      </p:sp>
      <p:sp>
        <p:nvSpPr>
          <p:cNvPr id="11" name="Text 8"/>
          <p:cNvSpPr/>
          <p:nvPr/>
        </p:nvSpPr>
        <p:spPr>
          <a:xfrm>
            <a:off x="6784848" y="2606040"/>
            <a:ext cx="1058875"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12" name="Text 9"/>
          <p:cNvSpPr/>
          <p:nvPr/>
        </p:nvSpPr>
        <p:spPr>
          <a:xfrm>
            <a:off x="6784848" y="285292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13" name="Text 10"/>
          <p:cNvSpPr/>
          <p:nvPr/>
        </p:nvSpPr>
        <p:spPr>
          <a:xfrm>
            <a:off x="6784848" y="309981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14" name="Text 11"/>
          <p:cNvSpPr/>
          <p:nvPr/>
        </p:nvSpPr>
        <p:spPr>
          <a:xfrm>
            <a:off x="6784848" y="3346704"/>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15" name="Text 12"/>
          <p:cNvSpPr/>
          <p:nvPr/>
        </p:nvSpPr>
        <p:spPr>
          <a:xfrm>
            <a:off x="6784848" y="359359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16" name="Text 13"/>
          <p:cNvSpPr/>
          <p:nvPr/>
        </p:nvSpPr>
        <p:spPr>
          <a:xfrm>
            <a:off x="6784848" y="384048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17" name="Text 14"/>
          <p:cNvSpPr/>
          <p:nvPr/>
        </p:nvSpPr>
        <p:spPr>
          <a:xfrm>
            <a:off x="6784848" y="408736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18" name="Text 15"/>
          <p:cNvSpPr/>
          <p:nvPr/>
        </p:nvSpPr>
        <p:spPr>
          <a:xfrm>
            <a:off x="6784848" y="433425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19" name="Shape 16"/>
          <p:cNvSpPr/>
          <p:nvPr/>
        </p:nvSpPr>
        <p:spPr>
          <a:xfrm>
            <a:off x="7871155" y="1783080"/>
            <a:ext cx="3787445" cy="347472"/>
          </a:xfrm>
          <a:prstGeom prst="rect">
            <a:avLst/>
          </a:prstGeom>
          <a:solidFill>
            <a:srgbClr val="FFFFFF"/>
          </a:solidFill>
          <a:ln w="12700">
            <a:solidFill>
              <a:srgbClr val="E2E8F0"/>
            </a:solidFill>
            <a:prstDash val="solid"/>
          </a:ln>
        </p:spPr>
      </p:sp>
      <p:sp>
        <p:nvSpPr>
          <p:cNvPr id="20" name="Text 17"/>
          <p:cNvSpPr/>
          <p:nvPr/>
        </p:nvSpPr>
        <p:spPr>
          <a:xfrm>
            <a:off x="8008315"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21" name="Text 18"/>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22" name="Shape 19"/>
          <p:cNvSpPr/>
          <p:nvPr/>
        </p:nvSpPr>
        <p:spPr>
          <a:xfrm>
            <a:off x="8035747" y="2286000"/>
            <a:ext cx="3458261" cy="2423160"/>
          </a:xfrm>
          <a:prstGeom prst="rect">
            <a:avLst/>
          </a:prstGeom>
          <a:solidFill>
            <a:srgbClr val="FFFFFF"/>
          </a:solidFill>
          <a:ln w="12700">
            <a:solidFill>
              <a:srgbClr val="E2E8F0"/>
            </a:solidFill>
            <a:prstDash val="solid"/>
          </a:ln>
        </p:spPr>
      </p:sp>
      <p:sp>
        <p:nvSpPr>
          <p:cNvPr id="23" name="Text 20"/>
          <p:cNvSpPr/>
          <p:nvPr/>
        </p:nvSpPr>
        <p:spPr>
          <a:xfrm>
            <a:off x="8145475" y="2331720"/>
            <a:ext cx="1995221"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ANNOUNCEMENTS</a:t>
            </a:r>
            <a:endParaRPr lang="en-US" sz="900" dirty="0"/>
          </a:p>
        </p:txBody>
      </p:sp>
      <p:sp>
        <p:nvSpPr>
          <p:cNvPr id="24" name="Shape 21"/>
          <p:cNvSpPr/>
          <p:nvPr/>
        </p:nvSpPr>
        <p:spPr>
          <a:xfrm>
            <a:off x="8127187" y="2724912"/>
            <a:ext cx="3275381" cy="310896"/>
          </a:xfrm>
          <a:prstGeom prst="rect">
            <a:avLst/>
          </a:prstGeom>
          <a:solidFill>
            <a:srgbClr val="F8FAFC"/>
          </a:solidFill>
          <a:ln w="12700">
            <a:solidFill>
              <a:srgbClr val="E2E8F0"/>
            </a:solidFill>
            <a:prstDash val="solid"/>
          </a:ln>
        </p:spPr>
      </p:sp>
      <p:sp>
        <p:nvSpPr>
          <p:cNvPr id="25" name="Text 22"/>
          <p:cNvSpPr/>
          <p:nvPr/>
        </p:nvSpPr>
        <p:spPr>
          <a:xfrm>
            <a:off x="8218627" y="272491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Pinned · Duty phone hand-off reminder · REC · 2d</a:t>
            </a:r>
            <a:endParaRPr lang="en-US" sz="800" dirty="0"/>
          </a:p>
        </p:txBody>
      </p:sp>
      <p:sp>
        <p:nvSpPr>
          <p:cNvPr id="26" name="Shape 23"/>
          <p:cNvSpPr/>
          <p:nvPr/>
        </p:nvSpPr>
        <p:spPr>
          <a:xfrm>
            <a:off x="8127187" y="3090672"/>
            <a:ext cx="3275381" cy="310896"/>
          </a:xfrm>
          <a:prstGeom prst="rect">
            <a:avLst/>
          </a:prstGeom>
          <a:solidFill>
            <a:srgbClr val="FFFFFF"/>
          </a:solidFill>
          <a:ln w="12700">
            <a:solidFill>
              <a:srgbClr val="E2E8F0"/>
            </a:solidFill>
            <a:prstDash val="solid"/>
          </a:ln>
        </p:spPr>
      </p:sp>
      <p:sp>
        <p:nvSpPr>
          <p:cNvPr id="27" name="Text 24"/>
          <p:cNvSpPr/>
          <p:nvPr/>
        </p:nvSpPr>
        <p:spPr>
          <a:xfrm>
            <a:off x="8218627" y="309067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Halloween program sign-ups are open · 5h</a:t>
            </a:r>
            <a:endParaRPr lang="en-US" sz="800" dirty="0"/>
          </a:p>
        </p:txBody>
      </p:sp>
      <p:sp>
        <p:nvSpPr>
          <p:cNvPr id="28" name="Shape 25"/>
          <p:cNvSpPr/>
          <p:nvPr/>
        </p:nvSpPr>
        <p:spPr>
          <a:xfrm>
            <a:off x="8127187" y="3456432"/>
            <a:ext cx="3275381" cy="310896"/>
          </a:xfrm>
          <a:prstGeom prst="rect">
            <a:avLst/>
          </a:prstGeom>
          <a:solidFill>
            <a:srgbClr val="F8FAFC"/>
          </a:solidFill>
          <a:ln w="12700">
            <a:solidFill>
              <a:srgbClr val="E2E8F0"/>
            </a:solidFill>
            <a:prstDash val="solid"/>
          </a:ln>
        </p:spPr>
      </p:sp>
      <p:sp>
        <p:nvSpPr>
          <p:cNvPr id="29" name="Text 26"/>
          <p:cNvSpPr/>
          <p:nvPr/>
        </p:nvSpPr>
        <p:spPr>
          <a:xfrm>
            <a:off x="8218627" y="345643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Fire drill Thursday 10 AM · edited · 1d</a:t>
            </a:r>
            <a:endParaRPr lang="en-US" sz="800" dirty="0"/>
          </a:p>
        </p:txBody>
      </p:sp>
      <p:sp>
        <p:nvSpPr>
          <p:cNvPr id="30" name="Shape 27"/>
          <p:cNvSpPr/>
          <p:nvPr/>
        </p:nvSpPr>
        <p:spPr>
          <a:xfrm>
            <a:off x="8127187" y="3822192"/>
            <a:ext cx="3275381" cy="310896"/>
          </a:xfrm>
          <a:prstGeom prst="rect">
            <a:avLst/>
          </a:prstGeom>
          <a:solidFill>
            <a:srgbClr val="FFFFFF"/>
          </a:solidFill>
          <a:ln w="12700">
            <a:solidFill>
              <a:srgbClr val="E2E8F0"/>
            </a:solidFill>
            <a:prstDash val="solid"/>
          </a:ln>
        </p:spPr>
      </p:sp>
      <p:sp>
        <p:nvSpPr>
          <p:cNvPr id="31" name="Text 28"/>
          <p:cNvSpPr/>
          <p:nvPr/>
        </p:nvSpPr>
        <p:spPr>
          <a:xfrm>
            <a:off x="8218627" y="382219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Welcome back! · 1w</a:t>
            </a:r>
            <a:endParaRPr lang="en-US" sz="800" dirty="0"/>
          </a:p>
        </p:txBody>
      </p:sp>
      <p:sp>
        <p:nvSpPr>
          <p:cNvPr id="32" name="Shape 29"/>
          <p:cNvSpPr/>
          <p:nvPr/>
        </p:nvSpPr>
        <p:spPr>
          <a:xfrm>
            <a:off x="6675120" y="5074920"/>
            <a:ext cx="4983480" cy="868680"/>
          </a:xfrm>
          <a:prstGeom prst="roundRect">
            <a:avLst>
              <a:gd name="adj" fmla="val 8421"/>
            </a:avLst>
          </a:prstGeom>
          <a:solidFill>
            <a:srgbClr val="FFF7ED"/>
          </a:solidFill>
          <a:ln w="12700">
            <a:solidFill>
              <a:srgbClr val="FED7AA"/>
            </a:solidFill>
            <a:prstDash val="solid"/>
          </a:ln>
        </p:spPr>
      </p:sp>
      <p:sp>
        <p:nvSpPr>
          <p:cNvPr id="33" name="Shape 30"/>
          <p:cNvSpPr/>
          <p:nvPr/>
        </p:nvSpPr>
        <p:spPr>
          <a:xfrm>
            <a:off x="6675120" y="5074920"/>
            <a:ext cx="73152" cy="868680"/>
          </a:xfrm>
          <a:prstGeom prst="rect">
            <a:avLst/>
          </a:prstGeom>
          <a:solidFill>
            <a:srgbClr val="F99239"/>
          </a:solidFill>
          <a:ln w="12700">
            <a:solidFill>
              <a:srgbClr val="F99239"/>
            </a:solidFill>
            <a:prstDash val="solid"/>
          </a:ln>
        </p:spPr>
      </p:sp>
      <p:sp>
        <p:nvSpPr>
          <p:cNvPr id="34" name="Text 31"/>
          <p:cNvSpPr/>
          <p:nvPr/>
        </p:nvSpPr>
        <p:spPr>
          <a:xfrm>
            <a:off x="6858000" y="5074920"/>
            <a:ext cx="4709160" cy="86868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If something in an announcement is unclear, ask your REC — do not guess on policy.</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2D6A"/>
        </a:solidFill>
      </p:bgPr>
    </p:bg>
    <p:spTree>
      <p:nvGrpSpPr>
        <p:cNvPr id="1" name=""/>
        <p:cNvGrpSpPr/>
        <p:nvPr/>
      </p:nvGrpSpPr>
      <p:grpSpPr>
        <a:xfrm>
          <a:off x="0" y="0"/>
          <a:ext cx="0" cy="0"/>
          <a:chOff x="0" y="0"/>
          <a:chExt cx="0" cy="0"/>
        </a:xfrm>
      </p:grpSpPr>
      <p:pic>
        <p:nvPicPr>
          <p:cNvPr id="2" name="Image 0" descr="C:\Users\brian\AppData\Local\Temp\kilo\ppt\img\lifestyle-friends-walking.jpg">    </p:cNvPr>
          <p:cNvPicPr>
            <a:picLocks noChangeAspect="1"/>
          </p:cNvPicPr>
          <p:nvPr/>
        </p:nvPicPr>
        <p:blipFill>
          <a:blip r:embed="rId1"/>
          <a:srcRect l="0" r="0" t="0" b="0"/>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02D6A">
              <a:alpha val="45000"/>
            </a:srgbClr>
          </a:solidFill>
          <a:ln w="12700">
            <a:solidFill>
              <a:srgbClr val="002D6A">
                <a:alpha val="0"/>
              </a:srgbClr>
            </a:solidFill>
            <a:prstDash val="solid"/>
          </a:ln>
        </p:spPr>
      </p:sp>
      <p:sp>
        <p:nvSpPr>
          <p:cNvPr id="4" name="Shape 1"/>
          <p:cNvSpPr/>
          <p:nvPr/>
        </p:nvSpPr>
        <p:spPr>
          <a:xfrm>
            <a:off x="6876288" y="0"/>
            <a:ext cx="73152" cy="6858000"/>
          </a:xfrm>
          <a:prstGeom prst="rect">
            <a:avLst/>
          </a:prstGeom>
          <a:solidFill>
            <a:srgbClr val="F99239"/>
          </a:solidFill>
          <a:ln w="12700">
            <a:solidFill>
              <a:srgbClr val="F99239"/>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640080" y="548640"/>
            <a:ext cx="1828800" cy="722376"/>
          </a:xfrm>
          <a:prstGeom prst="rect">
            <a:avLst/>
          </a:prstGeom>
        </p:spPr>
      </p:pic>
      <p:sp>
        <p:nvSpPr>
          <p:cNvPr id="6" name="Text 2"/>
          <p:cNvSpPr/>
          <p:nvPr/>
        </p:nvSpPr>
        <p:spPr>
          <a:xfrm>
            <a:off x="640080" y="2011680"/>
            <a:ext cx="2743200" cy="1097280"/>
          </a:xfrm>
          <a:prstGeom prst="rect">
            <a:avLst/>
          </a:prstGeom>
          <a:noFill/>
          <a:ln/>
        </p:spPr>
        <p:txBody>
          <a:bodyPr wrap="square" rtlCol="0" anchor="ctr"/>
          <a:lstStyle/>
          <a:p>
            <a:pPr indent="0" marL="0">
              <a:buNone/>
            </a:pPr>
            <a:r>
              <a:rPr lang="en-US" sz="7200" b="1" dirty="0">
                <a:solidFill>
                  <a:srgbClr val="F99239"/>
                </a:solidFill>
                <a:latin typeface="Montserrat" pitchFamily="34" charset="0"/>
                <a:ea typeface="Montserrat" pitchFamily="34" charset="-122"/>
                <a:cs typeface="Montserrat" pitchFamily="34" charset="-120"/>
              </a:rPr>
              <a:t>02</a:t>
            </a:r>
            <a:endParaRPr lang="en-US" sz="7200" dirty="0"/>
          </a:p>
        </p:txBody>
      </p:sp>
      <p:sp>
        <p:nvSpPr>
          <p:cNvPr id="7" name="Text 3"/>
          <p:cNvSpPr/>
          <p:nvPr/>
        </p:nvSpPr>
        <p:spPr>
          <a:xfrm>
            <a:off x="640080" y="3154680"/>
            <a:ext cx="6035040" cy="100584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Program Proposals</a:t>
            </a:r>
            <a:endParaRPr lang="en-US" sz="3600" dirty="0"/>
          </a:p>
        </p:txBody>
      </p:sp>
      <p:sp>
        <p:nvSpPr>
          <p:cNvPr id="8" name="Text 4"/>
          <p:cNvSpPr/>
          <p:nvPr/>
        </p:nvSpPr>
        <p:spPr>
          <a:xfrm>
            <a:off x="640080" y="4206240"/>
            <a:ext cx="5852160" cy="1097280"/>
          </a:xfrm>
          <a:prstGeom prst="rect">
            <a:avLst/>
          </a:prstGeom>
          <a:noFill/>
          <a:ln/>
        </p:spPr>
        <p:txBody>
          <a:bodyPr wrap="square" rtlCol="0" anchor="t"/>
          <a:lstStyle/>
          <a:p>
            <a:pPr indent="0" marL="0">
              <a:buNone/>
            </a:pPr>
            <a:r>
              <a:rPr lang="en-US" sz="1500" dirty="0">
                <a:solidFill>
                  <a:srgbClr val="DCEBF7"/>
                </a:solidFill>
                <a:latin typeface="Montserrat" pitchFamily="34" charset="0"/>
                <a:ea typeface="Montserrat" pitchFamily="34" charset="-122"/>
                <a:cs typeface="Montserrat" pitchFamily="34" charset="-120"/>
              </a:rPr>
              <a:t>Plan, budget and submit programs for REC approval — then track tasks and report results.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TEAM &amp; PROGRAMS</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Program Proposals: the overview</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Text 3"/>
          <p:cNvSpPr/>
          <p:nvPr/>
        </p:nvSpPr>
        <p:spPr>
          <a:xfrm>
            <a:off x="548640" y="1783080"/>
            <a:ext cx="5760720" cy="4114800"/>
          </a:xfrm>
          <a:prstGeom prst="rect">
            <a:avLst/>
          </a:prstGeom>
          <a:noFill/>
          <a:ln/>
        </p:spPr>
        <p:txBody>
          <a:bodyPr wrap="square" rtlCol="0" anchor="t"/>
          <a:lstStyle/>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Switch views: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Dashboard / List / Calendar</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(Month or Week).</a:t>
            </a:r>
            <a:endParaRPr lang="en-US" sz="1300" dirty="0"/>
          </a:p>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Stat strip: Upcoming, Awaiting approval,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Needs revision</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Missing action items, Pending purchases, Overdue tasks, Completed, Est. budget.</a:t>
            </a:r>
            <a:endParaRPr lang="en-US" sz="1300" dirty="0"/>
          </a:p>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Filter by status, type, category, RA, REC and dates — or tick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Mine only</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Dashboard cards show what needs you: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Changes requested</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Missing Action Item List</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Awaiting evaluation</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and deadlines in the next 7 days.</a:t>
            </a:r>
            <a:endParaRPr lang="en-US" sz="1300" dirty="0"/>
          </a:p>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Buttons: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Templates</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and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 New Program Proposal</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6" name="Shape 4"/>
          <p:cNvSpPr/>
          <p:nvPr/>
        </p:nvSpPr>
        <p:spPr>
          <a:xfrm>
            <a:off x="6675120" y="1783080"/>
            <a:ext cx="4983480" cy="3108960"/>
          </a:xfrm>
          <a:prstGeom prst="roundRect">
            <a:avLst>
              <a:gd name="adj" fmla="val 1765"/>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7" name="Shape 5"/>
          <p:cNvSpPr/>
          <p:nvPr/>
        </p:nvSpPr>
        <p:spPr>
          <a:xfrm>
            <a:off x="6675120" y="1783080"/>
            <a:ext cx="1196035" cy="3108960"/>
          </a:xfrm>
          <a:prstGeom prst="rect">
            <a:avLst/>
          </a:prstGeom>
          <a:solidFill>
            <a:srgbClr val="002D6A"/>
          </a:solidFill>
          <a:ln w="12700">
            <a:solidFill>
              <a:srgbClr val="002D6A"/>
            </a:solidFill>
            <a:prstDash val="solid"/>
          </a:ln>
        </p:spPr>
      </p:sp>
      <p:pic>
        <p:nvPicPr>
          <p:cNvPr id="8" name="Image 0" descr="C:\Users\brian\AppData\Local\Temp\kilo\ppt\img\logo-white.png">    </p:cNvPr>
          <p:cNvPicPr>
            <a:picLocks noChangeAspect="1"/>
          </p:cNvPicPr>
          <p:nvPr/>
        </p:nvPicPr>
        <p:blipFill>
          <a:blip r:embed="rId1"/>
          <a:stretch>
            <a:fillRect/>
          </a:stretch>
        </p:blipFill>
        <p:spPr>
          <a:xfrm>
            <a:off x="6784848" y="1892808"/>
            <a:ext cx="976579" cy="380866"/>
          </a:xfrm>
          <a:prstGeom prst="rect">
            <a:avLst/>
          </a:prstGeom>
        </p:spPr>
      </p:pic>
      <p:sp>
        <p:nvSpPr>
          <p:cNvPr id="9" name="Text 6"/>
          <p:cNvSpPr/>
          <p:nvPr/>
        </p:nvSpPr>
        <p:spPr>
          <a:xfrm>
            <a:off x="6784848" y="235915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10" name="Text 7"/>
          <p:cNvSpPr/>
          <p:nvPr/>
        </p:nvSpPr>
        <p:spPr>
          <a:xfrm>
            <a:off x="6784848" y="260604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11" name="Shape 8"/>
          <p:cNvSpPr/>
          <p:nvPr/>
        </p:nvSpPr>
        <p:spPr>
          <a:xfrm>
            <a:off x="6675120" y="2852928"/>
            <a:ext cx="1196035" cy="237744"/>
          </a:xfrm>
          <a:prstGeom prst="rect">
            <a:avLst/>
          </a:prstGeom>
          <a:solidFill>
            <a:srgbClr val="F99239"/>
          </a:solidFill>
          <a:ln w="12700">
            <a:solidFill>
              <a:srgbClr val="F99239"/>
            </a:solidFill>
            <a:prstDash val="solid"/>
          </a:ln>
        </p:spPr>
      </p:sp>
      <p:sp>
        <p:nvSpPr>
          <p:cNvPr id="12" name="Text 9"/>
          <p:cNvSpPr/>
          <p:nvPr/>
        </p:nvSpPr>
        <p:spPr>
          <a:xfrm>
            <a:off x="6784848" y="2852928"/>
            <a:ext cx="1058875"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13" name="Text 10"/>
          <p:cNvSpPr/>
          <p:nvPr/>
        </p:nvSpPr>
        <p:spPr>
          <a:xfrm>
            <a:off x="6784848" y="309981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14" name="Text 11"/>
          <p:cNvSpPr/>
          <p:nvPr/>
        </p:nvSpPr>
        <p:spPr>
          <a:xfrm>
            <a:off x="6784848" y="3346704"/>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15" name="Text 12"/>
          <p:cNvSpPr/>
          <p:nvPr/>
        </p:nvSpPr>
        <p:spPr>
          <a:xfrm>
            <a:off x="6784848" y="359359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16" name="Text 13"/>
          <p:cNvSpPr/>
          <p:nvPr/>
        </p:nvSpPr>
        <p:spPr>
          <a:xfrm>
            <a:off x="6784848" y="384048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17" name="Text 14"/>
          <p:cNvSpPr/>
          <p:nvPr/>
        </p:nvSpPr>
        <p:spPr>
          <a:xfrm>
            <a:off x="6784848" y="408736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18" name="Text 15"/>
          <p:cNvSpPr/>
          <p:nvPr/>
        </p:nvSpPr>
        <p:spPr>
          <a:xfrm>
            <a:off x="6784848" y="433425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19" name="Shape 16"/>
          <p:cNvSpPr/>
          <p:nvPr/>
        </p:nvSpPr>
        <p:spPr>
          <a:xfrm>
            <a:off x="7871155" y="1783080"/>
            <a:ext cx="3787445" cy="347472"/>
          </a:xfrm>
          <a:prstGeom prst="rect">
            <a:avLst/>
          </a:prstGeom>
          <a:solidFill>
            <a:srgbClr val="FFFFFF"/>
          </a:solidFill>
          <a:ln w="12700">
            <a:solidFill>
              <a:srgbClr val="E2E8F0"/>
            </a:solidFill>
            <a:prstDash val="solid"/>
          </a:ln>
        </p:spPr>
      </p:sp>
      <p:sp>
        <p:nvSpPr>
          <p:cNvPr id="20" name="Text 17"/>
          <p:cNvSpPr/>
          <p:nvPr/>
        </p:nvSpPr>
        <p:spPr>
          <a:xfrm>
            <a:off x="8008315"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21" name="Text 18"/>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22" name="Shape 19"/>
          <p:cNvSpPr/>
          <p:nvPr/>
        </p:nvSpPr>
        <p:spPr>
          <a:xfrm>
            <a:off x="8035747" y="2286000"/>
            <a:ext cx="3458261" cy="2423160"/>
          </a:xfrm>
          <a:prstGeom prst="rect">
            <a:avLst/>
          </a:prstGeom>
          <a:solidFill>
            <a:srgbClr val="FFFFFF"/>
          </a:solidFill>
          <a:ln w="12700">
            <a:solidFill>
              <a:srgbClr val="E2E8F0"/>
            </a:solidFill>
            <a:prstDash val="solid"/>
          </a:ln>
        </p:spPr>
      </p:sp>
      <p:sp>
        <p:nvSpPr>
          <p:cNvPr id="23" name="Text 20"/>
          <p:cNvSpPr/>
          <p:nvPr/>
        </p:nvSpPr>
        <p:spPr>
          <a:xfrm>
            <a:off x="8145475" y="2331720"/>
            <a:ext cx="1995221"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PROGRAMMING</a:t>
            </a:r>
            <a:endParaRPr lang="en-US" sz="900" dirty="0"/>
          </a:p>
        </p:txBody>
      </p:sp>
      <p:sp>
        <p:nvSpPr>
          <p:cNvPr id="24" name="Shape 21"/>
          <p:cNvSpPr/>
          <p:nvPr/>
        </p:nvSpPr>
        <p:spPr>
          <a:xfrm>
            <a:off x="10076688" y="2359152"/>
            <a:ext cx="1325880" cy="256032"/>
          </a:xfrm>
          <a:prstGeom prst="roundRect">
            <a:avLst>
              <a:gd name="adj" fmla="val 17857"/>
            </a:avLst>
          </a:prstGeom>
          <a:solidFill>
            <a:srgbClr val="F99239"/>
          </a:solidFill>
          <a:ln w="12700">
            <a:solidFill>
              <a:srgbClr val="F99239"/>
            </a:solidFill>
            <a:prstDash val="solid"/>
          </a:ln>
        </p:spPr>
      </p:sp>
      <p:sp>
        <p:nvSpPr>
          <p:cNvPr id="25" name="Text 22"/>
          <p:cNvSpPr/>
          <p:nvPr/>
        </p:nvSpPr>
        <p:spPr>
          <a:xfrm>
            <a:off x="10076688" y="2359152"/>
            <a:ext cx="1325880" cy="256032"/>
          </a:xfrm>
          <a:prstGeom prst="rect">
            <a:avLst/>
          </a:prstGeom>
          <a:noFill/>
          <a:ln/>
        </p:spPr>
        <p:txBody>
          <a:bodyPr wrap="square" rtlCol="0" anchor="ctr"/>
          <a:lstStyle/>
          <a:p>
            <a:pPr algn="ctr" indent="0" marL="0">
              <a:buNone/>
            </a:pPr>
            <a:r>
              <a:rPr lang="en-US" sz="700" b="1" dirty="0">
                <a:solidFill>
                  <a:srgbClr val="FFFFFF"/>
                </a:solidFill>
                <a:latin typeface="Montserrat" pitchFamily="34" charset="0"/>
                <a:ea typeface="Montserrat" pitchFamily="34" charset="-122"/>
                <a:cs typeface="Montserrat" pitchFamily="34" charset="-120"/>
              </a:rPr>
              <a:t>+ New Program Proposal</a:t>
            </a:r>
            <a:endParaRPr lang="en-US" sz="700" dirty="0"/>
          </a:p>
        </p:txBody>
      </p:sp>
      <p:sp>
        <p:nvSpPr>
          <p:cNvPr id="26" name="Shape 23"/>
          <p:cNvSpPr/>
          <p:nvPr/>
        </p:nvSpPr>
        <p:spPr>
          <a:xfrm>
            <a:off x="8127187" y="2724912"/>
            <a:ext cx="3275381" cy="310896"/>
          </a:xfrm>
          <a:prstGeom prst="rect">
            <a:avLst/>
          </a:prstGeom>
          <a:solidFill>
            <a:srgbClr val="F8FAFC"/>
          </a:solidFill>
          <a:ln w="12700">
            <a:solidFill>
              <a:srgbClr val="E2E8F0"/>
            </a:solidFill>
            <a:prstDash val="solid"/>
          </a:ln>
        </p:spPr>
      </p:sp>
      <p:sp>
        <p:nvSpPr>
          <p:cNvPr id="27" name="Text 24"/>
          <p:cNvSpPr/>
          <p:nvPr/>
        </p:nvSpPr>
        <p:spPr>
          <a:xfrm>
            <a:off x="8218627" y="272491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Upcoming 4 · Awaiting 2 · Needs revision 1</a:t>
            </a:r>
            <a:endParaRPr lang="en-US" sz="800" dirty="0"/>
          </a:p>
        </p:txBody>
      </p:sp>
      <p:sp>
        <p:nvSpPr>
          <p:cNvPr id="28" name="Shape 25"/>
          <p:cNvSpPr/>
          <p:nvPr/>
        </p:nvSpPr>
        <p:spPr>
          <a:xfrm>
            <a:off x="8127187" y="3090672"/>
            <a:ext cx="3275381" cy="310896"/>
          </a:xfrm>
          <a:prstGeom prst="rect">
            <a:avLst/>
          </a:prstGeom>
          <a:solidFill>
            <a:srgbClr val="FFFFFF"/>
          </a:solidFill>
          <a:ln w="12700">
            <a:solidFill>
              <a:srgbClr val="E2E8F0"/>
            </a:solidFill>
            <a:prstDash val="solid"/>
          </a:ln>
        </p:spPr>
      </p:sp>
      <p:sp>
        <p:nvSpPr>
          <p:cNvPr id="29" name="Text 26"/>
          <p:cNvSpPr/>
          <p:nvPr/>
        </p:nvSpPr>
        <p:spPr>
          <a:xfrm>
            <a:off x="8218627" y="309067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Changes requested — Study Snacks Night</a:t>
            </a:r>
            <a:endParaRPr lang="en-US" sz="800" dirty="0"/>
          </a:p>
        </p:txBody>
      </p:sp>
      <p:sp>
        <p:nvSpPr>
          <p:cNvPr id="30" name="Shape 27"/>
          <p:cNvSpPr/>
          <p:nvPr/>
        </p:nvSpPr>
        <p:spPr>
          <a:xfrm>
            <a:off x="8127187" y="3456432"/>
            <a:ext cx="3275381" cy="310896"/>
          </a:xfrm>
          <a:prstGeom prst="rect">
            <a:avLst/>
          </a:prstGeom>
          <a:solidFill>
            <a:srgbClr val="F8FAFC"/>
          </a:solidFill>
          <a:ln w="12700">
            <a:solidFill>
              <a:srgbClr val="E2E8F0"/>
            </a:solidFill>
            <a:prstDash val="solid"/>
          </a:ln>
        </p:spPr>
      </p:sp>
      <p:sp>
        <p:nvSpPr>
          <p:cNvPr id="31" name="Text 28"/>
          <p:cNvSpPr/>
          <p:nvPr/>
        </p:nvSpPr>
        <p:spPr>
          <a:xfrm>
            <a:off x="8218627" y="345643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Missing Action Item List — Movie Night</a:t>
            </a:r>
            <a:endParaRPr lang="en-US" sz="800" dirty="0"/>
          </a:p>
        </p:txBody>
      </p:sp>
      <p:sp>
        <p:nvSpPr>
          <p:cNvPr id="32" name="Shape 29"/>
          <p:cNvSpPr/>
          <p:nvPr/>
        </p:nvSpPr>
        <p:spPr>
          <a:xfrm>
            <a:off x="8127187" y="3822192"/>
            <a:ext cx="3275381" cy="310896"/>
          </a:xfrm>
          <a:prstGeom prst="rect">
            <a:avLst/>
          </a:prstGeom>
          <a:solidFill>
            <a:srgbClr val="FFFFFF"/>
          </a:solidFill>
          <a:ln w="12700">
            <a:solidFill>
              <a:srgbClr val="E2E8F0"/>
            </a:solidFill>
            <a:prstDash val="solid"/>
          </a:ln>
        </p:spPr>
      </p:sp>
      <p:sp>
        <p:nvSpPr>
          <p:cNvPr id="33" name="Text 30"/>
          <p:cNvSpPr/>
          <p:nvPr/>
        </p:nvSpPr>
        <p:spPr>
          <a:xfrm>
            <a:off x="8218627" y="382219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Due in 7 days: Purchase request — Craft Night</a:t>
            </a:r>
            <a:endParaRPr lang="en-US" sz="800" dirty="0"/>
          </a:p>
        </p:txBody>
      </p:sp>
      <p:sp>
        <p:nvSpPr>
          <p:cNvPr id="34" name="Shape 31"/>
          <p:cNvSpPr/>
          <p:nvPr/>
        </p:nvSpPr>
        <p:spPr>
          <a:xfrm>
            <a:off x="6675120" y="5074920"/>
            <a:ext cx="4983480" cy="868680"/>
          </a:xfrm>
          <a:prstGeom prst="roundRect">
            <a:avLst>
              <a:gd name="adj" fmla="val 8421"/>
            </a:avLst>
          </a:prstGeom>
          <a:solidFill>
            <a:srgbClr val="FFF7ED"/>
          </a:solidFill>
          <a:ln w="12700">
            <a:solidFill>
              <a:srgbClr val="FED7AA"/>
            </a:solidFill>
            <a:prstDash val="solid"/>
          </a:ln>
        </p:spPr>
      </p:sp>
      <p:sp>
        <p:nvSpPr>
          <p:cNvPr id="35" name="Shape 32"/>
          <p:cNvSpPr/>
          <p:nvPr/>
        </p:nvSpPr>
        <p:spPr>
          <a:xfrm>
            <a:off x="6675120" y="5074920"/>
            <a:ext cx="73152" cy="868680"/>
          </a:xfrm>
          <a:prstGeom prst="rect">
            <a:avLst/>
          </a:prstGeom>
          <a:solidFill>
            <a:srgbClr val="F99239"/>
          </a:solidFill>
          <a:ln w="12700">
            <a:solidFill>
              <a:srgbClr val="F99239"/>
            </a:solidFill>
            <a:prstDash val="solid"/>
          </a:ln>
        </p:spPr>
      </p:sp>
      <p:sp>
        <p:nvSpPr>
          <p:cNvPr id="36" name="Text 33"/>
          <p:cNvSpPr/>
          <p:nvPr/>
        </p:nvSpPr>
        <p:spPr>
          <a:xfrm>
            <a:off x="6858000" y="5074920"/>
            <a:ext cx="4709160" cy="86868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Check </a:t>
            </a:r>
            <a:pPr indent="0" marL="0">
              <a:buNone/>
            </a:pPr>
            <a:r>
              <a:rPr lang="en-US" sz="1100" b="1" dirty="0">
                <a:solidFill>
                  <a:srgbClr val="002D6A"/>
                </a:solidFill>
                <a:latin typeface="Montserrat" pitchFamily="34" charset="0"/>
                <a:ea typeface="Montserrat" pitchFamily="34" charset="-122"/>
                <a:cs typeface="Montserrat" pitchFamily="34" charset="-120"/>
              </a:rPr>
              <a:t>Needs revision</a:t>
            </a:r>
            <a:pPr indent="0" marL="0">
              <a:buNone/>
            </a:pPr>
            <a:r>
              <a:rPr lang="en-US" sz="1100" dirty="0">
                <a:solidFill>
                  <a:srgbClr val="14213D"/>
                </a:solidFill>
                <a:latin typeface="Montserrat" pitchFamily="34" charset="0"/>
                <a:ea typeface="Montserrat" pitchFamily="34" charset="-122"/>
                <a:cs typeface="Montserrat" pitchFamily="34" charset="-120"/>
              </a:rPr>
              <a:t> and </a:t>
            </a:r>
            <a:pPr indent="0" marL="0">
              <a:buNone/>
            </a:pPr>
            <a:r>
              <a:rPr lang="en-US" sz="1100" b="1" dirty="0">
                <a:solidFill>
                  <a:srgbClr val="002D6A"/>
                </a:solidFill>
                <a:latin typeface="Montserrat" pitchFamily="34" charset="0"/>
                <a:ea typeface="Montserrat" pitchFamily="34" charset="-122"/>
                <a:cs typeface="Montserrat" pitchFamily="34" charset="-120"/>
              </a:rPr>
              <a:t>Missing action items</a:t>
            </a:r>
            <a:pPr indent="0" marL="0">
              <a:buNone/>
            </a:pPr>
            <a:r>
              <a:rPr lang="en-US" sz="1100" dirty="0">
                <a:solidFill>
                  <a:srgbClr val="14213D"/>
                </a:solidFill>
                <a:latin typeface="Montserrat" pitchFamily="34" charset="0"/>
                <a:ea typeface="Montserrat" pitchFamily="34" charset="-122"/>
                <a:cs typeface="Montserrat" pitchFamily="34" charset="-120"/>
              </a:rPr>
              <a:t> weekly — those are waiting on you, not your REC.</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TEAM &amp; PROGRAMS</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Creating a proposal: Steps 1 &amp; 2</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5486400" cy="3246120"/>
          </a:xfrm>
          <a:prstGeom prst="roundRect">
            <a:avLst>
              <a:gd name="adj" fmla="val 2254"/>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246120"/>
          </a:xfrm>
          <a:prstGeom prst="rect">
            <a:avLst/>
          </a:prstGeom>
          <a:solidFill>
            <a:srgbClr val="F99239"/>
          </a:solidFill>
          <a:ln w="12700">
            <a:solidFill>
              <a:srgbClr val="F99239"/>
            </a:solidFill>
            <a:prstDash val="solid"/>
          </a:ln>
        </p:spPr>
      </p:sp>
      <p:sp>
        <p:nvSpPr>
          <p:cNvPr id="7" name="Text 5"/>
          <p:cNvSpPr/>
          <p:nvPr/>
        </p:nvSpPr>
        <p:spPr>
          <a:xfrm>
            <a:off x="749808" y="1874520"/>
            <a:ext cx="516636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Step 1 · Program Information</a:t>
            </a:r>
            <a:endParaRPr lang="en-US" sz="1300" dirty="0"/>
          </a:p>
        </p:txBody>
      </p:sp>
      <p:sp>
        <p:nvSpPr>
          <p:cNvPr id="8" name="Text 6"/>
          <p:cNvSpPr/>
          <p:nvPr/>
        </p:nvSpPr>
        <p:spPr>
          <a:xfrm>
            <a:off x="685800" y="2240280"/>
            <a:ext cx="5212080" cy="2697480"/>
          </a:xfrm>
          <a:prstGeom prst="rect">
            <a:avLst/>
          </a:prstGeom>
          <a:noFill/>
          <a:ln/>
        </p:spPr>
        <p:txBody>
          <a:bodyPr wrap="square" rtlCol="0" anchor="t"/>
          <a:lstStyle/>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Program Title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e.g. “Valentine’s Day Craft Night”</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Program Type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Phase 1: Individual · Phase 2: Collaborative (add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Collaborating RAs</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Large Scale</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Format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Active (in-person) or Passive (bulletin board, tabling, kits)</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Programming Category</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Academic Excellence, Campus Pride, EDI, Health &amp; Wellness, Holistic Development, Safety &amp; Bystander Prevention</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Assigned REC, Estimated Attendance,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Program Date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Start/End Time,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Location</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Target Audience</a:t>
            </a:r>
            <a:endParaRPr lang="en-US" sz="1100" dirty="0"/>
          </a:p>
        </p:txBody>
      </p:sp>
      <p:sp>
        <p:nvSpPr>
          <p:cNvPr id="9" name="Shape 7"/>
          <p:cNvSpPr/>
          <p:nvPr/>
        </p:nvSpPr>
        <p:spPr>
          <a:xfrm>
            <a:off x="6172200" y="1783080"/>
            <a:ext cx="5486400" cy="3246120"/>
          </a:xfrm>
          <a:prstGeom prst="roundRect">
            <a:avLst>
              <a:gd name="adj" fmla="val 2254"/>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172200" y="1783080"/>
            <a:ext cx="73152" cy="3246120"/>
          </a:xfrm>
          <a:prstGeom prst="rect">
            <a:avLst/>
          </a:prstGeom>
          <a:solidFill>
            <a:srgbClr val="002D6A"/>
          </a:solidFill>
          <a:ln w="12700">
            <a:solidFill>
              <a:srgbClr val="002D6A"/>
            </a:solidFill>
            <a:prstDash val="solid"/>
          </a:ln>
        </p:spPr>
      </p:sp>
      <p:sp>
        <p:nvSpPr>
          <p:cNvPr id="11" name="Text 9"/>
          <p:cNvSpPr/>
          <p:nvPr/>
        </p:nvSpPr>
        <p:spPr>
          <a:xfrm>
            <a:off x="6373368" y="1874520"/>
            <a:ext cx="516636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Step 2 · Program Purpose</a:t>
            </a:r>
            <a:endParaRPr lang="en-US" sz="1300" dirty="0"/>
          </a:p>
        </p:txBody>
      </p:sp>
      <p:sp>
        <p:nvSpPr>
          <p:cNvPr id="12" name="Text 10"/>
          <p:cNvSpPr/>
          <p:nvPr/>
        </p:nvSpPr>
        <p:spPr>
          <a:xfrm>
            <a:off x="6309360" y="2240280"/>
            <a:ext cx="5212080" cy="2697480"/>
          </a:xfrm>
          <a:prstGeom prst="rect">
            <a:avLst/>
          </a:prstGeom>
          <a:noFill/>
          <a:ln/>
        </p:spPr>
        <p:txBody>
          <a:bodyPr wrap="square" rtlCol="0" anchor="t"/>
          <a:lstStyle/>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Program Description</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click the ⓘ and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Insert this template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for a guide: vision, what residents will do, partners</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Learning Objectives</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“Residents will be able to…”</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Engagement goals, connection to category, intended outcomes</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Stations &amp; Assignments</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Station, who’s involved, location, their job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 Add station</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a:t>
            </a:r>
            <a:endParaRPr lang="en-US" sz="1100" dirty="0"/>
          </a:p>
        </p:txBody>
      </p:sp>
      <p:sp>
        <p:nvSpPr>
          <p:cNvPr id="13" name="Shape 11"/>
          <p:cNvSpPr/>
          <p:nvPr/>
        </p:nvSpPr>
        <p:spPr>
          <a:xfrm>
            <a:off x="548640" y="5257800"/>
            <a:ext cx="11109960" cy="594360"/>
          </a:xfrm>
          <a:prstGeom prst="roundRect">
            <a:avLst>
              <a:gd name="adj" fmla="val 12308"/>
            </a:avLst>
          </a:prstGeom>
          <a:solidFill>
            <a:srgbClr val="FFF7ED"/>
          </a:solidFill>
          <a:ln w="12700">
            <a:solidFill>
              <a:srgbClr val="FED7AA"/>
            </a:solidFill>
            <a:prstDash val="solid"/>
          </a:ln>
        </p:spPr>
      </p:sp>
      <p:sp>
        <p:nvSpPr>
          <p:cNvPr id="14" name="Shape 12"/>
          <p:cNvSpPr/>
          <p:nvPr/>
        </p:nvSpPr>
        <p:spPr>
          <a:xfrm>
            <a:off x="548640" y="5257800"/>
            <a:ext cx="73152" cy="594360"/>
          </a:xfrm>
          <a:prstGeom prst="rect">
            <a:avLst/>
          </a:prstGeom>
          <a:solidFill>
            <a:srgbClr val="F99239"/>
          </a:solidFill>
          <a:ln w="12700">
            <a:solidFill>
              <a:srgbClr val="F99239"/>
            </a:solidFill>
            <a:prstDash val="solid"/>
          </a:ln>
        </p:spPr>
      </p:sp>
      <p:sp>
        <p:nvSpPr>
          <p:cNvPr id="15" name="Text 13"/>
          <p:cNvSpPr/>
          <p:nvPr/>
        </p:nvSpPr>
        <p:spPr>
          <a:xfrm>
            <a:off x="731520" y="5257800"/>
            <a:ext cx="10835640" cy="59436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Fields marked * are required to submit — but you can </a:t>
            </a:r>
            <a:pPr indent="0" marL="0">
              <a:buNone/>
            </a:pPr>
            <a:r>
              <a:rPr lang="en-US" sz="1100" b="1" dirty="0">
                <a:solidFill>
                  <a:srgbClr val="002D6A"/>
                </a:solidFill>
                <a:latin typeface="Montserrat" pitchFamily="34" charset="0"/>
                <a:ea typeface="Montserrat" pitchFamily="34" charset="-122"/>
                <a:cs typeface="Montserrat" pitchFamily="34" charset="-120"/>
              </a:rPr>
              <a:t>Save Draft</a:t>
            </a:r>
            <a:pPr indent="0" marL="0">
              <a:buNone/>
            </a:pPr>
            <a:r>
              <a:rPr lang="en-US" sz="1100" dirty="0">
                <a:solidFill>
                  <a:srgbClr val="14213D"/>
                </a:solidFill>
                <a:latin typeface="Montserrat" pitchFamily="34" charset="0"/>
                <a:ea typeface="Montserrat" pitchFamily="34" charset="-122"/>
                <a:cs typeface="Montserrat" pitchFamily="34" charset="-120"/>
              </a:rPr>
              <a:t> anytime. Drafts also auto-save once you add a title.</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TEAM &amp; PROGRAMS</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Steps 3–5: logistics, action items &amp; submit</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3566160" cy="3291840"/>
          </a:xfrm>
          <a:prstGeom prst="roundRect">
            <a:avLst>
              <a:gd name="adj" fmla="val 222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291840"/>
          </a:xfrm>
          <a:prstGeom prst="rect">
            <a:avLst/>
          </a:prstGeom>
          <a:solidFill>
            <a:srgbClr val="1F5FA8"/>
          </a:solidFill>
          <a:ln w="12700">
            <a:solidFill>
              <a:srgbClr val="1F5FA8"/>
            </a:solidFill>
            <a:prstDash val="solid"/>
          </a:ln>
        </p:spPr>
      </p:sp>
      <p:sp>
        <p:nvSpPr>
          <p:cNvPr id="7" name="Text 5"/>
          <p:cNvSpPr/>
          <p:nvPr/>
        </p:nvSpPr>
        <p:spPr>
          <a:xfrm>
            <a:off x="749808" y="1874520"/>
            <a:ext cx="3246120" cy="347472"/>
          </a:xfrm>
          <a:prstGeom prst="rect">
            <a:avLst/>
          </a:prstGeom>
          <a:noFill/>
          <a:ln/>
        </p:spPr>
        <p:txBody>
          <a:bodyPr wrap="square" rtlCol="0" anchor="ctr"/>
          <a:lstStyle/>
          <a:p>
            <a:pPr indent="0" marL="0">
              <a:buNone/>
            </a:pPr>
            <a:r>
              <a:rPr lang="en-US" sz="1300" b="1" dirty="0">
                <a:solidFill>
                  <a:srgbClr val="1F5FA8"/>
                </a:solidFill>
                <a:latin typeface="Montserrat" pitchFamily="34" charset="0"/>
                <a:ea typeface="Montserrat" pitchFamily="34" charset="-122"/>
                <a:cs typeface="Montserrat" pitchFamily="34" charset="-120"/>
              </a:rPr>
              <a:t>Step 3 · Logistics</a:t>
            </a:r>
            <a:endParaRPr lang="en-US" sz="1300" dirty="0"/>
          </a:p>
        </p:txBody>
      </p:sp>
      <p:sp>
        <p:nvSpPr>
          <p:cNvPr id="8" name="Text 6"/>
          <p:cNvSpPr/>
          <p:nvPr/>
        </p:nvSpPr>
        <p:spPr>
          <a:xfrm>
            <a:off x="685800" y="2240280"/>
            <a:ext cx="3291840" cy="274320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Space reservation needs</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Equipment requirements</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Setup &amp; breakdown (or install &amp; removal)</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Promotion / marketing</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Accessibility considerations</a:t>
            </a:r>
            <a:endParaRPr lang="en-US" sz="1100" dirty="0"/>
          </a:p>
        </p:txBody>
      </p:sp>
      <p:sp>
        <p:nvSpPr>
          <p:cNvPr id="9" name="Shape 7"/>
          <p:cNvSpPr/>
          <p:nvPr/>
        </p:nvSpPr>
        <p:spPr>
          <a:xfrm>
            <a:off x="4297680" y="1783080"/>
            <a:ext cx="3749040" cy="3291840"/>
          </a:xfrm>
          <a:prstGeom prst="roundRect">
            <a:avLst>
              <a:gd name="adj" fmla="val 222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4297680" y="1783080"/>
            <a:ext cx="73152" cy="3291840"/>
          </a:xfrm>
          <a:prstGeom prst="rect">
            <a:avLst/>
          </a:prstGeom>
          <a:solidFill>
            <a:srgbClr val="F99239"/>
          </a:solidFill>
          <a:ln w="12700">
            <a:solidFill>
              <a:srgbClr val="F99239"/>
            </a:solidFill>
            <a:prstDash val="solid"/>
          </a:ln>
        </p:spPr>
      </p:sp>
      <p:sp>
        <p:nvSpPr>
          <p:cNvPr id="11" name="Text 9"/>
          <p:cNvSpPr/>
          <p:nvPr/>
        </p:nvSpPr>
        <p:spPr>
          <a:xfrm>
            <a:off x="4498848" y="1874520"/>
            <a:ext cx="342900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Step 4 · Action Items &amp; Budget</a:t>
            </a:r>
            <a:endParaRPr lang="en-US" sz="1300" dirty="0"/>
          </a:p>
        </p:txBody>
      </p:sp>
      <p:sp>
        <p:nvSpPr>
          <p:cNvPr id="12" name="Text 10"/>
          <p:cNvSpPr/>
          <p:nvPr/>
        </p:nvSpPr>
        <p:spPr>
          <a:xfrm>
            <a:off x="4434840" y="2240280"/>
            <a:ext cx="3474720" cy="2743200"/>
          </a:xfrm>
          <a:prstGeom prst="rect">
            <a:avLst/>
          </a:prstGeom>
          <a:noFill/>
          <a:ln/>
        </p:spPr>
        <p:txBody>
          <a:bodyPr wrap="square" rtlCol="0" anchor="t"/>
          <a:lstStyle/>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 Purchase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item, type, vendor, link, unit cost, qty, fulfillment, needed by</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 Supply on hand</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 Flyer / Marketing request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 Task / Other</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Add each vendor’s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tax, delivery, service, Instacart fees &amp; tip</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Or tick “No supplies, purchases or action items needed”</a:t>
            </a:r>
            <a:endParaRPr lang="en-US" sz="1100" dirty="0"/>
          </a:p>
        </p:txBody>
      </p:sp>
      <p:sp>
        <p:nvSpPr>
          <p:cNvPr id="13" name="Shape 11"/>
          <p:cNvSpPr/>
          <p:nvPr/>
        </p:nvSpPr>
        <p:spPr>
          <a:xfrm>
            <a:off x="8229600" y="1783080"/>
            <a:ext cx="3429000" cy="3291840"/>
          </a:xfrm>
          <a:prstGeom prst="roundRect">
            <a:avLst>
              <a:gd name="adj" fmla="val 222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8229600" y="1783080"/>
            <a:ext cx="73152" cy="3291840"/>
          </a:xfrm>
          <a:prstGeom prst="rect">
            <a:avLst/>
          </a:prstGeom>
          <a:solidFill>
            <a:srgbClr val="002D6A"/>
          </a:solidFill>
          <a:ln w="12700">
            <a:solidFill>
              <a:srgbClr val="002D6A"/>
            </a:solidFill>
            <a:prstDash val="solid"/>
          </a:ln>
        </p:spPr>
      </p:sp>
      <p:sp>
        <p:nvSpPr>
          <p:cNvPr id="15" name="Text 13"/>
          <p:cNvSpPr/>
          <p:nvPr/>
        </p:nvSpPr>
        <p:spPr>
          <a:xfrm>
            <a:off x="8430768" y="1874520"/>
            <a:ext cx="310896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Step 5 · Review &amp; Submit</a:t>
            </a:r>
            <a:endParaRPr lang="en-US" sz="1300" dirty="0"/>
          </a:p>
        </p:txBody>
      </p:sp>
      <p:sp>
        <p:nvSpPr>
          <p:cNvPr id="16" name="Text 14"/>
          <p:cNvSpPr/>
          <p:nvPr/>
        </p:nvSpPr>
        <p:spPr>
          <a:xfrm>
            <a:off x="8366760" y="2240280"/>
            <a:ext cx="3154680" cy="274320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Shows anything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“Still needed before you can submit”</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Shows who it goes to (your REC or all RECs)</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Click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Submit for Approval</a:t>
            </a:r>
            <a:endParaRPr lang="en-US" sz="1100" dirty="0"/>
          </a:p>
        </p:txBody>
      </p:sp>
      <p:sp>
        <p:nvSpPr>
          <p:cNvPr id="17" name="Shape 15"/>
          <p:cNvSpPr/>
          <p:nvPr/>
        </p:nvSpPr>
        <p:spPr>
          <a:xfrm>
            <a:off x="548640" y="5257800"/>
            <a:ext cx="11109960" cy="594360"/>
          </a:xfrm>
          <a:prstGeom prst="roundRect">
            <a:avLst>
              <a:gd name="adj" fmla="val 12308"/>
            </a:avLst>
          </a:prstGeom>
          <a:solidFill>
            <a:srgbClr val="FFF7ED"/>
          </a:solidFill>
          <a:ln w="12700">
            <a:solidFill>
              <a:srgbClr val="FED7AA"/>
            </a:solidFill>
            <a:prstDash val="solid"/>
          </a:ln>
        </p:spPr>
      </p:sp>
      <p:sp>
        <p:nvSpPr>
          <p:cNvPr id="18" name="Shape 16"/>
          <p:cNvSpPr/>
          <p:nvPr/>
        </p:nvSpPr>
        <p:spPr>
          <a:xfrm>
            <a:off x="548640" y="5257800"/>
            <a:ext cx="73152" cy="594360"/>
          </a:xfrm>
          <a:prstGeom prst="rect">
            <a:avLst/>
          </a:prstGeom>
          <a:solidFill>
            <a:srgbClr val="F99239"/>
          </a:solidFill>
          <a:ln w="12700">
            <a:solidFill>
              <a:srgbClr val="F99239"/>
            </a:solidFill>
            <a:prstDash val="solid"/>
          </a:ln>
        </p:spPr>
      </p:sp>
      <p:sp>
        <p:nvSpPr>
          <p:cNvPr id="19" name="Text 17"/>
          <p:cNvSpPr/>
          <p:nvPr/>
        </p:nvSpPr>
        <p:spPr>
          <a:xfrm>
            <a:off x="731520" y="5257800"/>
            <a:ext cx="10835640" cy="59436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All purchases use the </a:t>
            </a:r>
            <a:pPr indent="0" marL="0">
              <a:buNone/>
            </a:pPr>
            <a:r>
              <a:rPr lang="en-US" sz="1100" b="1" dirty="0">
                <a:solidFill>
                  <a:srgbClr val="002D6A"/>
                </a:solidFill>
                <a:latin typeface="Montserrat" pitchFamily="34" charset="0"/>
                <a:ea typeface="Montserrat" pitchFamily="34" charset="-122"/>
                <a:cs typeface="Montserrat" pitchFamily="34" charset="-120"/>
              </a:rPr>
              <a:t>Emburse Card (MasterCard)</a:t>
            </a:r>
            <a:pPr indent="0" marL="0">
              <a:buNone/>
            </a:pPr>
            <a:r>
              <a:rPr lang="en-US" sz="1100" dirty="0">
                <a:solidFill>
                  <a:srgbClr val="14213D"/>
                </a:solidFill>
                <a:latin typeface="Montserrat" pitchFamily="34" charset="0"/>
                <a:ea typeface="Montserrat" pitchFamily="34" charset="-122"/>
                <a:cs typeface="Montserrat" pitchFamily="34" charset="-120"/>
              </a:rPr>
              <a:t>. Out-of-pocket reimbursements are </a:t>
            </a:r>
            <a:pPr indent="0" marL="0">
              <a:buNone/>
            </a:pPr>
            <a:r>
              <a:rPr lang="en-US" sz="1100" b="1" dirty="0">
                <a:solidFill>
                  <a:srgbClr val="002D6A"/>
                </a:solidFill>
                <a:latin typeface="Montserrat" pitchFamily="34" charset="0"/>
                <a:ea typeface="Montserrat" pitchFamily="34" charset="-122"/>
                <a:cs typeface="Montserrat" pitchFamily="34" charset="-120"/>
              </a:rPr>
              <a:t>not</a:t>
            </a:r>
            <a:pPr indent="0" marL="0">
              <a:buNone/>
            </a:pPr>
            <a:r>
              <a:rPr lang="en-US" sz="1100" dirty="0">
                <a:solidFill>
                  <a:srgbClr val="14213D"/>
                </a:solidFill>
                <a:latin typeface="Montserrat" pitchFamily="34" charset="0"/>
                <a:ea typeface="Montserrat" pitchFamily="34" charset="-122"/>
                <a:cs typeface="Montserrat" pitchFamily="34" charset="-120"/>
              </a:rPr>
              <a:t> permitted.</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TEAM &amp; PROGRAMS</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Purchasing rules the Hub reminds you about</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1600200"/>
          </a:xfrm>
          <a:prstGeom prst="rect">
            <a:avLst/>
          </a:prstGeom>
          <a:solidFill>
            <a:srgbClr val="F99239"/>
          </a:solidFill>
          <a:ln w="12700">
            <a:solidFill>
              <a:srgbClr val="F99239"/>
            </a:solidFill>
            <a:prstDash val="solid"/>
          </a:ln>
        </p:spPr>
      </p:sp>
      <p:sp>
        <p:nvSpPr>
          <p:cNvPr id="7" name="Text 5"/>
          <p:cNvSpPr/>
          <p:nvPr/>
        </p:nvSpPr>
        <p:spPr>
          <a:xfrm>
            <a:off x="749808" y="1874520"/>
            <a:ext cx="324612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Amazon = non-food only</a:t>
            </a:r>
            <a:endParaRPr lang="en-US" sz="1300" dirty="0"/>
          </a:p>
        </p:txBody>
      </p:sp>
      <p:sp>
        <p:nvSpPr>
          <p:cNvPr id="8" name="Text 6"/>
          <p:cNvSpPr/>
          <p:nvPr/>
        </p:nvSpPr>
        <p:spPr>
          <a:xfrm>
            <a:off x="749808" y="2240280"/>
            <a:ext cx="3200400" cy="1051560"/>
          </a:xfrm>
          <a:prstGeom prst="rect">
            <a:avLst/>
          </a:prstGeom>
          <a:noFill/>
          <a:ln/>
        </p:spPr>
        <p:txBody>
          <a:bodyPr wrap="square" rtlCol="0" anchor="t"/>
          <a:lstStyle/>
          <a:p>
            <a:pPr indent="0" marL="0">
              <a:buNone/>
            </a:pPr>
            <a:r>
              <a:rPr lang="en-US" sz="1100" dirty="0">
                <a:solidFill>
                  <a:srgbClr val="14213D"/>
                </a:solidFill>
                <a:latin typeface="Montserrat" pitchFamily="34" charset="0"/>
                <a:ea typeface="Montserrat" pitchFamily="34" charset="-122"/>
                <a:cs typeface="Montserrat" pitchFamily="34" charset="-120"/>
              </a:rPr>
              <a:t>Supplies, decorations and other non-food items. Buy food &amp; drinks locally (Costco, Vons, Target), often through Instacart.</a:t>
            </a:r>
            <a:endParaRPr lang="en-US" sz="1100" dirty="0"/>
          </a:p>
        </p:txBody>
      </p:sp>
      <p:sp>
        <p:nvSpPr>
          <p:cNvPr id="9" name="Shape 7"/>
          <p:cNvSpPr/>
          <p:nvPr/>
        </p:nvSpPr>
        <p:spPr>
          <a:xfrm>
            <a:off x="4297680" y="178308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4297680" y="1783080"/>
            <a:ext cx="73152" cy="1600200"/>
          </a:xfrm>
          <a:prstGeom prst="rect">
            <a:avLst/>
          </a:prstGeom>
          <a:solidFill>
            <a:srgbClr val="002D6A"/>
          </a:solidFill>
          <a:ln w="12700">
            <a:solidFill>
              <a:srgbClr val="002D6A"/>
            </a:solidFill>
            <a:prstDash val="solid"/>
          </a:ln>
        </p:spPr>
      </p:sp>
      <p:sp>
        <p:nvSpPr>
          <p:cNvPr id="11" name="Text 9"/>
          <p:cNvSpPr/>
          <p:nvPr/>
        </p:nvSpPr>
        <p:spPr>
          <a:xfrm>
            <a:off x="4498848" y="1874520"/>
            <a:ext cx="324612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Costco Food Court</a:t>
            </a:r>
            <a:endParaRPr lang="en-US" sz="1300" dirty="0"/>
          </a:p>
        </p:txBody>
      </p:sp>
      <p:sp>
        <p:nvSpPr>
          <p:cNvPr id="12" name="Text 10"/>
          <p:cNvSpPr/>
          <p:nvPr/>
        </p:nvSpPr>
        <p:spPr>
          <a:xfrm>
            <a:off x="4498848" y="2240280"/>
            <a:ext cx="3200400" cy="1051560"/>
          </a:xfrm>
          <a:prstGeom prst="rect">
            <a:avLst/>
          </a:prstGeom>
          <a:noFill/>
          <a:ln/>
        </p:spPr>
        <p:txBody>
          <a:bodyPr wrap="square" rtlCol="0" anchor="t"/>
          <a:lstStyle/>
          <a:p>
            <a:pPr indent="0" marL="0">
              <a:buNone/>
            </a:pPr>
            <a:r>
              <a:rPr lang="en-US" sz="1100" dirty="0">
                <a:solidFill>
                  <a:srgbClr val="14213D"/>
                </a:solidFill>
                <a:latin typeface="Montserrat" pitchFamily="34" charset="0"/>
                <a:ea typeface="Montserrat" pitchFamily="34" charset="-122"/>
                <a:cs typeface="Montserrat" pitchFamily="34" charset="-120"/>
              </a:rPr>
              <a:t>Does not accept MasterCard — it cannot be paid with the Emburse card.</a:t>
            </a:r>
            <a:endParaRPr lang="en-US" sz="1100" dirty="0"/>
          </a:p>
        </p:txBody>
      </p:sp>
      <p:sp>
        <p:nvSpPr>
          <p:cNvPr id="13" name="Shape 11"/>
          <p:cNvSpPr/>
          <p:nvPr/>
        </p:nvSpPr>
        <p:spPr>
          <a:xfrm>
            <a:off x="8046720" y="178308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8046720" y="1783080"/>
            <a:ext cx="73152" cy="1600200"/>
          </a:xfrm>
          <a:prstGeom prst="rect">
            <a:avLst/>
          </a:prstGeom>
          <a:solidFill>
            <a:srgbClr val="F99239"/>
          </a:solidFill>
          <a:ln w="12700">
            <a:solidFill>
              <a:srgbClr val="F99239"/>
            </a:solidFill>
            <a:prstDash val="solid"/>
          </a:ln>
        </p:spPr>
      </p:sp>
      <p:sp>
        <p:nvSpPr>
          <p:cNvPr id="15" name="Text 13"/>
          <p:cNvSpPr/>
          <p:nvPr/>
        </p:nvSpPr>
        <p:spPr>
          <a:xfrm>
            <a:off x="8247888" y="1874520"/>
            <a:ext cx="324612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Delivery &amp; Instacart</a:t>
            </a:r>
            <a:endParaRPr lang="en-US" sz="1300" dirty="0"/>
          </a:p>
        </p:txBody>
      </p:sp>
      <p:sp>
        <p:nvSpPr>
          <p:cNvPr id="16" name="Text 14"/>
          <p:cNvSpPr/>
          <p:nvPr/>
        </p:nvSpPr>
        <p:spPr>
          <a:xfrm>
            <a:off x="8247888" y="2240280"/>
            <a:ext cx="3200400" cy="1051560"/>
          </a:xfrm>
          <a:prstGeom prst="rect">
            <a:avLst/>
          </a:prstGeom>
          <a:noFill/>
          <a:ln/>
        </p:spPr>
        <p:txBody>
          <a:bodyPr wrap="square" rtlCol="0" anchor="t"/>
          <a:lstStyle/>
          <a:p>
            <a:pPr indent="0" marL="0">
              <a:buNone/>
            </a:pPr>
            <a:r>
              <a:rPr lang="en-US" sz="1100" dirty="0">
                <a:solidFill>
                  <a:srgbClr val="14213D"/>
                </a:solidFill>
                <a:latin typeface="Montserrat" pitchFamily="34" charset="0"/>
                <a:ea typeface="Montserrat" pitchFamily="34" charset="-122"/>
                <a:cs typeface="Montserrat" pitchFamily="34" charset="-120"/>
              </a:rPr>
              <a:t>Add the vendor’s delivery/service fees and tip. Instacart orders must include Instacart fees and tip.</a:t>
            </a:r>
            <a:endParaRPr lang="en-US" sz="1100" dirty="0"/>
          </a:p>
        </p:txBody>
      </p:sp>
      <p:sp>
        <p:nvSpPr>
          <p:cNvPr id="17" name="Shape 15"/>
          <p:cNvSpPr/>
          <p:nvPr/>
        </p:nvSpPr>
        <p:spPr>
          <a:xfrm>
            <a:off x="548640" y="356616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8" name="Shape 16"/>
          <p:cNvSpPr/>
          <p:nvPr/>
        </p:nvSpPr>
        <p:spPr>
          <a:xfrm>
            <a:off x="548640" y="3566160"/>
            <a:ext cx="73152" cy="1600200"/>
          </a:xfrm>
          <a:prstGeom prst="rect">
            <a:avLst/>
          </a:prstGeom>
          <a:solidFill>
            <a:srgbClr val="002D6A"/>
          </a:solidFill>
          <a:ln w="12700">
            <a:solidFill>
              <a:srgbClr val="002D6A"/>
            </a:solidFill>
            <a:prstDash val="solid"/>
          </a:ln>
        </p:spPr>
      </p:sp>
      <p:sp>
        <p:nvSpPr>
          <p:cNvPr id="19" name="Text 17"/>
          <p:cNvSpPr/>
          <p:nvPr/>
        </p:nvSpPr>
        <p:spPr>
          <a:xfrm>
            <a:off x="749808" y="3657600"/>
            <a:ext cx="324612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Pickup orders</a:t>
            </a:r>
            <a:endParaRPr lang="en-US" sz="1300" dirty="0"/>
          </a:p>
        </p:txBody>
      </p:sp>
      <p:sp>
        <p:nvSpPr>
          <p:cNvPr id="20" name="Text 18"/>
          <p:cNvSpPr/>
          <p:nvPr/>
        </p:nvSpPr>
        <p:spPr>
          <a:xfrm>
            <a:off x="749808" y="4023360"/>
            <a:ext cx="3200400" cy="1051560"/>
          </a:xfrm>
          <a:prstGeom prst="rect">
            <a:avLst/>
          </a:prstGeom>
          <a:noFill/>
          <a:ln/>
        </p:spPr>
        <p:txBody>
          <a:bodyPr wrap="square" rtlCol="0" anchor="t"/>
          <a:lstStyle/>
          <a:p>
            <a:pPr indent="0" marL="0">
              <a:buNone/>
            </a:pPr>
            <a:r>
              <a:rPr lang="en-US" sz="1100" dirty="0">
                <a:solidFill>
                  <a:srgbClr val="14213D"/>
                </a:solidFill>
                <a:latin typeface="Montserrat" pitchFamily="34" charset="0"/>
                <a:ea typeface="Montserrat" pitchFamily="34" charset="-122"/>
                <a:cs typeface="Montserrat" pitchFamily="34" charset="-120"/>
              </a:rPr>
              <a:t>Add a needed-by date and the RA responsible, and coordinate pickup with your REC.</a:t>
            </a:r>
            <a:endParaRPr lang="en-US" sz="1100" dirty="0"/>
          </a:p>
        </p:txBody>
      </p:sp>
      <p:sp>
        <p:nvSpPr>
          <p:cNvPr id="21" name="Shape 19"/>
          <p:cNvSpPr/>
          <p:nvPr/>
        </p:nvSpPr>
        <p:spPr>
          <a:xfrm>
            <a:off x="4297680" y="356616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22" name="Shape 20"/>
          <p:cNvSpPr/>
          <p:nvPr/>
        </p:nvSpPr>
        <p:spPr>
          <a:xfrm>
            <a:off x="4297680" y="3566160"/>
            <a:ext cx="73152" cy="1600200"/>
          </a:xfrm>
          <a:prstGeom prst="rect">
            <a:avLst/>
          </a:prstGeom>
          <a:solidFill>
            <a:srgbClr val="F99239"/>
          </a:solidFill>
          <a:ln w="12700">
            <a:solidFill>
              <a:srgbClr val="F99239"/>
            </a:solidFill>
            <a:prstDash val="solid"/>
          </a:ln>
        </p:spPr>
      </p:sp>
      <p:sp>
        <p:nvSpPr>
          <p:cNvPr id="23" name="Text 21"/>
          <p:cNvSpPr/>
          <p:nvPr/>
        </p:nvSpPr>
        <p:spPr>
          <a:xfrm>
            <a:off x="4498848" y="3657600"/>
            <a:ext cx="324612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Perishables</a:t>
            </a:r>
            <a:endParaRPr lang="en-US" sz="1300" dirty="0"/>
          </a:p>
        </p:txBody>
      </p:sp>
      <p:sp>
        <p:nvSpPr>
          <p:cNvPr id="24" name="Text 22"/>
          <p:cNvSpPr/>
          <p:nvPr/>
        </p:nvSpPr>
        <p:spPr>
          <a:xfrm>
            <a:off x="4498848" y="4023360"/>
            <a:ext cx="3200400" cy="1051560"/>
          </a:xfrm>
          <a:prstGeom prst="rect">
            <a:avLst/>
          </a:prstGeom>
          <a:noFill/>
          <a:ln/>
        </p:spPr>
        <p:txBody>
          <a:bodyPr wrap="square" rtlCol="0" anchor="t"/>
          <a:lstStyle/>
          <a:p>
            <a:pPr indent="0" marL="0">
              <a:buNone/>
            </a:pPr>
            <a:r>
              <a:rPr lang="en-US" sz="1100" dirty="0">
                <a:solidFill>
                  <a:srgbClr val="14213D"/>
                </a:solidFill>
                <a:latin typeface="Montserrat" pitchFamily="34" charset="0"/>
                <a:ea typeface="Montserrat" pitchFamily="34" charset="-122"/>
                <a:cs typeface="Montserrat" pitchFamily="34" charset="-120"/>
              </a:rPr>
              <a:t>Confirm the pickup window and that refrigeration is available.</a:t>
            </a:r>
            <a:endParaRPr lang="en-US" sz="1100" dirty="0"/>
          </a:p>
        </p:txBody>
      </p:sp>
      <p:sp>
        <p:nvSpPr>
          <p:cNvPr id="25" name="Shape 23"/>
          <p:cNvSpPr/>
          <p:nvPr/>
        </p:nvSpPr>
        <p:spPr>
          <a:xfrm>
            <a:off x="8046720" y="3566160"/>
            <a:ext cx="356616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26" name="Shape 24"/>
          <p:cNvSpPr/>
          <p:nvPr/>
        </p:nvSpPr>
        <p:spPr>
          <a:xfrm>
            <a:off x="8046720" y="3566160"/>
            <a:ext cx="73152" cy="1600200"/>
          </a:xfrm>
          <a:prstGeom prst="rect">
            <a:avLst/>
          </a:prstGeom>
          <a:solidFill>
            <a:srgbClr val="002D6A"/>
          </a:solidFill>
          <a:ln w="12700">
            <a:solidFill>
              <a:srgbClr val="002D6A"/>
            </a:solidFill>
            <a:prstDash val="solid"/>
          </a:ln>
        </p:spPr>
      </p:sp>
      <p:sp>
        <p:nvSpPr>
          <p:cNvPr id="27" name="Text 25"/>
          <p:cNvSpPr/>
          <p:nvPr/>
        </p:nvSpPr>
        <p:spPr>
          <a:xfrm>
            <a:off x="8247888" y="3657600"/>
            <a:ext cx="324612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Over budget</a:t>
            </a:r>
            <a:endParaRPr lang="en-US" sz="1300" dirty="0"/>
          </a:p>
        </p:txBody>
      </p:sp>
      <p:sp>
        <p:nvSpPr>
          <p:cNvPr id="28" name="Text 26"/>
          <p:cNvSpPr/>
          <p:nvPr/>
        </p:nvSpPr>
        <p:spPr>
          <a:xfrm>
            <a:off x="8247888" y="4023360"/>
            <a:ext cx="3200400" cy="1051560"/>
          </a:xfrm>
          <a:prstGeom prst="rect">
            <a:avLst/>
          </a:prstGeom>
          <a:noFill/>
          <a:ln/>
        </p:spPr>
        <p:txBody>
          <a:bodyPr wrap="square" rtlCol="0" anchor="t"/>
          <a:lstStyle/>
          <a:p>
            <a:pPr indent="0" marL="0">
              <a:buNone/>
            </a:pPr>
            <a:r>
              <a:rPr lang="en-US" sz="1100" dirty="0">
                <a:solidFill>
                  <a:srgbClr val="14213D"/>
                </a:solidFill>
                <a:latin typeface="Montserrat" pitchFamily="34" charset="0"/>
                <a:ea typeface="Montserrat" pitchFamily="34" charset="-122"/>
                <a:cs typeface="Montserrat" pitchFamily="34" charset="-120"/>
              </a:rPr>
              <a:t>The Hub flags it when your estimate is more than the approved budget.</a:t>
            </a:r>
            <a:endParaRPr lang="en-US" sz="1100" dirty="0"/>
          </a:p>
        </p:txBody>
      </p:sp>
      <p:sp>
        <p:nvSpPr>
          <p:cNvPr id="29" name="Text 27"/>
          <p:cNvSpPr/>
          <p:nvPr/>
        </p:nvSpPr>
        <p:spPr>
          <a:xfrm>
            <a:off x="548640" y="5440680"/>
            <a:ext cx="10972800" cy="365760"/>
          </a:xfrm>
          <a:prstGeom prst="rect">
            <a:avLst/>
          </a:prstGeom>
          <a:noFill/>
          <a:ln/>
        </p:spPr>
        <p:txBody>
          <a:bodyPr wrap="square" rtlCol="0" anchor="ctr"/>
          <a:lstStyle/>
          <a:p>
            <a:pPr indent="0" marL="0">
              <a:buNone/>
            </a:pPr>
            <a:r>
              <a:rPr lang="en-US" sz="1200" i="1" dirty="0">
                <a:solidFill>
                  <a:srgbClr val="64748B"/>
                </a:solidFill>
                <a:latin typeface="Montserrat" pitchFamily="34" charset="0"/>
                <a:ea typeface="Montserrat" pitchFamily="34" charset="-122"/>
                <a:cs typeface="Montserrat" pitchFamily="34" charset="-120"/>
              </a:rPr>
              <a:t>These are warnings only — the Hub never changes your numbers for you.</a:t>
            </a:r>
            <a:endParaRPr lang="en-US" sz="12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TEAM &amp; PROGRAMS</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After you submit: track, update &amp; evaluate</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Open</a:t>
            </a:r>
            <a:pPr indent="0" marL="0">
              <a:buNone/>
            </a:pPr>
            <a:r>
              <a:rPr lang="en-US" sz="1300" dirty="0">
                <a:solidFill>
                  <a:srgbClr val="14213D"/>
                </a:solidFill>
                <a:latin typeface="Montserrat" pitchFamily="34" charset="0"/>
                <a:ea typeface="Montserrat" pitchFamily="34" charset="-122"/>
                <a:cs typeface="Montserrat" pitchFamily="34" charset="-120"/>
              </a:rPr>
              <a:t> on a program to see </a:t>
            </a:r>
            <a:pPr indent="0" marL="0">
              <a:buNone/>
            </a:pPr>
            <a:r>
              <a:rPr lang="en-US" sz="1300" b="1" dirty="0">
                <a:solidFill>
                  <a:srgbClr val="002D6A"/>
                </a:solidFill>
                <a:latin typeface="Montserrat" pitchFamily="34" charset="0"/>
                <a:ea typeface="Montserrat" pitchFamily="34" charset="-122"/>
                <a:cs typeface="Montserrat" pitchFamily="34" charset="-120"/>
              </a:rPr>
              <a:t>Overview, Action Items &amp; Budget, Checklist, Review, Evaluation &amp; Report, History</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8" name="Shape 6"/>
          <p:cNvSpPr/>
          <p:nvPr/>
        </p:nvSpPr>
        <p:spPr>
          <a:xfrm>
            <a:off x="548640" y="2423160"/>
            <a:ext cx="347472" cy="347472"/>
          </a:xfrm>
          <a:prstGeom prst="ellipse">
            <a:avLst/>
          </a:prstGeom>
          <a:solidFill>
            <a:srgbClr val="002D6A"/>
          </a:solidFill>
          <a:ln w="12700">
            <a:solidFill>
              <a:srgbClr val="FFFFFF"/>
            </a:solidFill>
            <a:prstDash val="solid"/>
          </a:ln>
        </p:spPr>
      </p:sp>
      <p:sp>
        <p:nvSpPr>
          <p:cNvPr id="9" name="Text 7"/>
          <p:cNvSpPr/>
          <p:nvPr/>
        </p:nvSpPr>
        <p:spPr>
          <a:xfrm>
            <a:off x="548640" y="242316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368296"/>
            <a:ext cx="594360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If your REC requests changes, </a:t>
            </a:r>
            <a:pPr indent="0" marL="0">
              <a:buNone/>
            </a:pPr>
            <a:r>
              <a:rPr lang="en-US" sz="1300" b="1" dirty="0">
                <a:solidFill>
                  <a:srgbClr val="002D6A"/>
                </a:solidFill>
                <a:latin typeface="Montserrat" pitchFamily="34" charset="0"/>
                <a:ea typeface="Montserrat" pitchFamily="34" charset="-122"/>
                <a:cs typeface="Montserrat" pitchFamily="34" charset="-120"/>
              </a:rPr>
              <a:t>Edit</a:t>
            </a:r>
            <a:pPr indent="0" marL="0">
              <a:buNone/>
            </a:pPr>
            <a:r>
              <a:rPr lang="en-US" sz="1300" dirty="0">
                <a:solidFill>
                  <a:srgbClr val="14213D"/>
                </a:solidFill>
                <a:latin typeface="Montserrat" pitchFamily="34" charset="0"/>
                <a:ea typeface="Montserrat" pitchFamily="34" charset="-122"/>
                <a:cs typeface="Montserrat" pitchFamily="34" charset="-120"/>
              </a:rPr>
              <a:t>, then </a:t>
            </a:r>
            <a:pPr indent="0" marL="0">
              <a:buNone/>
            </a:pPr>
            <a:r>
              <a:rPr lang="en-US" sz="1300" b="1" dirty="0">
                <a:solidFill>
                  <a:srgbClr val="002D6A"/>
                </a:solidFill>
                <a:latin typeface="Montserrat" pitchFamily="34" charset="0"/>
                <a:ea typeface="Montserrat" pitchFamily="34" charset="-122"/>
                <a:cs typeface="Montserrat" pitchFamily="34" charset="-120"/>
              </a:rPr>
              <a:t>Submit for approval</a:t>
            </a:r>
            <a:pPr indent="0" marL="0">
              <a:buNone/>
            </a:pPr>
            <a:r>
              <a:rPr lang="en-US" sz="1300" dirty="0">
                <a:solidFill>
                  <a:srgbClr val="14213D"/>
                </a:solidFill>
                <a:latin typeface="Montserrat" pitchFamily="34" charset="0"/>
                <a:ea typeface="Montserrat" pitchFamily="34" charset="-122"/>
                <a:cs typeface="Montserrat" pitchFamily="34" charset="-120"/>
              </a:rPr>
              <a:t> again. Use </a:t>
            </a:r>
            <a:pPr indent="0" marL="0">
              <a:buNone/>
            </a:pPr>
            <a:r>
              <a:rPr lang="en-US" sz="1300" b="1" dirty="0">
                <a:solidFill>
                  <a:srgbClr val="002D6A"/>
                </a:solidFill>
                <a:latin typeface="Montserrat" pitchFamily="34" charset="0"/>
                <a:ea typeface="Montserrat" pitchFamily="34" charset="-122"/>
                <a:cs typeface="Montserrat" pitchFamily="34" charset="-120"/>
              </a:rPr>
              <a:t>Withdraw to draft</a:t>
            </a:r>
            <a:pPr indent="0" marL="0">
              <a:buNone/>
            </a:pPr>
            <a:r>
              <a:rPr lang="en-US" sz="1300" dirty="0">
                <a:solidFill>
                  <a:srgbClr val="14213D"/>
                </a:solidFill>
                <a:latin typeface="Montserrat" pitchFamily="34" charset="0"/>
                <a:ea typeface="Montserrat" pitchFamily="34" charset="-122"/>
                <a:cs typeface="Montserrat" pitchFamily="34" charset="-120"/>
              </a:rPr>
              <a:t> to pull it back.</a:t>
            </a:r>
            <a:endParaRPr lang="en-US" sz="1300" dirty="0"/>
          </a:p>
        </p:txBody>
      </p:sp>
      <p:sp>
        <p:nvSpPr>
          <p:cNvPr id="11" name="Shape 9"/>
          <p:cNvSpPr/>
          <p:nvPr/>
        </p:nvSpPr>
        <p:spPr>
          <a:xfrm>
            <a:off x="548640" y="3044952"/>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04495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2990088"/>
            <a:ext cx="594360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On the </a:t>
            </a:r>
            <a:pPr indent="0" marL="0">
              <a:buNone/>
            </a:pPr>
            <a:r>
              <a:rPr lang="en-US" sz="1300" b="1" dirty="0">
                <a:solidFill>
                  <a:srgbClr val="002D6A"/>
                </a:solidFill>
                <a:latin typeface="Montserrat" pitchFamily="34" charset="0"/>
                <a:ea typeface="Montserrat" pitchFamily="34" charset="-122"/>
                <a:cs typeface="Montserrat" pitchFamily="34" charset="-120"/>
              </a:rPr>
              <a:t>Checklist</a:t>
            </a:r>
            <a:pPr indent="0" marL="0">
              <a:buNone/>
            </a:pPr>
            <a:r>
              <a:rPr lang="en-US" sz="1300" dirty="0">
                <a:solidFill>
                  <a:srgbClr val="14213D"/>
                </a:solidFill>
                <a:latin typeface="Montserrat" pitchFamily="34" charset="0"/>
                <a:ea typeface="Montserrat" pitchFamily="34" charset="-122"/>
                <a:cs typeface="Montserrat" pitchFamily="34" charset="-120"/>
              </a:rPr>
              <a:t>, update each task: </a:t>
            </a:r>
            <a:pPr indent="0" marL="0">
              <a:buNone/>
            </a:pPr>
            <a:r>
              <a:rPr lang="en-US" sz="1300" b="1" dirty="0">
                <a:solidFill>
                  <a:srgbClr val="002D6A"/>
                </a:solidFill>
                <a:latin typeface="Montserrat" pitchFamily="34" charset="0"/>
                <a:ea typeface="Montserrat" pitchFamily="34" charset="-122"/>
                <a:cs typeface="Montserrat" pitchFamily="34" charset="-120"/>
              </a:rPr>
              <a:t>Not started · In progress · Done · Blocked</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4" name="Shape 12"/>
          <p:cNvSpPr/>
          <p:nvPr/>
        </p:nvSpPr>
        <p:spPr>
          <a:xfrm>
            <a:off x="548640" y="3666744"/>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66674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611880"/>
            <a:ext cx="594360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Editing an approved program? Saving may send it back to your REC for </a:t>
            </a:r>
            <a:pPr indent="0" marL="0">
              <a:buNone/>
            </a:pPr>
            <a:r>
              <a:rPr lang="en-US" sz="1300" b="1" dirty="0">
                <a:solidFill>
                  <a:srgbClr val="002D6A"/>
                </a:solidFill>
                <a:latin typeface="Montserrat" pitchFamily="34" charset="0"/>
                <a:ea typeface="Montserrat" pitchFamily="34" charset="-122"/>
                <a:cs typeface="Montserrat" pitchFamily="34" charset="-120"/>
              </a:rPr>
              <a:t>re-review</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288536"/>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28853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233672"/>
            <a:ext cx="594360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After the program, complete </a:t>
            </a:r>
            <a:pPr indent="0" marL="0">
              <a:buNone/>
            </a:pPr>
            <a:r>
              <a:rPr lang="en-US" sz="1300" b="1" dirty="0">
                <a:solidFill>
                  <a:srgbClr val="002D6A"/>
                </a:solidFill>
                <a:latin typeface="Montserrat" pitchFamily="34" charset="0"/>
                <a:ea typeface="Montserrat" pitchFamily="34" charset="-122"/>
                <a:cs typeface="Montserrat" pitchFamily="34" charset="-120"/>
              </a:rPr>
              <a:t>Evaluation &amp; Report</a:t>
            </a:r>
            <a:pPr indent="0" marL="0">
              <a:buNone/>
            </a:pPr>
            <a:r>
              <a:rPr lang="en-US" sz="1300" dirty="0">
                <a:solidFill>
                  <a:srgbClr val="14213D"/>
                </a:solidFill>
                <a:latin typeface="Montserrat" pitchFamily="34" charset="0"/>
                <a:ea typeface="Montserrat" pitchFamily="34" charset="-122"/>
                <a:cs typeface="Montserrat" pitchFamily="34" charset="-120"/>
              </a:rPr>
              <a:t>: attendance, actual expenses, results, feedback, photos — click </a:t>
            </a:r>
            <a:pPr indent="0" marL="0">
              <a:buNone/>
            </a:pPr>
            <a:r>
              <a:rPr lang="en-US" sz="1300" b="1" dirty="0">
                <a:solidFill>
                  <a:srgbClr val="002D6A"/>
                </a:solidFill>
                <a:latin typeface="Montserrat" pitchFamily="34" charset="0"/>
                <a:ea typeface="Montserrat" pitchFamily="34" charset="-122"/>
                <a:cs typeface="Montserrat" pitchFamily="34" charset="-120"/>
              </a:rPr>
              <a:t>Save evaluation</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20" name="Shape 18"/>
          <p:cNvSpPr/>
          <p:nvPr/>
        </p:nvSpPr>
        <p:spPr>
          <a:xfrm>
            <a:off x="548640" y="4910328"/>
            <a:ext cx="347472" cy="347472"/>
          </a:xfrm>
          <a:prstGeom prst="ellipse">
            <a:avLst/>
          </a:prstGeom>
          <a:solidFill>
            <a:srgbClr val="002D6A"/>
          </a:solidFill>
          <a:ln w="12700">
            <a:solidFill>
              <a:srgbClr val="FFFFFF"/>
            </a:solidFill>
            <a:prstDash val="solid"/>
          </a:ln>
        </p:spPr>
      </p:sp>
      <p:sp>
        <p:nvSpPr>
          <p:cNvPr id="21" name="Text 19"/>
          <p:cNvSpPr/>
          <p:nvPr/>
        </p:nvSpPr>
        <p:spPr>
          <a:xfrm>
            <a:off x="548640" y="491032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6</a:t>
            </a:r>
            <a:endParaRPr lang="en-US" sz="1200" dirty="0"/>
          </a:p>
        </p:txBody>
      </p:sp>
      <p:sp>
        <p:nvSpPr>
          <p:cNvPr id="22" name="Text 20"/>
          <p:cNvSpPr/>
          <p:nvPr/>
        </p:nvSpPr>
        <p:spPr>
          <a:xfrm>
            <a:off x="1005840" y="4855464"/>
            <a:ext cx="594360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Use </a:t>
            </a:r>
            <a:pPr indent="0" marL="0">
              <a:buNone/>
            </a:pPr>
            <a:r>
              <a:rPr lang="en-US" sz="1300" b="1" dirty="0">
                <a:solidFill>
                  <a:srgbClr val="002D6A"/>
                </a:solidFill>
                <a:latin typeface="Montserrat" pitchFamily="34" charset="0"/>
                <a:ea typeface="Montserrat" pitchFamily="34" charset="-122"/>
                <a:cs typeface="Montserrat" pitchFamily="34" charset="-120"/>
              </a:rPr>
              <a:t>Duplicate</a:t>
            </a:r>
            <a:pPr indent="0" marL="0">
              <a:buNone/>
            </a:pPr>
            <a:r>
              <a:rPr lang="en-US" sz="1300" dirty="0">
                <a:solidFill>
                  <a:srgbClr val="14213D"/>
                </a:solidFill>
                <a:latin typeface="Montserrat" pitchFamily="34" charset="0"/>
                <a:ea typeface="Montserrat" pitchFamily="34" charset="-122"/>
                <a:cs typeface="Montserrat" pitchFamily="34" charset="-120"/>
              </a:rPr>
              <a:t> or </a:t>
            </a:r>
            <a:pPr indent="0" marL="0">
              <a:buNone/>
            </a:pPr>
            <a:r>
              <a:rPr lang="en-US" sz="1300" b="1" dirty="0">
                <a:solidFill>
                  <a:srgbClr val="002D6A"/>
                </a:solidFill>
                <a:latin typeface="Montserrat" pitchFamily="34" charset="0"/>
                <a:ea typeface="Montserrat" pitchFamily="34" charset="-122"/>
                <a:cs typeface="Montserrat" pitchFamily="34" charset="-120"/>
              </a:rPr>
              <a:t>Templates → Use</a:t>
            </a:r>
            <a:pPr indent="0" marL="0">
              <a:buNone/>
            </a:pPr>
            <a:r>
              <a:rPr lang="en-US" sz="1300" dirty="0">
                <a:solidFill>
                  <a:srgbClr val="14213D"/>
                </a:solidFill>
                <a:latin typeface="Montserrat" pitchFamily="34" charset="0"/>
                <a:ea typeface="Montserrat" pitchFamily="34" charset="-122"/>
                <a:cs typeface="Montserrat" pitchFamily="34" charset="-120"/>
              </a:rPr>
              <a:t> to reuse a great program.</a:t>
            </a:r>
            <a:endParaRPr lang="en-US" sz="1300" dirty="0"/>
          </a:p>
        </p:txBody>
      </p:sp>
      <p:sp>
        <p:nvSpPr>
          <p:cNvPr id="23" name="Shape 21"/>
          <p:cNvSpPr/>
          <p:nvPr/>
        </p:nvSpPr>
        <p:spPr>
          <a:xfrm>
            <a:off x="7178040" y="1783080"/>
            <a:ext cx="4480560" cy="2926080"/>
          </a:xfrm>
          <a:prstGeom prst="roundRect">
            <a:avLst>
              <a:gd name="adj" fmla="val 1875"/>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24" name="Shape 22"/>
          <p:cNvSpPr/>
          <p:nvPr/>
        </p:nvSpPr>
        <p:spPr>
          <a:xfrm>
            <a:off x="7178040" y="1783080"/>
            <a:ext cx="1075334" cy="2926080"/>
          </a:xfrm>
          <a:prstGeom prst="rect">
            <a:avLst/>
          </a:prstGeom>
          <a:solidFill>
            <a:srgbClr val="002D6A"/>
          </a:solidFill>
          <a:ln w="12700">
            <a:solidFill>
              <a:srgbClr val="002D6A"/>
            </a:solidFill>
            <a:prstDash val="solid"/>
          </a:ln>
        </p:spPr>
      </p:sp>
      <p:pic>
        <p:nvPicPr>
          <p:cNvPr id="25" name="Image 0" descr="C:\Users\brian\AppData\Local\Temp\kilo\ppt\img\logo-white.png">    </p:cNvPr>
          <p:cNvPicPr>
            <a:picLocks noChangeAspect="1"/>
          </p:cNvPicPr>
          <p:nvPr/>
        </p:nvPicPr>
        <p:blipFill>
          <a:blip r:embed="rId1"/>
          <a:stretch>
            <a:fillRect/>
          </a:stretch>
        </p:blipFill>
        <p:spPr>
          <a:xfrm>
            <a:off x="7287768" y="1892808"/>
            <a:ext cx="855878" cy="333793"/>
          </a:xfrm>
          <a:prstGeom prst="rect">
            <a:avLst/>
          </a:prstGeom>
        </p:spPr>
      </p:pic>
      <p:sp>
        <p:nvSpPr>
          <p:cNvPr id="26" name="Text 23"/>
          <p:cNvSpPr/>
          <p:nvPr/>
        </p:nvSpPr>
        <p:spPr>
          <a:xfrm>
            <a:off x="7287768" y="235915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27" name="Text 24"/>
          <p:cNvSpPr/>
          <p:nvPr/>
        </p:nvSpPr>
        <p:spPr>
          <a:xfrm>
            <a:off x="7287768" y="260604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28" name="Shape 25"/>
          <p:cNvSpPr/>
          <p:nvPr/>
        </p:nvSpPr>
        <p:spPr>
          <a:xfrm>
            <a:off x="7178040" y="2852928"/>
            <a:ext cx="1075334" cy="237744"/>
          </a:xfrm>
          <a:prstGeom prst="rect">
            <a:avLst/>
          </a:prstGeom>
          <a:solidFill>
            <a:srgbClr val="F99239"/>
          </a:solidFill>
          <a:ln w="12700">
            <a:solidFill>
              <a:srgbClr val="F99239"/>
            </a:solidFill>
            <a:prstDash val="solid"/>
          </a:ln>
        </p:spPr>
      </p:sp>
      <p:sp>
        <p:nvSpPr>
          <p:cNvPr id="29" name="Text 26"/>
          <p:cNvSpPr/>
          <p:nvPr/>
        </p:nvSpPr>
        <p:spPr>
          <a:xfrm>
            <a:off x="7287768" y="2852928"/>
            <a:ext cx="938174"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30" name="Text 27"/>
          <p:cNvSpPr/>
          <p:nvPr/>
        </p:nvSpPr>
        <p:spPr>
          <a:xfrm>
            <a:off x="7287768" y="3099816"/>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31" name="Text 28"/>
          <p:cNvSpPr/>
          <p:nvPr/>
        </p:nvSpPr>
        <p:spPr>
          <a:xfrm>
            <a:off x="7287768" y="3346704"/>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32" name="Text 29"/>
          <p:cNvSpPr/>
          <p:nvPr/>
        </p:nvSpPr>
        <p:spPr>
          <a:xfrm>
            <a:off x="7287768" y="359359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33" name="Text 30"/>
          <p:cNvSpPr/>
          <p:nvPr/>
        </p:nvSpPr>
        <p:spPr>
          <a:xfrm>
            <a:off x="7287768" y="384048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34" name="Text 31"/>
          <p:cNvSpPr/>
          <p:nvPr/>
        </p:nvSpPr>
        <p:spPr>
          <a:xfrm>
            <a:off x="7287768" y="4087368"/>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35" name="Shape 32"/>
          <p:cNvSpPr/>
          <p:nvPr/>
        </p:nvSpPr>
        <p:spPr>
          <a:xfrm>
            <a:off x="8253374" y="1783080"/>
            <a:ext cx="3405226" cy="347472"/>
          </a:xfrm>
          <a:prstGeom prst="rect">
            <a:avLst/>
          </a:prstGeom>
          <a:solidFill>
            <a:srgbClr val="FFFFFF"/>
          </a:solidFill>
          <a:ln w="12700">
            <a:solidFill>
              <a:srgbClr val="E2E8F0"/>
            </a:solidFill>
            <a:prstDash val="solid"/>
          </a:ln>
        </p:spPr>
      </p:sp>
      <p:sp>
        <p:nvSpPr>
          <p:cNvPr id="36" name="Text 33"/>
          <p:cNvSpPr/>
          <p:nvPr/>
        </p:nvSpPr>
        <p:spPr>
          <a:xfrm>
            <a:off x="8390534"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37" name="Text 34"/>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38" name="Shape 35"/>
          <p:cNvSpPr/>
          <p:nvPr/>
        </p:nvSpPr>
        <p:spPr>
          <a:xfrm>
            <a:off x="8417966" y="2286000"/>
            <a:ext cx="3076042" cy="2240280"/>
          </a:xfrm>
          <a:prstGeom prst="rect">
            <a:avLst/>
          </a:prstGeom>
          <a:solidFill>
            <a:srgbClr val="FFFFFF"/>
          </a:solidFill>
          <a:ln w="12700">
            <a:solidFill>
              <a:srgbClr val="E2E8F0"/>
            </a:solidFill>
            <a:prstDash val="solid"/>
          </a:ln>
        </p:spPr>
      </p:sp>
      <p:sp>
        <p:nvSpPr>
          <p:cNvPr id="39" name="Text 36"/>
          <p:cNvSpPr/>
          <p:nvPr/>
        </p:nvSpPr>
        <p:spPr>
          <a:xfrm>
            <a:off x="8527694" y="2331720"/>
            <a:ext cx="1613002"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CRAFT NIGHT · APPROVED</a:t>
            </a:r>
            <a:endParaRPr lang="en-US" sz="900" dirty="0"/>
          </a:p>
        </p:txBody>
      </p:sp>
      <p:sp>
        <p:nvSpPr>
          <p:cNvPr id="40" name="Shape 37"/>
          <p:cNvSpPr/>
          <p:nvPr/>
        </p:nvSpPr>
        <p:spPr>
          <a:xfrm>
            <a:off x="8509406" y="2724912"/>
            <a:ext cx="2893162" cy="310896"/>
          </a:xfrm>
          <a:prstGeom prst="rect">
            <a:avLst/>
          </a:prstGeom>
          <a:solidFill>
            <a:srgbClr val="F8FAFC"/>
          </a:solidFill>
          <a:ln w="12700">
            <a:solidFill>
              <a:srgbClr val="E2E8F0"/>
            </a:solidFill>
            <a:prstDash val="solid"/>
          </a:ln>
        </p:spPr>
      </p:sp>
      <p:sp>
        <p:nvSpPr>
          <p:cNvPr id="41" name="Text 38"/>
          <p:cNvSpPr/>
          <p:nvPr/>
        </p:nvSpPr>
        <p:spPr>
          <a:xfrm>
            <a:off x="8600846" y="272491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Overview · Checklist · Evaluation &amp; Report</a:t>
            </a:r>
            <a:endParaRPr lang="en-US" sz="800" dirty="0"/>
          </a:p>
        </p:txBody>
      </p:sp>
      <p:sp>
        <p:nvSpPr>
          <p:cNvPr id="42" name="Shape 39"/>
          <p:cNvSpPr/>
          <p:nvPr/>
        </p:nvSpPr>
        <p:spPr>
          <a:xfrm>
            <a:off x="8509406" y="3090672"/>
            <a:ext cx="2893162" cy="310896"/>
          </a:xfrm>
          <a:prstGeom prst="rect">
            <a:avLst/>
          </a:prstGeom>
          <a:solidFill>
            <a:srgbClr val="FFFFFF"/>
          </a:solidFill>
          <a:ln w="12700">
            <a:solidFill>
              <a:srgbClr val="E2E8F0"/>
            </a:solidFill>
            <a:prstDash val="solid"/>
          </a:ln>
        </p:spPr>
      </p:sp>
      <p:sp>
        <p:nvSpPr>
          <p:cNvPr id="43" name="Text 40"/>
          <p:cNvSpPr/>
          <p:nvPr/>
        </p:nvSpPr>
        <p:spPr>
          <a:xfrm>
            <a:off x="8600846" y="309067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Submit proposal — Done</a:t>
            </a:r>
            <a:endParaRPr lang="en-US" sz="800" dirty="0"/>
          </a:p>
        </p:txBody>
      </p:sp>
      <p:sp>
        <p:nvSpPr>
          <p:cNvPr id="44" name="Shape 41"/>
          <p:cNvSpPr/>
          <p:nvPr/>
        </p:nvSpPr>
        <p:spPr>
          <a:xfrm>
            <a:off x="8509406" y="3456432"/>
            <a:ext cx="2893162" cy="310896"/>
          </a:xfrm>
          <a:prstGeom prst="rect">
            <a:avLst/>
          </a:prstGeom>
          <a:solidFill>
            <a:srgbClr val="F8FAFC"/>
          </a:solidFill>
          <a:ln w="12700">
            <a:solidFill>
              <a:srgbClr val="E2E8F0"/>
            </a:solidFill>
            <a:prstDash val="solid"/>
          </a:ln>
        </p:spPr>
      </p:sp>
      <p:sp>
        <p:nvSpPr>
          <p:cNvPr id="45" name="Text 42"/>
          <p:cNvSpPr/>
          <p:nvPr/>
        </p:nvSpPr>
        <p:spPr>
          <a:xfrm>
            <a:off x="8600846" y="345643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Order supplies — In progress</a:t>
            </a:r>
            <a:endParaRPr lang="en-US" sz="800" dirty="0"/>
          </a:p>
        </p:txBody>
      </p:sp>
      <p:sp>
        <p:nvSpPr>
          <p:cNvPr id="46" name="Shape 43"/>
          <p:cNvSpPr/>
          <p:nvPr/>
        </p:nvSpPr>
        <p:spPr>
          <a:xfrm>
            <a:off x="8509406" y="3822192"/>
            <a:ext cx="2893162" cy="310896"/>
          </a:xfrm>
          <a:prstGeom prst="rect">
            <a:avLst/>
          </a:prstGeom>
          <a:solidFill>
            <a:srgbClr val="FFFFFF"/>
          </a:solidFill>
          <a:ln w="12700">
            <a:solidFill>
              <a:srgbClr val="E2E8F0"/>
            </a:solidFill>
            <a:prstDash val="solid"/>
          </a:ln>
        </p:spPr>
      </p:sp>
      <p:sp>
        <p:nvSpPr>
          <p:cNvPr id="47" name="Text 44"/>
          <p:cNvSpPr/>
          <p:nvPr/>
        </p:nvSpPr>
        <p:spPr>
          <a:xfrm>
            <a:off x="8600846" y="382219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Submit program evaluation — Not started</a:t>
            </a:r>
            <a:endParaRPr lang="en-US" sz="800" dirty="0"/>
          </a:p>
        </p:txBody>
      </p:sp>
      <p:sp>
        <p:nvSpPr>
          <p:cNvPr id="48" name="Shape 45"/>
          <p:cNvSpPr/>
          <p:nvPr/>
        </p:nvSpPr>
        <p:spPr>
          <a:xfrm>
            <a:off x="7178040" y="4937760"/>
            <a:ext cx="4480560" cy="868680"/>
          </a:xfrm>
          <a:prstGeom prst="roundRect">
            <a:avLst>
              <a:gd name="adj" fmla="val 8421"/>
            </a:avLst>
          </a:prstGeom>
          <a:solidFill>
            <a:srgbClr val="FFF7ED"/>
          </a:solidFill>
          <a:ln w="12700">
            <a:solidFill>
              <a:srgbClr val="FED7AA"/>
            </a:solidFill>
            <a:prstDash val="solid"/>
          </a:ln>
        </p:spPr>
      </p:sp>
      <p:sp>
        <p:nvSpPr>
          <p:cNvPr id="49" name="Shape 46"/>
          <p:cNvSpPr/>
          <p:nvPr/>
        </p:nvSpPr>
        <p:spPr>
          <a:xfrm>
            <a:off x="7178040" y="4937760"/>
            <a:ext cx="73152" cy="868680"/>
          </a:xfrm>
          <a:prstGeom prst="rect">
            <a:avLst/>
          </a:prstGeom>
          <a:solidFill>
            <a:srgbClr val="F99239"/>
          </a:solidFill>
          <a:ln w="12700">
            <a:solidFill>
              <a:srgbClr val="F99239"/>
            </a:solidFill>
            <a:prstDash val="solid"/>
          </a:ln>
        </p:spPr>
      </p:sp>
      <p:sp>
        <p:nvSpPr>
          <p:cNvPr id="50" name="Text 47"/>
          <p:cNvSpPr/>
          <p:nvPr/>
        </p:nvSpPr>
        <p:spPr>
          <a:xfrm>
            <a:off x="7360920" y="4937760"/>
            <a:ext cx="4206240" cy="86868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Only RECs approve, request changes, set the approved budget or mark programs completed.</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TEAM &amp; PROGRAMS</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Committees &amp; meeting minutes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Open </a:t>
            </a:r>
            <a:pPr indent="0" marL="0">
              <a:buNone/>
            </a:pPr>
            <a:r>
              <a:rPr lang="en-US" sz="1300" b="1" dirty="0">
                <a:solidFill>
                  <a:srgbClr val="002D6A"/>
                </a:solidFill>
                <a:latin typeface="Montserrat" pitchFamily="34" charset="0"/>
                <a:ea typeface="Montserrat" pitchFamily="34" charset="-122"/>
                <a:cs typeface="Montserrat" pitchFamily="34" charset="-120"/>
              </a:rPr>
              <a:t>Committees</a:t>
            </a:r>
            <a:pPr indent="0" marL="0">
              <a:buNone/>
            </a:pPr>
            <a:r>
              <a:rPr lang="en-US" sz="1300" dirty="0">
                <a:solidFill>
                  <a:srgbClr val="14213D"/>
                </a:solidFill>
                <a:latin typeface="Montserrat" pitchFamily="34" charset="0"/>
                <a:ea typeface="Montserrat" pitchFamily="34" charset="-122"/>
                <a:cs typeface="Montserrat" pitchFamily="34" charset="-120"/>
              </a:rPr>
              <a:t> to see each committee’s advisors, lead, meeting frequency and members.</a:t>
            </a:r>
            <a:endParaRPr lang="en-US" sz="1300" dirty="0"/>
          </a:p>
        </p:txBody>
      </p:sp>
      <p:sp>
        <p:nvSpPr>
          <p:cNvPr id="8" name="Shape 6"/>
          <p:cNvSpPr/>
          <p:nvPr/>
        </p:nvSpPr>
        <p:spPr>
          <a:xfrm>
            <a:off x="548640" y="2514600"/>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1460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459736"/>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Meeting Minutes</a:t>
            </a:r>
            <a:pPr indent="0" marL="0">
              <a:buNone/>
            </a:pPr>
            <a:r>
              <a:rPr lang="en-US" sz="1300" dirty="0">
                <a:solidFill>
                  <a:srgbClr val="14213D"/>
                </a:solidFill>
                <a:latin typeface="Montserrat" pitchFamily="34" charset="0"/>
                <a:ea typeface="Montserrat" pitchFamily="34" charset="-122"/>
                <a:cs typeface="Montserrat" pitchFamily="34" charset="-120"/>
              </a:rPr>
              <a:t>, then </a:t>
            </a:r>
            <a:pPr indent="0" marL="0">
              <a:buNone/>
            </a:pPr>
            <a:r>
              <a:rPr lang="en-US" sz="1300" b="1" dirty="0">
                <a:solidFill>
                  <a:srgbClr val="002D6A"/>
                </a:solidFill>
                <a:latin typeface="Montserrat" pitchFamily="34" charset="0"/>
                <a:ea typeface="Montserrat" pitchFamily="34" charset="-122"/>
                <a:cs typeface="Montserrat" pitchFamily="34" charset="-120"/>
              </a:rPr>
              <a:t>+ Add Meeting</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1" name="Shape 9"/>
          <p:cNvSpPr/>
          <p:nvPr/>
        </p:nvSpPr>
        <p:spPr>
          <a:xfrm>
            <a:off x="548640" y="3227832"/>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22783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172968"/>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Step 1: enter the </a:t>
            </a:r>
            <a:pPr indent="0" marL="0">
              <a:buNone/>
            </a:pPr>
            <a:r>
              <a:rPr lang="en-US" sz="1300" b="1" dirty="0">
                <a:solidFill>
                  <a:srgbClr val="002D6A"/>
                </a:solidFill>
                <a:latin typeface="Montserrat" pitchFamily="34" charset="0"/>
                <a:ea typeface="Montserrat" pitchFamily="34" charset="-122"/>
                <a:cs typeface="Montserrat" pitchFamily="34" charset="-120"/>
              </a:rPr>
              <a:t>Meeting Date</a:t>
            </a:r>
            <a:pPr indent="0" marL="0">
              <a:buNone/>
            </a:pPr>
            <a:r>
              <a:rPr lang="en-US" sz="1300" dirty="0">
                <a:solidFill>
                  <a:srgbClr val="14213D"/>
                </a:solidFill>
                <a:latin typeface="Montserrat" pitchFamily="34" charset="0"/>
                <a:ea typeface="Montserrat" pitchFamily="34" charset="-122"/>
                <a:cs typeface="Montserrat" pitchFamily="34" charset="-120"/>
              </a:rPr>
              <a:t> and </a:t>
            </a:r>
            <a:pPr indent="0" marL="0">
              <a:buNone/>
            </a:pPr>
            <a:r>
              <a:rPr lang="en-US" sz="1300" b="1" dirty="0">
                <a:solidFill>
                  <a:srgbClr val="002D6A"/>
                </a:solidFill>
                <a:latin typeface="Montserrat" pitchFamily="34" charset="0"/>
                <a:ea typeface="Montserrat" pitchFamily="34" charset="-122"/>
                <a:cs typeface="Montserrat" pitchFamily="34" charset="-120"/>
              </a:rPr>
              <a:t>Agenda / Notes</a:t>
            </a:r>
            <a:pPr indent="0" marL="0">
              <a:buNone/>
            </a:pPr>
            <a:r>
              <a:rPr lang="en-US" sz="1300" dirty="0">
                <a:solidFill>
                  <a:srgbClr val="14213D"/>
                </a:solidFill>
                <a:latin typeface="Montserrat" pitchFamily="34" charset="0"/>
                <a:ea typeface="Montserrat" pitchFamily="34" charset="-122"/>
                <a:cs typeface="Montserrat" pitchFamily="34" charset="-120"/>
              </a:rPr>
              <a:t> (required).</a:t>
            </a:r>
            <a:endParaRPr lang="en-US" sz="1300" dirty="0"/>
          </a:p>
        </p:txBody>
      </p:sp>
      <p:sp>
        <p:nvSpPr>
          <p:cNvPr id="14" name="Shape 12"/>
          <p:cNvSpPr/>
          <p:nvPr/>
        </p:nvSpPr>
        <p:spPr>
          <a:xfrm>
            <a:off x="548640" y="3941064"/>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94106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886200"/>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Step 2: add action items — </a:t>
            </a:r>
            <a:pPr indent="0" marL="0">
              <a:buNone/>
            </a:pPr>
            <a:r>
              <a:rPr lang="en-US" sz="1300" b="1" dirty="0">
                <a:solidFill>
                  <a:srgbClr val="002D6A"/>
                </a:solidFill>
                <a:latin typeface="Montserrat" pitchFamily="34" charset="0"/>
                <a:ea typeface="Montserrat" pitchFamily="34" charset="-122"/>
                <a:cs typeface="Montserrat" pitchFamily="34" charset="-120"/>
              </a:rPr>
              <a:t>Task, Assigned To, Due Date</a:t>
            </a:r>
            <a:pPr indent="0" marL="0">
              <a:buNone/>
            </a:pPr>
            <a:r>
              <a:rPr lang="en-US" sz="1300" dirty="0">
                <a:solidFill>
                  <a:srgbClr val="14213D"/>
                </a:solidFill>
                <a:latin typeface="Montserrat" pitchFamily="34" charset="0"/>
                <a:ea typeface="Montserrat" pitchFamily="34" charset="-122"/>
                <a:cs typeface="Montserrat" pitchFamily="34" charset="-120"/>
              </a:rPr>
              <a:t> (</a:t>
            </a:r>
            <a:pPr indent="0" marL="0">
              <a:buNone/>
            </a:pPr>
            <a:r>
              <a:rPr lang="en-US" sz="1300" b="1" dirty="0">
                <a:solidFill>
                  <a:srgbClr val="002D6A"/>
                </a:solidFill>
                <a:latin typeface="Montserrat" pitchFamily="34" charset="0"/>
                <a:ea typeface="Montserrat" pitchFamily="34" charset="-122"/>
                <a:cs typeface="Montserrat" pitchFamily="34" charset="-120"/>
              </a:rPr>
              <a:t>+ Add Action Item</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654296"/>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65429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599432"/>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Step 3: review and click </a:t>
            </a:r>
            <a:pPr indent="0" marL="0">
              <a:buNone/>
            </a:pPr>
            <a:r>
              <a:rPr lang="en-US" sz="1300" b="1" dirty="0">
                <a:solidFill>
                  <a:srgbClr val="002D6A"/>
                </a:solidFill>
                <a:latin typeface="Montserrat" pitchFamily="34" charset="0"/>
                <a:ea typeface="Montserrat" pitchFamily="34" charset="-122"/>
                <a:cs typeface="Montserrat" pitchFamily="34" charset="-120"/>
              </a:rPr>
              <a:t>Save Minutes</a:t>
            </a:r>
            <a:pPr indent="0" marL="0">
              <a:buNone/>
            </a:pPr>
            <a:r>
              <a:rPr lang="en-US" sz="1300" dirty="0">
                <a:solidFill>
                  <a:srgbClr val="14213D"/>
                </a:solidFill>
                <a:latin typeface="Montserrat" pitchFamily="34" charset="0"/>
                <a:ea typeface="Montserrat" pitchFamily="34" charset="-122"/>
                <a:cs typeface="Montserrat" pitchFamily="34" charset="-120"/>
              </a:rPr>
              <a:t>. You can edit or delete minutes </a:t>
            </a:r>
            <a:pPr indent="0" marL="0">
              <a:buNone/>
            </a:pPr>
            <a:r>
              <a:rPr lang="en-US" sz="1300" b="1" dirty="0">
                <a:solidFill>
                  <a:srgbClr val="002D6A"/>
                </a:solidFill>
                <a:latin typeface="Montserrat" pitchFamily="34" charset="0"/>
                <a:ea typeface="Montserrat" pitchFamily="34" charset="-122"/>
                <a:cs typeface="Montserrat" pitchFamily="34" charset="-120"/>
              </a:rPr>
              <a:t>you</a:t>
            </a:r>
            <a:pPr indent="0" marL="0">
              <a:buNone/>
            </a:pPr>
            <a:r>
              <a:rPr lang="en-US" sz="1300" dirty="0">
                <a:solidFill>
                  <a:srgbClr val="14213D"/>
                </a:solidFill>
                <a:latin typeface="Montserrat" pitchFamily="34" charset="0"/>
                <a:ea typeface="Montserrat" pitchFamily="34" charset="-122"/>
                <a:cs typeface="Montserrat" pitchFamily="34" charset="-120"/>
              </a:rPr>
              <a:t> logged.</a:t>
            </a:r>
            <a:endParaRPr lang="en-US" sz="1300" dirty="0"/>
          </a:p>
        </p:txBody>
      </p:sp>
      <p:sp>
        <p:nvSpPr>
          <p:cNvPr id="20" name="Shape 18"/>
          <p:cNvSpPr/>
          <p:nvPr/>
        </p:nvSpPr>
        <p:spPr>
          <a:xfrm>
            <a:off x="6675120" y="1783080"/>
            <a:ext cx="4983480" cy="3063240"/>
          </a:xfrm>
          <a:prstGeom prst="roundRect">
            <a:avLst>
              <a:gd name="adj" fmla="val 1791"/>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21" name="Shape 19"/>
          <p:cNvSpPr/>
          <p:nvPr/>
        </p:nvSpPr>
        <p:spPr>
          <a:xfrm>
            <a:off x="6675120" y="1783080"/>
            <a:ext cx="1196035" cy="3063240"/>
          </a:xfrm>
          <a:prstGeom prst="rect">
            <a:avLst/>
          </a:prstGeom>
          <a:solidFill>
            <a:srgbClr val="002D6A"/>
          </a:solidFill>
          <a:ln w="12700">
            <a:solidFill>
              <a:srgbClr val="002D6A"/>
            </a:solidFill>
            <a:prstDash val="solid"/>
          </a:ln>
        </p:spPr>
      </p:sp>
      <p:pic>
        <p:nvPicPr>
          <p:cNvPr id="22" name="Image 0" descr="C:\Users\brian\AppData\Local\Temp\kilo\ppt\img\logo-white.png">    </p:cNvPr>
          <p:cNvPicPr>
            <a:picLocks noChangeAspect="1"/>
          </p:cNvPicPr>
          <p:nvPr/>
        </p:nvPicPr>
        <p:blipFill>
          <a:blip r:embed="rId1"/>
          <a:stretch>
            <a:fillRect/>
          </a:stretch>
        </p:blipFill>
        <p:spPr>
          <a:xfrm>
            <a:off x="6784848" y="1892808"/>
            <a:ext cx="976579" cy="380866"/>
          </a:xfrm>
          <a:prstGeom prst="rect">
            <a:avLst/>
          </a:prstGeom>
        </p:spPr>
      </p:pic>
      <p:sp>
        <p:nvSpPr>
          <p:cNvPr id="23" name="Text 20"/>
          <p:cNvSpPr/>
          <p:nvPr/>
        </p:nvSpPr>
        <p:spPr>
          <a:xfrm>
            <a:off x="6784848" y="235915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24" name="Text 21"/>
          <p:cNvSpPr/>
          <p:nvPr/>
        </p:nvSpPr>
        <p:spPr>
          <a:xfrm>
            <a:off x="6784848" y="260604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25" name="Text 22"/>
          <p:cNvSpPr/>
          <p:nvPr/>
        </p:nvSpPr>
        <p:spPr>
          <a:xfrm>
            <a:off x="6784848" y="285292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26" name="Shape 23"/>
          <p:cNvSpPr/>
          <p:nvPr/>
        </p:nvSpPr>
        <p:spPr>
          <a:xfrm>
            <a:off x="6675120" y="3099816"/>
            <a:ext cx="1196035" cy="237744"/>
          </a:xfrm>
          <a:prstGeom prst="rect">
            <a:avLst/>
          </a:prstGeom>
          <a:solidFill>
            <a:srgbClr val="F99239"/>
          </a:solidFill>
          <a:ln w="12700">
            <a:solidFill>
              <a:srgbClr val="F99239"/>
            </a:solidFill>
            <a:prstDash val="solid"/>
          </a:ln>
        </p:spPr>
      </p:sp>
      <p:sp>
        <p:nvSpPr>
          <p:cNvPr id="27" name="Text 24"/>
          <p:cNvSpPr/>
          <p:nvPr/>
        </p:nvSpPr>
        <p:spPr>
          <a:xfrm>
            <a:off x="6784848" y="3099816"/>
            <a:ext cx="1058875"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28" name="Text 25"/>
          <p:cNvSpPr/>
          <p:nvPr/>
        </p:nvSpPr>
        <p:spPr>
          <a:xfrm>
            <a:off x="6784848" y="3346704"/>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29" name="Text 26"/>
          <p:cNvSpPr/>
          <p:nvPr/>
        </p:nvSpPr>
        <p:spPr>
          <a:xfrm>
            <a:off x="6784848" y="359359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30" name="Text 27"/>
          <p:cNvSpPr/>
          <p:nvPr/>
        </p:nvSpPr>
        <p:spPr>
          <a:xfrm>
            <a:off x="6784848" y="384048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31" name="Text 28"/>
          <p:cNvSpPr/>
          <p:nvPr/>
        </p:nvSpPr>
        <p:spPr>
          <a:xfrm>
            <a:off x="6784848" y="408736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32" name="Text 29"/>
          <p:cNvSpPr/>
          <p:nvPr/>
        </p:nvSpPr>
        <p:spPr>
          <a:xfrm>
            <a:off x="6784848" y="433425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33" name="Shape 30"/>
          <p:cNvSpPr/>
          <p:nvPr/>
        </p:nvSpPr>
        <p:spPr>
          <a:xfrm>
            <a:off x="7871155" y="1783080"/>
            <a:ext cx="3787445" cy="347472"/>
          </a:xfrm>
          <a:prstGeom prst="rect">
            <a:avLst/>
          </a:prstGeom>
          <a:solidFill>
            <a:srgbClr val="FFFFFF"/>
          </a:solidFill>
          <a:ln w="12700">
            <a:solidFill>
              <a:srgbClr val="E2E8F0"/>
            </a:solidFill>
            <a:prstDash val="solid"/>
          </a:ln>
        </p:spPr>
      </p:sp>
      <p:sp>
        <p:nvSpPr>
          <p:cNvPr id="34" name="Text 31"/>
          <p:cNvSpPr/>
          <p:nvPr/>
        </p:nvSpPr>
        <p:spPr>
          <a:xfrm>
            <a:off x="8008315"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35" name="Text 32"/>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36" name="Shape 33"/>
          <p:cNvSpPr/>
          <p:nvPr/>
        </p:nvSpPr>
        <p:spPr>
          <a:xfrm>
            <a:off x="8035747" y="2286000"/>
            <a:ext cx="3458261" cy="2377440"/>
          </a:xfrm>
          <a:prstGeom prst="rect">
            <a:avLst/>
          </a:prstGeom>
          <a:solidFill>
            <a:srgbClr val="FFFFFF"/>
          </a:solidFill>
          <a:ln w="12700">
            <a:solidFill>
              <a:srgbClr val="E2E8F0"/>
            </a:solidFill>
            <a:prstDash val="solid"/>
          </a:ln>
        </p:spPr>
      </p:sp>
      <p:sp>
        <p:nvSpPr>
          <p:cNvPr id="37" name="Text 34"/>
          <p:cNvSpPr/>
          <p:nvPr/>
        </p:nvSpPr>
        <p:spPr>
          <a:xfrm>
            <a:off x="8145475" y="2331720"/>
            <a:ext cx="1995221"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COLLATERAL COMMITTEES</a:t>
            </a:r>
            <a:endParaRPr lang="en-US" sz="900" dirty="0"/>
          </a:p>
        </p:txBody>
      </p:sp>
      <p:sp>
        <p:nvSpPr>
          <p:cNvPr id="38" name="Shape 35"/>
          <p:cNvSpPr/>
          <p:nvPr/>
        </p:nvSpPr>
        <p:spPr>
          <a:xfrm>
            <a:off x="8127187" y="2724912"/>
            <a:ext cx="3275381" cy="310896"/>
          </a:xfrm>
          <a:prstGeom prst="rect">
            <a:avLst/>
          </a:prstGeom>
          <a:solidFill>
            <a:srgbClr val="F8FAFC"/>
          </a:solidFill>
          <a:ln w="12700">
            <a:solidFill>
              <a:srgbClr val="E2E8F0"/>
            </a:solidFill>
            <a:prstDash val="solid"/>
          </a:ln>
        </p:spPr>
      </p:sp>
      <p:sp>
        <p:nvSpPr>
          <p:cNvPr id="39" name="Text 36"/>
          <p:cNvSpPr/>
          <p:nvPr/>
        </p:nvSpPr>
        <p:spPr>
          <a:xfrm>
            <a:off x="8218627" y="272491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Open Collateral Hub →</a:t>
            </a:r>
            <a:endParaRPr lang="en-US" sz="800" dirty="0"/>
          </a:p>
        </p:txBody>
      </p:sp>
      <p:sp>
        <p:nvSpPr>
          <p:cNvPr id="40" name="Shape 37"/>
          <p:cNvSpPr/>
          <p:nvPr/>
        </p:nvSpPr>
        <p:spPr>
          <a:xfrm>
            <a:off x="8127187" y="3090672"/>
            <a:ext cx="3275381" cy="310896"/>
          </a:xfrm>
          <a:prstGeom prst="rect">
            <a:avLst/>
          </a:prstGeom>
          <a:solidFill>
            <a:srgbClr val="FFFFFF"/>
          </a:solidFill>
          <a:ln w="12700">
            <a:solidFill>
              <a:srgbClr val="E2E8F0"/>
            </a:solidFill>
            <a:prstDash val="solid"/>
          </a:ln>
        </p:spPr>
      </p:sp>
      <p:sp>
        <p:nvSpPr>
          <p:cNvPr id="41" name="Text 38"/>
          <p:cNvSpPr/>
          <p:nvPr/>
        </p:nvSpPr>
        <p:spPr>
          <a:xfrm>
            <a:off x="8218627" y="309067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Social Media Committee · Lead · Weekly</a:t>
            </a:r>
            <a:endParaRPr lang="en-US" sz="800" dirty="0"/>
          </a:p>
        </p:txBody>
      </p:sp>
      <p:sp>
        <p:nvSpPr>
          <p:cNvPr id="42" name="Shape 39"/>
          <p:cNvSpPr/>
          <p:nvPr/>
        </p:nvSpPr>
        <p:spPr>
          <a:xfrm>
            <a:off x="8127187" y="3456432"/>
            <a:ext cx="3275381" cy="310896"/>
          </a:xfrm>
          <a:prstGeom prst="rect">
            <a:avLst/>
          </a:prstGeom>
          <a:solidFill>
            <a:srgbClr val="F8FAFC"/>
          </a:solidFill>
          <a:ln w="12700">
            <a:solidFill>
              <a:srgbClr val="E2E8F0"/>
            </a:solidFill>
            <a:prstDash val="solid"/>
          </a:ln>
        </p:spPr>
      </p:sp>
      <p:sp>
        <p:nvSpPr>
          <p:cNvPr id="43" name="Text 40"/>
          <p:cNvSpPr/>
          <p:nvPr/>
        </p:nvSpPr>
        <p:spPr>
          <a:xfrm>
            <a:off x="8218627" y="345643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Members: 5 RAs   [ Meeting Minutes ]</a:t>
            </a:r>
            <a:endParaRPr lang="en-US" sz="800" dirty="0"/>
          </a:p>
        </p:txBody>
      </p:sp>
      <p:sp>
        <p:nvSpPr>
          <p:cNvPr id="44" name="Shape 41"/>
          <p:cNvSpPr/>
          <p:nvPr/>
        </p:nvSpPr>
        <p:spPr>
          <a:xfrm>
            <a:off x="8127187" y="3822192"/>
            <a:ext cx="3275381" cy="310896"/>
          </a:xfrm>
          <a:prstGeom prst="rect">
            <a:avLst/>
          </a:prstGeom>
          <a:solidFill>
            <a:srgbClr val="FFFFFF"/>
          </a:solidFill>
          <a:ln w="12700">
            <a:solidFill>
              <a:srgbClr val="E2E8F0"/>
            </a:solidFill>
            <a:prstDash val="solid"/>
          </a:ln>
        </p:spPr>
      </p:sp>
      <p:sp>
        <p:nvSpPr>
          <p:cNvPr id="45" name="Text 42"/>
          <p:cNvSpPr/>
          <p:nvPr/>
        </p:nvSpPr>
        <p:spPr>
          <a:xfrm>
            <a:off x="8218627" y="382219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Events Committee · Bi-weekly   [ Meeting Minutes ]</a:t>
            </a:r>
            <a:endParaRPr lang="en-US" sz="800" dirty="0"/>
          </a:p>
        </p:txBody>
      </p:sp>
      <p:sp>
        <p:nvSpPr>
          <p:cNvPr id="46" name="Shape 43"/>
          <p:cNvSpPr/>
          <p:nvPr/>
        </p:nvSpPr>
        <p:spPr>
          <a:xfrm>
            <a:off x="6675120" y="5074920"/>
            <a:ext cx="4983480" cy="868680"/>
          </a:xfrm>
          <a:prstGeom prst="roundRect">
            <a:avLst>
              <a:gd name="adj" fmla="val 8421"/>
            </a:avLst>
          </a:prstGeom>
          <a:solidFill>
            <a:srgbClr val="FFF7ED"/>
          </a:solidFill>
          <a:ln w="12700">
            <a:solidFill>
              <a:srgbClr val="FED7AA"/>
            </a:solidFill>
            <a:prstDash val="solid"/>
          </a:ln>
        </p:spPr>
      </p:sp>
      <p:sp>
        <p:nvSpPr>
          <p:cNvPr id="47" name="Shape 44"/>
          <p:cNvSpPr/>
          <p:nvPr/>
        </p:nvSpPr>
        <p:spPr>
          <a:xfrm>
            <a:off x="6675120" y="5074920"/>
            <a:ext cx="73152" cy="868680"/>
          </a:xfrm>
          <a:prstGeom prst="rect">
            <a:avLst/>
          </a:prstGeom>
          <a:solidFill>
            <a:srgbClr val="F99239"/>
          </a:solidFill>
          <a:ln w="12700">
            <a:solidFill>
              <a:srgbClr val="F99239"/>
            </a:solidFill>
            <a:prstDash val="solid"/>
          </a:ln>
        </p:spPr>
      </p:sp>
      <p:sp>
        <p:nvSpPr>
          <p:cNvPr id="48" name="Text 45"/>
          <p:cNvSpPr/>
          <p:nvPr/>
        </p:nvSpPr>
        <p:spPr>
          <a:xfrm>
            <a:off x="6858000" y="5074920"/>
            <a:ext cx="4709160" cy="86868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For full project tracking, use </a:t>
            </a:r>
            <a:pPr indent="0" marL="0">
              <a:buNone/>
            </a:pPr>
            <a:r>
              <a:rPr lang="en-US" sz="1100" b="1" dirty="0">
                <a:solidFill>
                  <a:srgbClr val="002D6A"/>
                </a:solidFill>
                <a:latin typeface="Montserrat" pitchFamily="34" charset="0"/>
                <a:ea typeface="Montserrat" pitchFamily="34" charset="-122"/>
                <a:cs typeface="Montserrat" pitchFamily="34" charset="-120"/>
              </a:rPr>
              <a:t>Open Collateral Hub →</a:t>
            </a:r>
            <a:pPr indent="0" marL="0">
              <a:buNone/>
            </a:pPr>
            <a:r>
              <a:rPr lang="en-US" sz="1100" dirty="0">
                <a:solidFill>
                  <a:srgbClr val="14213D"/>
                </a:solidFill>
                <a:latin typeface="Montserrat" pitchFamily="34" charset="0"/>
                <a:ea typeface="Montserrat" pitchFamily="34" charset="-122"/>
                <a:cs typeface="Montserrat" pitchFamily="34" charset="-120"/>
              </a:rPr>
              <a:t> at the top of the tab.</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D6A"/>
        </a:solidFill>
      </p:bgPr>
    </p:bg>
    <p:spTree>
      <p:nvGrpSpPr>
        <p:cNvPr id="1" name=""/>
        <p:cNvGrpSpPr/>
        <p:nvPr/>
      </p:nvGrpSpPr>
      <p:grpSpPr>
        <a:xfrm>
          <a:off x="0" y="0"/>
          <a:ext cx="0" cy="0"/>
          <a:chOff x="0" y="0"/>
          <a:chExt cx="0" cy="0"/>
        </a:xfrm>
      </p:grpSpPr>
      <p:pic>
        <p:nvPicPr>
          <p:cNvPr id="2" name="Image 0" descr="C:\Users\brian\AppData\Local\Temp\kilo\ppt\img\occ-study-students.jpg">    </p:cNvPr>
          <p:cNvPicPr>
            <a:picLocks noChangeAspect="1"/>
          </p:cNvPicPr>
          <p:nvPr/>
        </p:nvPicPr>
        <p:blipFill>
          <a:blip r:embed="rId1"/>
          <a:srcRect l="0" r="0" t="0" b="0"/>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02D6A">
              <a:alpha val="45000"/>
            </a:srgbClr>
          </a:solidFill>
          <a:ln w="12700">
            <a:solidFill>
              <a:srgbClr val="002D6A">
                <a:alpha val="0"/>
              </a:srgbClr>
            </a:solidFill>
            <a:prstDash val="solid"/>
          </a:ln>
        </p:spPr>
      </p:sp>
      <p:sp>
        <p:nvSpPr>
          <p:cNvPr id="4" name="Shape 1"/>
          <p:cNvSpPr/>
          <p:nvPr/>
        </p:nvSpPr>
        <p:spPr>
          <a:xfrm>
            <a:off x="6876288" y="0"/>
            <a:ext cx="73152" cy="6858000"/>
          </a:xfrm>
          <a:prstGeom prst="rect">
            <a:avLst/>
          </a:prstGeom>
          <a:solidFill>
            <a:srgbClr val="F99239"/>
          </a:solidFill>
          <a:ln w="12700">
            <a:solidFill>
              <a:srgbClr val="F99239"/>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640080" y="548640"/>
            <a:ext cx="1828800" cy="722376"/>
          </a:xfrm>
          <a:prstGeom prst="rect">
            <a:avLst/>
          </a:prstGeom>
        </p:spPr>
      </p:pic>
      <p:sp>
        <p:nvSpPr>
          <p:cNvPr id="6" name="Text 2"/>
          <p:cNvSpPr/>
          <p:nvPr/>
        </p:nvSpPr>
        <p:spPr>
          <a:xfrm>
            <a:off x="640080" y="2011680"/>
            <a:ext cx="2743200" cy="1097280"/>
          </a:xfrm>
          <a:prstGeom prst="rect">
            <a:avLst/>
          </a:prstGeom>
          <a:noFill/>
          <a:ln/>
        </p:spPr>
        <p:txBody>
          <a:bodyPr wrap="square" rtlCol="0" anchor="ctr"/>
          <a:lstStyle/>
          <a:p>
            <a:pPr indent="0" marL="0">
              <a:buNone/>
            </a:pPr>
            <a:r>
              <a:rPr lang="en-US" sz="7200" b="1" dirty="0">
                <a:solidFill>
                  <a:srgbClr val="F99239"/>
                </a:solidFill>
                <a:latin typeface="Montserrat" pitchFamily="34" charset="0"/>
                <a:ea typeface="Montserrat" pitchFamily="34" charset="-122"/>
                <a:cs typeface="Montserrat" pitchFamily="34" charset="-120"/>
              </a:rPr>
              <a:t>03</a:t>
            </a:r>
            <a:endParaRPr lang="en-US" sz="7200" dirty="0"/>
          </a:p>
        </p:txBody>
      </p:sp>
      <p:sp>
        <p:nvSpPr>
          <p:cNvPr id="7" name="Text 3"/>
          <p:cNvSpPr/>
          <p:nvPr/>
        </p:nvSpPr>
        <p:spPr>
          <a:xfrm>
            <a:off x="640080" y="3154680"/>
            <a:ext cx="6035040" cy="100584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Schedule &amp; On-Call</a:t>
            </a:r>
            <a:endParaRPr lang="en-US" sz="3600" dirty="0"/>
          </a:p>
        </p:txBody>
      </p:sp>
      <p:sp>
        <p:nvSpPr>
          <p:cNvPr id="8" name="Text 4"/>
          <p:cNvSpPr/>
          <p:nvPr/>
        </p:nvSpPr>
        <p:spPr>
          <a:xfrm>
            <a:off x="640080" y="4206240"/>
            <a:ext cx="5852160" cy="1097280"/>
          </a:xfrm>
          <a:prstGeom prst="rect">
            <a:avLst/>
          </a:prstGeom>
          <a:noFill/>
          <a:ln/>
        </p:spPr>
        <p:txBody>
          <a:bodyPr wrap="square" rtlCol="0" anchor="t"/>
          <a:lstStyle/>
          <a:p>
            <a:pPr indent="0" marL="0">
              <a:buNone/>
            </a:pPr>
            <a:r>
              <a:rPr lang="en-US" sz="1500" dirty="0">
                <a:solidFill>
                  <a:srgbClr val="DCEBF7"/>
                </a:solidFill>
                <a:latin typeface="Montserrat" pitchFamily="34" charset="0"/>
                <a:ea typeface="Montserrat" pitchFamily="34" charset="-122"/>
                <a:cs typeface="Montserrat" pitchFamily="34" charset="-120"/>
              </a:rPr>
              <a:t>Know when you work, who is on call, and how to offer, swap or pick up shifts.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Schedule &amp; On-Call: your views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3611880" cy="3200400"/>
          </a:xfrm>
          <a:prstGeom prst="roundRect">
            <a:avLst>
              <a:gd name="adj" fmla="val 2286"/>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200400"/>
          </a:xfrm>
          <a:prstGeom prst="rect">
            <a:avLst/>
          </a:prstGeom>
          <a:solidFill>
            <a:srgbClr val="F99239"/>
          </a:solidFill>
          <a:ln w="12700">
            <a:solidFill>
              <a:srgbClr val="F99239"/>
            </a:solidFill>
            <a:prstDash val="solid"/>
          </a:ln>
        </p:spPr>
      </p:sp>
      <p:sp>
        <p:nvSpPr>
          <p:cNvPr id="7" name="Text 5"/>
          <p:cNvSpPr/>
          <p:nvPr/>
        </p:nvSpPr>
        <p:spPr>
          <a:xfrm>
            <a:off x="749808" y="1874520"/>
            <a:ext cx="32918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Overview</a:t>
            </a:r>
            <a:endParaRPr lang="en-US" sz="1300" dirty="0"/>
          </a:p>
        </p:txBody>
      </p:sp>
      <p:sp>
        <p:nvSpPr>
          <p:cNvPr id="8" name="Text 6"/>
          <p:cNvSpPr/>
          <p:nvPr/>
        </p:nvSpPr>
        <p:spPr>
          <a:xfrm>
            <a:off x="685800" y="2240280"/>
            <a:ext cx="3337560" cy="2651760"/>
          </a:xfrm>
          <a:prstGeom prst="rect">
            <a:avLst/>
          </a:prstGeom>
          <a:noFill/>
          <a:ln/>
        </p:spPr>
        <p:txBody>
          <a:bodyPr wrap="square" rtlCol="0" anchor="t"/>
          <a:lstStyle/>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On call now</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duty phone, phone number, escalation list (Backup → on-call roles → Emergency)</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Next on call</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My next shift</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New schedule published? Click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Review schedule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then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I have reviewed my schedule</a:t>
            </a:r>
            <a:endParaRPr lang="en-US" sz="1100" dirty="0"/>
          </a:p>
        </p:txBody>
      </p:sp>
      <p:sp>
        <p:nvSpPr>
          <p:cNvPr id="9" name="Shape 7"/>
          <p:cNvSpPr/>
          <p:nvPr/>
        </p:nvSpPr>
        <p:spPr>
          <a:xfrm>
            <a:off x="4297680" y="1783080"/>
            <a:ext cx="3611880" cy="3200400"/>
          </a:xfrm>
          <a:prstGeom prst="roundRect">
            <a:avLst>
              <a:gd name="adj" fmla="val 2286"/>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4297680" y="1783080"/>
            <a:ext cx="73152" cy="3200400"/>
          </a:xfrm>
          <a:prstGeom prst="rect">
            <a:avLst/>
          </a:prstGeom>
          <a:solidFill>
            <a:srgbClr val="002D6A"/>
          </a:solidFill>
          <a:ln w="12700">
            <a:solidFill>
              <a:srgbClr val="002D6A"/>
            </a:solidFill>
            <a:prstDash val="solid"/>
          </a:ln>
        </p:spPr>
      </p:sp>
      <p:sp>
        <p:nvSpPr>
          <p:cNvPr id="11" name="Text 9"/>
          <p:cNvSpPr/>
          <p:nvPr/>
        </p:nvSpPr>
        <p:spPr>
          <a:xfrm>
            <a:off x="4498848" y="1874520"/>
            <a:ext cx="32918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My Schedule &amp; Team Schedule</a:t>
            </a:r>
            <a:endParaRPr lang="en-US" sz="1300" dirty="0"/>
          </a:p>
        </p:txBody>
      </p:sp>
      <p:sp>
        <p:nvSpPr>
          <p:cNvPr id="12" name="Text 10"/>
          <p:cNvSpPr/>
          <p:nvPr/>
        </p:nvSpPr>
        <p:spPr>
          <a:xfrm>
            <a:off x="4434840" y="2240280"/>
            <a:ext cx="3337560" cy="2651760"/>
          </a:xfrm>
          <a:prstGeom prst="rect">
            <a:avLst/>
          </a:prstGeom>
          <a:noFill/>
          <a:ln/>
        </p:spPr>
        <p:txBody>
          <a:bodyPr wrap="square" rtlCol="0" anchor="t"/>
          <a:lstStyle/>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My Schedule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your next 90 days</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 Add to my calendar (.ics)</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Team Schedule</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Month / Week / List, filter by staff, shift type, status, weekends</a:t>
            </a:r>
            <a:endParaRPr lang="en-US" sz="1100" dirty="0"/>
          </a:p>
        </p:txBody>
      </p:sp>
      <p:sp>
        <p:nvSpPr>
          <p:cNvPr id="13" name="Shape 11"/>
          <p:cNvSpPr/>
          <p:nvPr/>
        </p:nvSpPr>
        <p:spPr>
          <a:xfrm>
            <a:off x="8046720" y="1783080"/>
            <a:ext cx="3611880" cy="3200400"/>
          </a:xfrm>
          <a:prstGeom prst="roundRect">
            <a:avLst>
              <a:gd name="adj" fmla="val 2286"/>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8046720" y="1783080"/>
            <a:ext cx="73152" cy="3200400"/>
          </a:xfrm>
          <a:prstGeom prst="rect">
            <a:avLst/>
          </a:prstGeom>
          <a:solidFill>
            <a:srgbClr val="1F5FA8"/>
          </a:solidFill>
          <a:ln w="12700">
            <a:solidFill>
              <a:srgbClr val="1F5FA8"/>
            </a:solidFill>
            <a:prstDash val="solid"/>
          </a:ln>
        </p:spPr>
      </p:sp>
      <p:sp>
        <p:nvSpPr>
          <p:cNvPr id="15" name="Text 13"/>
          <p:cNvSpPr/>
          <p:nvPr/>
        </p:nvSpPr>
        <p:spPr>
          <a:xfrm>
            <a:off x="8247888" y="1874520"/>
            <a:ext cx="3291840" cy="347472"/>
          </a:xfrm>
          <a:prstGeom prst="rect">
            <a:avLst/>
          </a:prstGeom>
          <a:noFill/>
          <a:ln/>
        </p:spPr>
        <p:txBody>
          <a:bodyPr wrap="square" rtlCol="0" anchor="ctr"/>
          <a:lstStyle/>
          <a:p>
            <a:pPr indent="0" marL="0">
              <a:buNone/>
            </a:pPr>
            <a:r>
              <a:rPr lang="en-US" sz="1300" b="1" dirty="0">
                <a:solidFill>
                  <a:srgbClr val="1F5FA8"/>
                </a:solidFill>
                <a:latin typeface="Montserrat" pitchFamily="34" charset="0"/>
                <a:ea typeface="Montserrat" pitchFamily="34" charset="-122"/>
                <a:cs typeface="Montserrat" pitchFamily="34" charset="-120"/>
              </a:rPr>
              <a:t>History</a:t>
            </a:r>
            <a:endParaRPr lang="en-US" sz="1300" dirty="0"/>
          </a:p>
        </p:txBody>
      </p:sp>
      <p:sp>
        <p:nvSpPr>
          <p:cNvPr id="16" name="Text 14"/>
          <p:cNvSpPr/>
          <p:nvPr/>
        </p:nvSpPr>
        <p:spPr>
          <a:xfrm>
            <a:off x="8183880" y="2240280"/>
            <a:ext cx="3337560" cy="265176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Your completed shifts (last 90 days by default)</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Totals, weekend shifts and Duty Log counts</a:t>
            </a:r>
            <a:endParaRPr lang="en-US" sz="1100" dirty="0"/>
          </a:p>
        </p:txBody>
      </p:sp>
      <p:sp>
        <p:nvSpPr>
          <p:cNvPr id="17" name="Shape 15"/>
          <p:cNvSpPr/>
          <p:nvPr/>
        </p:nvSpPr>
        <p:spPr>
          <a:xfrm>
            <a:off x="548640" y="5212080"/>
            <a:ext cx="11109960" cy="594360"/>
          </a:xfrm>
          <a:prstGeom prst="roundRect">
            <a:avLst>
              <a:gd name="adj" fmla="val 12308"/>
            </a:avLst>
          </a:prstGeom>
          <a:solidFill>
            <a:srgbClr val="FFF7ED"/>
          </a:solidFill>
          <a:ln w="12700">
            <a:solidFill>
              <a:srgbClr val="FED7AA"/>
            </a:solidFill>
            <a:prstDash val="solid"/>
          </a:ln>
        </p:spPr>
      </p:sp>
      <p:sp>
        <p:nvSpPr>
          <p:cNvPr id="18" name="Shape 16"/>
          <p:cNvSpPr/>
          <p:nvPr/>
        </p:nvSpPr>
        <p:spPr>
          <a:xfrm>
            <a:off x="548640" y="5212080"/>
            <a:ext cx="73152" cy="594360"/>
          </a:xfrm>
          <a:prstGeom prst="rect">
            <a:avLst/>
          </a:prstGeom>
          <a:solidFill>
            <a:srgbClr val="F99239"/>
          </a:solidFill>
          <a:ln w="12700">
            <a:solidFill>
              <a:srgbClr val="F99239"/>
            </a:solidFill>
            <a:prstDash val="solid"/>
          </a:ln>
        </p:spPr>
      </p:sp>
      <p:sp>
        <p:nvSpPr>
          <p:cNvPr id="19" name="Text 17"/>
          <p:cNvSpPr/>
          <p:nvPr/>
        </p:nvSpPr>
        <p:spPr>
          <a:xfrm>
            <a:off x="731520" y="5212080"/>
            <a:ext cx="10835640" cy="59436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Always know your </a:t>
            </a:r>
            <a:pPr indent="0" marL="0">
              <a:buNone/>
            </a:pPr>
            <a:r>
              <a:rPr lang="en-US" sz="1100" b="1" dirty="0">
                <a:solidFill>
                  <a:srgbClr val="002D6A"/>
                </a:solidFill>
                <a:latin typeface="Montserrat" pitchFamily="34" charset="0"/>
                <a:ea typeface="Montserrat" pitchFamily="34" charset="-122"/>
                <a:cs typeface="Montserrat" pitchFamily="34" charset="-120"/>
              </a:rPr>
              <a:t>escalation list</a:t>
            </a:r>
            <a:pPr indent="0" marL="0">
              <a:buNone/>
            </a:pPr>
            <a:r>
              <a:rPr lang="en-US" sz="1100" dirty="0">
                <a:solidFill>
                  <a:srgbClr val="14213D"/>
                </a:solidFill>
                <a:latin typeface="Montserrat" pitchFamily="34" charset="0"/>
                <a:ea typeface="Montserrat" pitchFamily="34" charset="-122"/>
                <a:cs typeface="Montserrat" pitchFamily="34" charset="-120"/>
              </a:rPr>
              <a:t> before your shift starts — check </a:t>
            </a:r>
            <a:pPr indent="0" marL="0">
              <a:buNone/>
            </a:pPr>
            <a:r>
              <a:rPr lang="en-US" sz="1100" b="1" dirty="0">
                <a:solidFill>
                  <a:srgbClr val="002D6A"/>
                </a:solidFill>
                <a:latin typeface="Montserrat" pitchFamily="34" charset="0"/>
                <a:ea typeface="Montserrat" pitchFamily="34" charset="-122"/>
                <a:cs typeface="Montserrat" pitchFamily="34" charset="-120"/>
              </a:rPr>
              <a:t>On call now</a:t>
            </a:r>
            <a:pPr indent="0" marL="0">
              <a:buNone/>
            </a:pPr>
            <a:r>
              <a:rPr lang="en-US" sz="1100" dirty="0">
                <a:solidFill>
                  <a:srgbClr val="14213D"/>
                </a:solidFill>
                <a:latin typeface="Montserrat" pitchFamily="34" charset="0"/>
                <a:ea typeface="Montserrat" pitchFamily="34" charset="-122"/>
                <a:cs typeface="Montserrat" pitchFamily="34" charset="-120"/>
              </a:rPr>
              <a:t> on the Overview.</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Offer, swap, pick up &amp; set availability</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612648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any of </a:t>
            </a:r>
            <a:pPr indent="0" marL="0">
              <a:buNone/>
            </a:pPr>
            <a:r>
              <a:rPr lang="en-US" sz="1300" b="1" dirty="0">
                <a:solidFill>
                  <a:srgbClr val="002D6A"/>
                </a:solidFill>
                <a:latin typeface="Montserrat" pitchFamily="34" charset="0"/>
                <a:ea typeface="Montserrat" pitchFamily="34" charset="-122"/>
                <a:cs typeface="Montserrat" pitchFamily="34" charset="-120"/>
              </a:rPr>
              <a:t>your</a:t>
            </a:r>
            <a:pPr indent="0" marL="0">
              <a:buNone/>
            </a:pPr>
            <a:r>
              <a:rPr lang="en-US" sz="1300" dirty="0">
                <a:solidFill>
                  <a:srgbClr val="14213D"/>
                </a:solidFill>
                <a:latin typeface="Montserrat" pitchFamily="34" charset="0"/>
                <a:ea typeface="Montserrat" pitchFamily="34" charset="-122"/>
                <a:cs typeface="Montserrat" pitchFamily="34" charset="-120"/>
              </a:rPr>
              <a:t> future shifts → </a:t>
            </a:r>
            <a:pPr indent="0" marL="0">
              <a:buNone/>
            </a:pPr>
            <a:r>
              <a:rPr lang="en-US" sz="1300" b="1" dirty="0">
                <a:solidFill>
                  <a:srgbClr val="002D6A"/>
                </a:solidFill>
                <a:latin typeface="Montserrat" pitchFamily="34" charset="0"/>
                <a:ea typeface="Montserrat" pitchFamily="34" charset="-122"/>
                <a:cs typeface="Montserrat" pitchFamily="34" charset="-120"/>
              </a:rPr>
              <a:t>Offer shift</a:t>
            </a:r>
            <a:pPr indent="0" marL="0">
              <a:buNone/>
            </a:pPr>
            <a:r>
              <a:rPr lang="en-US" sz="1300" dirty="0">
                <a:solidFill>
                  <a:srgbClr val="14213D"/>
                </a:solidFill>
                <a:latin typeface="Montserrat" pitchFamily="34" charset="0"/>
                <a:ea typeface="Montserrat" pitchFamily="34" charset="-122"/>
                <a:cs typeface="Montserrat" pitchFamily="34" charset="-120"/>
              </a:rPr>
              <a:t> (optional reason) or </a:t>
            </a:r>
            <a:pPr indent="0" marL="0">
              <a:buNone/>
            </a:pPr>
            <a:r>
              <a:rPr lang="en-US" sz="1300" b="1" dirty="0">
                <a:solidFill>
                  <a:srgbClr val="002D6A"/>
                </a:solidFill>
                <a:latin typeface="Montserrat" pitchFamily="34" charset="0"/>
                <a:ea typeface="Montserrat" pitchFamily="34" charset="-122"/>
                <a:cs typeface="Montserrat" pitchFamily="34" charset="-120"/>
              </a:rPr>
              <a:t>Request swap</a:t>
            </a:r>
            <a:pPr indent="0" marL="0">
              <a:buNone/>
            </a:pPr>
            <a:r>
              <a:rPr lang="en-US" sz="1300" dirty="0">
                <a:solidFill>
                  <a:srgbClr val="14213D"/>
                </a:solidFill>
                <a:latin typeface="Montserrat" pitchFamily="34" charset="0"/>
                <a:ea typeface="Montserrat" pitchFamily="34" charset="-122"/>
                <a:cs typeface="Montserrat" pitchFamily="34" charset="-120"/>
              </a:rPr>
              <a:t> (pick a teammate + message).</a:t>
            </a:r>
            <a:endParaRPr lang="en-US" sz="1300" dirty="0"/>
          </a:p>
        </p:txBody>
      </p:sp>
      <p:sp>
        <p:nvSpPr>
          <p:cNvPr id="8" name="Shape 6"/>
          <p:cNvSpPr/>
          <p:nvPr/>
        </p:nvSpPr>
        <p:spPr>
          <a:xfrm>
            <a:off x="548640" y="2423160"/>
            <a:ext cx="347472" cy="347472"/>
          </a:xfrm>
          <a:prstGeom prst="ellipse">
            <a:avLst/>
          </a:prstGeom>
          <a:solidFill>
            <a:srgbClr val="002D6A"/>
          </a:solidFill>
          <a:ln w="12700">
            <a:solidFill>
              <a:srgbClr val="FFFFFF"/>
            </a:solidFill>
            <a:prstDash val="solid"/>
          </a:ln>
        </p:spPr>
      </p:sp>
      <p:sp>
        <p:nvSpPr>
          <p:cNvPr id="9" name="Text 7"/>
          <p:cNvSpPr/>
          <p:nvPr/>
        </p:nvSpPr>
        <p:spPr>
          <a:xfrm>
            <a:off x="548640" y="242316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368296"/>
            <a:ext cx="612648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See an open shift? </a:t>
            </a:r>
            <a:pPr indent="0" marL="0">
              <a:buNone/>
            </a:pPr>
            <a:r>
              <a:rPr lang="en-US" sz="1300" b="1" dirty="0">
                <a:solidFill>
                  <a:srgbClr val="002D6A"/>
                </a:solidFill>
                <a:latin typeface="Montserrat" pitchFamily="34" charset="0"/>
                <a:ea typeface="Montserrat" pitchFamily="34" charset="-122"/>
                <a:cs typeface="Montserrat" pitchFamily="34" charset="-120"/>
              </a:rPr>
              <a:t>Open Shifts</a:t>
            </a:r>
            <a:pPr indent="0" marL="0">
              <a:buNone/>
            </a:pPr>
            <a:r>
              <a:rPr lang="en-US" sz="1300" dirty="0">
                <a:solidFill>
                  <a:srgbClr val="14213D"/>
                </a:solidFill>
                <a:latin typeface="Montserrat" pitchFamily="34" charset="0"/>
                <a:ea typeface="Montserrat" pitchFamily="34" charset="-122"/>
                <a:cs typeface="Montserrat" pitchFamily="34" charset="-120"/>
              </a:rPr>
              <a:t> → </a:t>
            </a:r>
            <a:pPr indent="0" marL="0">
              <a:buNone/>
            </a:pPr>
            <a:r>
              <a:rPr lang="en-US" sz="1300" b="1" dirty="0">
                <a:solidFill>
                  <a:srgbClr val="002D6A"/>
                </a:solidFill>
                <a:latin typeface="Montserrat" pitchFamily="34" charset="0"/>
                <a:ea typeface="Montserrat" pitchFamily="34" charset="-122"/>
                <a:cs typeface="Montserrat" pitchFamily="34" charset="-120"/>
              </a:rPr>
              <a:t>Pick up shift</a:t>
            </a:r>
            <a:pPr indent="0" marL="0">
              <a:buNone/>
            </a:pPr>
            <a:r>
              <a:rPr lang="en-US" sz="1300" dirty="0">
                <a:solidFill>
                  <a:srgbClr val="14213D"/>
                </a:solidFill>
                <a:latin typeface="Montserrat" pitchFamily="34" charset="0"/>
                <a:ea typeface="Montserrat" pitchFamily="34" charset="-122"/>
                <a:cs typeface="Montserrat" pitchFamily="34" charset="-120"/>
              </a:rPr>
              <a:t>. Offered to you? </a:t>
            </a:r>
            <a:pPr indent="0" marL="0">
              <a:buNone/>
            </a:pPr>
            <a:r>
              <a:rPr lang="en-US" sz="1300" b="1" dirty="0">
                <a:solidFill>
                  <a:srgbClr val="002D6A"/>
                </a:solidFill>
                <a:latin typeface="Montserrat" pitchFamily="34" charset="0"/>
                <a:ea typeface="Montserrat" pitchFamily="34" charset="-122"/>
                <a:cs typeface="Montserrat" pitchFamily="34" charset="-120"/>
              </a:rPr>
              <a:t>Take this shift</a:t>
            </a:r>
            <a:pPr indent="0" marL="0">
              <a:buNone/>
            </a:pPr>
            <a:r>
              <a:rPr lang="en-US" sz="1300" dirty="0">
                <a:solidFill>
                  <a:srgbClr val="14213D"/>
                </a:solidFill>
                <a:latin typeface="Montserrat" pitchFamily="34" charset="0"/>
                <a:ea typeface="Montserrat" pitchFamily="34" charset="-122"/>
                <a:cs typeface="Montserrat" pitchFamily="34" charset="-120"/>
              </a:rPr>
              <a:t> or </a:t>
            </a:r>
            <a:pPr indent="0" marL="0">
              <a:buNone/>
            </a:pPr>
            <a:r>
              <a:rPr lang="en-US" sz="1300" b="1" dirty="0">
                <a:solidFill>
                  <a:srgbClr val="002D6A"/>
                </a:solidFill>
                <a:latin typeface="Montserrat" pitchFamily="34" charset="0"/>
                <a:ea typeface="Montserrat" pitchFamily="34" charset="-122"/>
                <a:cs typeface="Montserrat" pitchFamily="34" charset="-120"/>
              </a:rPr>
              <a:t>Accept swap</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1" name="Shape 9"/>
          <p:cNvSpPr/>
          <p:nvPr/>
        </p:nvSpPr>
        <p:spPr>
          <a:xfrm>
            <a:off x="548640" y="3044952"/>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04495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2990088"/>
            <a:ext cx="612648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Track everything in </a:t>
            </a:r>
            <a:pPr indent="0" marL="0">
              <a:buNone/>
            </a:pPr>
            <a:r>
              <a:rPr lang="en-US" sz="1300" b="1" dirty="0">
                <a:solidFill>
                  <a:srgbClr val="002D6A"/>
                </a:solidFill>
                <a:latin typeface="Montserrat" pitchFamily="34" charset="0"/>
                <a:ea typeface="Montserrat" pitchFamily="34" charset="-122"/>
                <a:cs typeface="Montserrat" pitchFamily="34" charset="-120"/>
              </a:rPr>
              <a:t>Shift Requests</a:t>
            </a:r>
            <a:pPr indent="0" marL="0">
              <a:buNone/>
            </a:pPr>
            <a:r>
              <a:rPr lang="en-US" sz="1300" dirty="0">
                <a:solidFill>
                  <a:srgbClr val="14213D"/>
                </a:solidFill>
                <a:latin typeface="Montserrat" pitchFamily="34" charset="0"/>
                <a:ea typeface="Montserrat" pitchFamily="34" charset="-122"/>
                <a:cs typeface="Montserrat" pitchFamily="34" charset="-120"/>
              </a:rPr>
              <a:t>: Waiting for a taker · Pending manager approval · Approved · Denied.</a:t>
            </a:r>
            <a:endParaRPr lang="en-US" sz="1300" dirty="0"/>
          </a:p>
        </p:txBody>
      </p:sp>
      <p:sp>
        <p:nvSpPr>
          <p:cNvPr id="14" name="Shape 12"/>
          <p:cNvSpPr/>
          <p:nvPr/>
        </p:nvSpPr>
        <p:spPr>
          <a:xfrm>
            <a:off x="548640" y="3666744"/>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66674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611880"/>
            <a:ext cx="6126480" cy="621792"/>
          </a:xfrm>
          <a:prstGeom prst="rect">
            <a:avLst/>
          </a:prstGeom>
          <a:noFill/>
          <a:ln/>
        </p:spPr>
        <p:txBody>
          <a:bodyPr wrap="square" rtlCol="0" anchor="t"/>
          <a:lstStyle/>
          <a:p>
            <a:pPr indent="0" marL="0">
              <a:buNone/>
            </a:pPr>
            <a:r>
              <a:rPr lang="en-US" sz="1300" b="1" dirty="0">
                <a:solidFill>
                  <a:srgbClr val="002D6A"/>
                </a:solidFill>
                <a:latin typeface="Montserrat" pitchFamily="34" charset="0"/>
                <a:ea typeface="Montserrat" pitchFamily="34" charset="-122"/>
                <a:cs typeface="Montserrat" pitchFamily="34" charset="-120"/>
              </a:rPr>
              <a:t>Availability</a:t>
            </a:r>
            <a:pPr indent="0" marL="0">
              <a:buNone/>
            </a:pPr>
            <a:r>
              <a:rPr lang="en-US" sz="1300" dirty="0">
                <a:solidFill>
                  <a:srgbClr val="14213D"/>
                </a:solidFill>
                <a:latin typeface="Montserrat" pitchFamily="34" charset="0"/>
                <a:ea typeface="Montserrat" pitchFamily="34" charset="-122"/>
                <a:cs typeface="Montserrat" pitchFamily="34" charset="-120"/>
              </a:rPr>
              <a:t> → set each weekday to ✓ Available, ★ Preferred or ✕ Unavailable → </a:t>
            </a:r>
            <a:pPr indent="0" marL="0">
              <a:buNone/>
            </a:pPr>
            <a:r>
              <a:rPr lang="en-US" sz="1300" b="1" dirty="0">
                <a:solidFill>
                  <a:srgbClr val="002D6A"/>
                </a:solidFill>
                <a:latin typeface="Montserrat" pitchFamily="34" charset="0"/>
                <a:ea typeface="Montserrat" pitchFamily="34" charset="-122"/>
                <a:cs typeface="Montserrat" pitchFamily="34" charset="-120"/>
              </a:rPr>
              <a:t>Save weekly availability</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288536"/>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28853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233672"/>
            <a:ext cx="612648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Need time off? Add a </a:t>
            </a:r>
            <a:pPr indent="0" marL="0">
              <a:buNone/>
            </a:pPr>
            <a:r>
              <a:rPr lang="en-US" sz="1300" b="1" dirty="0">
                <a:solidFill>
                  <a:srgbClr val="002D6A"/>
                </a:solidFill>
                <a:latin typeface="Montserrat" pitchFamily="34" charset="0"/>
                <a:ea typeface="Montserrat" pitchFamily="34" charset="-122"/>
                <a:cs typeface="Montserrat" pitchFamily="34" charset="-120"/>
              </a:rPr>
              <a:t>Time off / blackout</a:t>
            </a:r>
            <a:pPr indent="0" marL="0">
              <a:buNone/>
            </a:pPr>
            <a:r>
              <a:rPr lang="en-US" sz="1300" dirty="0">
                <a:solidFill>
                  <a:srgbClr val="14213D"/>
                </a:solidFill>
                <a:latin typeface="Montserrat" pitchFamily="34" charset="0"/>
                <a:ea typeface="Montserrat" pitchFamily="34" charset="-122"/>
                <a:cs typeface="Montserrat" pitchFamily="34" charset="-120"/>
              </a:rPr>
              <a:t> date with a reason — it needs approval.</a:t>
            </a:r>
            <a:endParaRPr lang="en-US" sz="1300" dirty="0"/>
          </a:p>
        </p:txBody>
      </p:sp>
      <p:sp>
        <p:nvSpPr>
          <p:cNvPr id="20" name="Shape 18"/>
          <p:cNvSpPr/>
          <p:nvPr/>
        </p:nvSpPr>
        <p:spPr>
          <a:xfrm>
            <a:off x="548640" y="4910328"/>
            <a:ext cx="347472" cy="347472"/>
          </a:xfrm>
          <a:prstGeom prst="ellipse">
            <a:avLst/>
          </a:prstGeom>
          <a:solidFill>
            <a:srgbClr val="002D6A"/>
          </a:solidFill>
          <a:ln w="12700">
            <a:solidFill>
              <a:srgbClr val="FFFFFF"/>
            </a:solidFill>
            <a:prstDash val="solid"/>
          </a:ln>
        </p:spPr>
      </p:sp>
      <p:sp>
        <p:nvSpPr>
          <p:cNvPr id="21" name="Text 19"/>
          <p:cNvSpPr/>
          <p:nvPr/>
        </p:nvSpPr>
        <p:spPr>
          <a:xfrm>
            <a:off x="548640" y="491032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6</a:t>
            </a:r>
            <a:endParaRPr lang="en-US" sz="1200" dirty="0"/>
          </a:p>
        </p:txBody>
      </p:sp>
      <p:sp>
        <p:nvSpPr>
          <p:cNvPr id="22" name="Text 20"/>
          <p:cNvSpPr/>
          <p:nvPr/>
        </p:nvSpPr>
        <p:spPr>
          <a:xfrm>
            <a:off x="1005840" y="4855464"/>
            <a:ext cx="6126480" cy="62179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After a shift, use </a:t>
            </a:r>
            <a:pPr indent="0" marL="0">
              <a:buNone/>
            </a:pPr>
            <a:r>
              <a:rPr lang="en-US" sz="1300" b="1" dirty="0">
                <a:solidFill>
                  <a:srgbClr val="002D6A"/>
                </a:solidFill>
                <a:latin typeface="Montserrat" pitchFamily="34" charset="0"/>
                <a:ea typeface="Montserrat" pitchFamily="34" charset="-122"/>
                <a:cs typeface="Montserrat" pitchFamily="34" charset="-120"/>
              </a:rPr>
              <a:t>Add handoff note</a:t>
            </a:r>
            <a:pPr indent="0" marL="0">
              <a:buNone/>
            </a:pPr>
            <a:r>
              <a:rPr lang="en-US" sz="1300" dirty="0">
                <a:solidFill>
                  <a:srgbClr val="14213D"/>
                </a:solidFill>
                <a:latin typeface="Montserrat" pitchFamily="34" charset="0"/>
                <a:ea typeface="Montserrat" pitchFamily="34" charset="-122"/>
                <a:cs typeface="Montserrat" pitchFamily="34" charset="-120"/>
              </a:rPr>
              <a:t> for the next person.</a:t>
            </a:r>
            <a:endParaRPr lang="en-US" sz="1300" dirty="0"/>
          </a:p>
        </p:txBody>
      </p:sp>
      <p:sp>
        <p:nvSpPr>
          <p:cNvPr id="23" name="Shape 21"/>
          <p:cNvSpPr/>
          <p:nvPr/>
        </p:nvSpPr>
        <p:spPr>
          <a:xfrm>
            <a:off x="7223760" y="1783080"/>
            <a:ext cx="4434840" cy="1005840"/>
          </a:xfrm>
          <a:prstGeom prst="roundRect">
            <a:avLst>
              <a:gd name="adj" fmla="val 7273"/>
            </a:avLst>
          </a:prstGeom>
          <a:solidFill>
            <a:srgbClr val="FFF7ED"/>
          </a:solidFill>
          <a:ln w="12700">
            <a:solidFill>
              <a:srgbClr val="FED7AA"/>
            </a:solidFill>
            <a:prstDash val="solid"/>
          </a:ln>
        </p:spPr>
      </p:sp>
      <p:sp>
        <p:nvSpPr>
          <p:cNvPr id="24" name="Shape 22"/>
          <p:cNvSpPr/>
          <p:nvPr/>
        </p:nvSpPr>
        <p:spPr>
          <a:xfrm>
            <a:off x="7223760" y="1783080"/>
            <a:ext cx="73152" cy="1005840"/>
          </a:xfrm>
          <a:prstGeom prst="rect">
            <a:avLst/>
          </a:prstGeom>
          <a:solidFill>
            <a:srgbClr val="F99239"/>
          </a:solidFill>
          <a:ln w="12700">
            <a:solidFill>
              <a:srgbClr val="F99239"/>
            </a:solidFill>
            <a:prstDash val="solid"/>
          </a:ln>
        </p:spPr>
      </p:sp>
      <p:sp>
        <p:nvSpPr>
          <p:cNvPr id="25" name="Text 23"/>
          <p:cNvSpPr/>
          <p:nvPr/>
        </p:nvSpPr>
        <p:spPr>
          <a:xfrm>
            <a:off x="7406640" y="1783080"/>
            <a:ext cx="4160520" cy="10058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Until a swap or offer is approved, </a:t>
            </a:r>
            <a:pPr indent="0" marL="0">
              <a:buNone/>
            </a:pPr>
            <a:r>
              <a:rPr lang="en-US" sz="1100" b="1" dirty="0">
                <a:solidFill>
                  <a:srgbClr val="002D6A"/>
                </a:solidFill>
                <a:latin typeface="Montserrat" pitchFamily="34" charset="0"/>
                <a:ea typeface="Montserrat" pitchFamily="34" charset="-122"/>
                <a:cs typeface="Montserrat" pitchFamily="34" charset="-120"/>
              </a:rPr>
              <a:t>the original staff member stays responsible</a:t>
            </a:r>
            <a:pPr indent="0" marL="0">
              <a:buNone/>
            </a:pPr>
            <a:r>
              <a:rPr lang="en-US" sz="1100" dirty="0">
                <a:solidFill>
                  <a:srgbClr val="14213D"/>
                </a:solidFill>
                <a:latin typeface="Montserrat" pitchFamily="34" charset="0"/>
                <a:ea typeface="Montserrat" pitchFamily="34" charset="-122"/>
                <a:cs typeface="Montserrat" pitchFamily="34" charset="-120"/>
              </a:rPr>
              <a:t> for the shift.</a:t>
            </a:r>
            <a:endParaRPr lang="en-US" sz="1100" dirty="0"/>
          </a:p>
        </p:txBody>
      </p:sp>
      <p:sp>
        <p:nvSpPr>
          <p:cNvPr id="26" name="Shape 24"/>
          <p:cNvSpPr/>
          <p:nvPr/>
        </p:nvSpPr>
        <p:spPr>
          <a:xfrm>
            <a:off x="7223760" y="2971800"/>
            <a:ext cx="4434840" cy="1005840"/>
          </a:xfrm>
          <a:prstGeom prst="roundRect">
            <a:avLst>
              <a:gd name="adj" fmla="val 7273"/>
            </a:avLst>
          </a:prstGeom>
          <a:solidFill>
            <a:srgbClr val="FFF7ED"/>
          </a:solidFill>
          <a:ln w="12700">
            <a:solidFill>
              <a:srgbClr val="FED7AA"/>
            </a:solidFill>
            <a:prstDash val="solid"/>
          </a:ln>
        </p:spPr>
      </p:sp>
      <p:sp>
        <p:nvSpPr>
          <p:cNvPr id="27" name="Shape 25"/>
          <p:cNvSpPr/>
          <p:nvPr/>
        </p:nvSpPr>
        <p:spPr>
          <a:xfrm>
            <a:off x="7223760" y="2971800"/>
            <a:ext cx="73152" cy="1005840"/>
          </a:xfrm>
          <a:prstGeom prst="rect">
            <a:avLst/>
          </a:prstGeom>
          <a:solidFill>
            <a:srgbClr val="F99239"/>
          </a:solidFill>
          <a:ln w="12700">
            <a:solidFill>
              <a:srgbClr val="F99239"/>
            </a:solidFill>
            <a:prstDash val="solid"/>
          </a:ln>
        </p:spPr>
      </p:sp>
      <p:sp>
        <p:nvSpPr>
          <p:cNvPr id="28" name="Text 26"/>
          <p:cNvSpPr/>
          <p:nvPr/>
        </p:nvSpPr>
        <p:spPr>
          <a:xfrm>
            <a:off x="7406640" y="2971800"/>
            <a:ext cx="4160520" cy="10058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NOTE  </a:t>
            </a:r>
            <a:pPr indent="0" marL="0">
              <a:buNone/>
            </a:pPr>
            <a:r>
              <a:rPr lang="en-US" sz="1100" dirty="0">
                <a:solidFill>
                  <a:srgbClr val="14213D"/>
                </a:solidFill>
                <a:latin typeface="Montserrat" pitchFamily="34" charset="0"/>
                <a:ea typeface="Montserrat" pitchFamily="34" charset="-122"/>
                <a:cs typeface="Montserrat" pitchFamily="34" charset="-120"/>
              </a:rPr>
              <a:t>Handoff notes are informal. Official incidents still go in the </a:t>
            </a:r>
            <a:pPr indent="0" marL="0">
              <a:buNone/>
            </a:pPr>
            <a:r>
              <a:rPr lang="en-US" sz="1100" b="1" dirty="0">
                <a:solidFill>
                  <a:srgbClr val="002D6A"/>
                </a:solidFill>
                <a:latin typeface="Montserrat" pitchFamily="34" charset="0"/>
                <a:ea typeface="Montserrat" pitchFamily="34" charset="-122"/>
                <a:cs typeface="Montserrat" pitchFamily="34" charset="-120"/>
              </a:rPr>
              <a:t>Incident Report / Duty Log</a:t>
            </a:r>
            <a:pPr indent="0" marL="0">
              <a:buNone/>
            </a:pPr>
            <a:r>
              <a:rPr lang="en-US" sz="1100" dirty="0">
                <a:solidFill>
                  <a:srgbClr val="14213D"/>
                </a:solidFill>
                <a:latin typeface="Montserrat" pitchFamily="34" charset="0"/>
                <a:ea typeface="Montserrat" pitchFamily="34" charset="-122"/>
                <a:cs typeface="Montserrat" pitchFamily="34" charset="-120"/>
              </a:rPr>
              <a:t>.</a:t>
            </a:r>
            <a:endParaRPr lang="en-US" sz="1100" dirty="0"/>
          </a:p>
        </p:txBody>
      </p:sp>
      <p:sp>
        <p:nvSpPr>
          <p:cNvPr id="29" name="Shape 27"/>
          <p:cNvSpPr/>
          <p:nvPr/>
        </p:nvSpPr>
        <p:spPr>
          <a:xfrm>
            <a:off x="7223760" y="4160520"/>
            <a:ext cx="4434840" cy="1005840"/>
          </a:xfrm>
          <a:prstGeom prst="roundRect">
            <a:avLst>
              <a:gd name="adj" fmla="val 7273"/>
            </a:avLst>
          </a:prstGeom>
          <a:solidFill>
            <a:srgbClr val="FFF7ED"/>
          </a:solidFill>
          <a:ln w="12700">
            <a:solidFill>
              <a:srgbClr val="FED7AA"/>
            </a:solidFill>
            <a:prstDash val="solid"/>
          </a:ln>
        </p:spPr>
      </p:sp>
      <p:sp>
        <p:nvSpPr>
          <p:cNvPr id="30" name="Shape 28"/>
          <p:cNvSpPr/>
          <p:nvPr/>
        </p:nvSpPr>
        <p:spPr>
          <a:xfrm>
            <a:off x="7223760" y="4160520"/>
            <a:ext cx="73152" cy="1005840"/>
          </a:xfrm>
          <a:prstGeom prst="rect">
            <a:avLst/>
          </a:prstGeom>
          <a:solidFill>
            <a:srgbClr val="F99239"/>
          </a:solidFill>
          <a:ln w="12700">
            <a:solidFill>
              <a:srgbClr val="F99239"/>
            </a:solidFill>
            <a:prstDash val="solid"/>
          </a:ln>
        </p:spPr>
      </p:sp>
      <p:sp>
        <p:nvSpPr>
          <p:cNvPr id="31" name="Text 29"/>
          <p:cNvSpPr/>
          <p:nvPr/>
        </p:nvSpPr>
        <p:spPr>
          <a:xfrm>
            <a:off x="7406640" y="4160520"/>
            <a:ext cx="4160520" cy="10058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NOTE  </a:t>
            </a:r>
            <a:pPr indent="0" marL="0">
              <a:buNone/>
            </a:pPr>
            <a:r>
              <a:rPr lang="en-US" sz="1100" dirty="0">
                <a:solidFill>
                  <a:srgbClr val="14213D"/>
                </a:solidFill>
                <a:latin typeface="Montserrat" pitchFamily="34" charset="0"/>
                <a:ea typeface="Montserrat" pitchFamily="34" charset="-122"/>
                <a:cs typeface="Montserrat" pitchFamily="34" charset="-120"/>
              </a:rPr>
              <a:t>Only managers build, assign or publish shifts and approve requests or time off.</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2D6A"/>
        </a:solidFill>
      </p:bgPr>
    </p:bg>
    <p:spTree>
      <p:nvGrpSpPr>
        <p:cNvPr id="1" name=""/>
        <p:cNvGrpSpPr/>
        <p:nvPr/>
      </p:nvGrpSpPr>
      <p:grpSpPr>
        <a:xfrm>
          <a:off x="0" y="0"/>
          <a:ext cx="0" cy="0"/>
          <a:chOff x="0" y="0"/>
          <a:chExt cx="0" cy="0"/>
        </a:xfrm>
      </p:grpSpPr>
      <p:pic>
        <p:nvPicPr>
          <p:cNvPr id="2" name="Image 0" descr="C:\Users\brian\AppData\Local\Temp\kilo\ppt\img\stock-student-phone.jpg">    </p:cNvPr>
          <p:cNvPicPr>
            <a:picLocks noChangeAspect="1"/>
          </p:cNvPicPr>
          <p:nvPr/>
        </p:nvPicPr>
        <p:blipFill>
          <a:blip r:embed="rId1"/>
          <a:srcRect l="0" r="0" t="0" b="0"/>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02D6A">
              <a:alpha val="45000"/>
            </a:srgbClr>
          </a:solidFill>
          <a:ln w="12700">
            <a:solidFill>
              <a:srgbClr val="002D6A">
                <a:alpha val="0"/>
              </a:srgbClr>
            </a:solidFill>
            <a:prstDash val="solid"/>
          </a:ln>
        </p:spPr>
      </p:sp>
      <p:sp>
        <p:nvSpPr>
          <p:cNvPr id="4" name="Shape 1"/>
          <p:cNvSpPr/>
          <p:nvPr/>
        </p:nvSpPr>
        <p:spPr>
          <a:xfrm>
            <a:off x="6876288" y="0"/>
            <a:ext cx="73152" cy="6858000"/>
          </a:xfrm>
          <a:prstGeom prst="rect">
            <a:avLst/>
          </a:prstGeom>
          <a:solidFill>
            <a:srgbClr val="F99239"/>
          </a:solidFill>
          <a:ln w="12700">
            <a:solidFill>
              <a:srgbClr val="F99239"/>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640080" y="548640"/>
            <a:ext cx="1828800" cy="722376"/>
          </a:xfrm>
          <a:prstGeom prst="rect">
            <a:avLst/>
          </a:prstGeom>
        </p:spPr>
      </p:pic>
      <p:sp>
        <p:nvSpPr>
          <p:cNvPr id="6" name="Text 2"/>
          <p:cNvSpPr/>
          <p:nvPr/>
        </p:nvSpPr>
        <p:spPr>
          <a:xfrm>
            <a:off x="640080" y="2011680"/>
            <a:ext cx="2743200" cy="1097280"/>
          </a:xfrm>
          <a:prstGeom prst="rect">
            <a:avLst/>
          </a:prstGeom>
          <a:noFill/>
          <a:ln/>
        </p:spPr>
        <p:txBody>
          <a:bodyPr wrap="square" rtlCol="0" anchor="ctr"/>
          <a:lstStyle/>
          <a:p>
            <a:pPr indent="0" marL="0">
              <a:buNone/>
            </a:pPr>
            <a:r>
              <a:rPr lang="en-US" sz="7200" b="1" dirty="0">
                <a:solidFill>
                  <a:srgbClr val="F99239"/>
                </a:solidFill>
                <a:latin typeface="Montserrat" pitchFamily="34" charset="0"/>
                <a:ea typeface="Montserrat" pitchFamily="34" charset="-122"/>
                <a:cs typeface="Montserrat" pitchFamily="34" charset="-120"/>
              </a:rPr>
              <a:t>04</a:t>
            </a:r>
            <a:endParaRPr lang="en-US" sz="7200" dirty="0"/>
          </a:p>
        </p:txBody>
      </p:sp>
      <p:sp>
        <p:nvSpPr>
          <p:cNvPr id="7" name="Text 3"/>
          <p:cNvSpPr/>
          <p:nvPr/>
        </p:nvSpPr>
        <p:spPr>
          <a:xfrm>
            <a:off x="640080" y="3154680"/>
            <a:ext cx="6035040" cy="100584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Duty Log</a:t>
            </a:r>
            <a:endParaRPr lang="en-US" sz="3600" dirty="0"/>
          </a:p>
        </p:txBody>
      </p:sp>
      <p:sp>
        <p:nvSpPr>
          <p:cNvPr id="8" name="Text 4"/>
          <p:cNvSpPr/>
          <p:nvPr/>
        </p:nvSpPr>
        <p:spPr>
          <a:xfrm>
            <a:off x="640080" y="4206240"/>
            <a:ext cx="5852160" cy="1097280"/>
          </a:xfrm>
          <a:prstGeom prst="rect">
            <a:avLst/>
          </a:prstGeom>
          <a:noFill/>
          <a:ln/>
        </p:spPr>
        <p:txBody>
          <a:bodyPr wrap="square" rtlCol="0" anchor="t"/>
          <a:lstStyle/>
          <a:p>
            <a:pPr indent="0" marL="0">
              <a:buNone/>
            </a:pPr>
            <a:r>
              <a:rPr lang="en-US" sz="1500" dirty="0">
                <a:solidFill>
                  <a:srgbClr val="DCEBF7"/>
                </a:solidFill>
                <a:latin typeface="Montserrat" pitchFamily="34" charset="0"/>
                <a:ea typeface="Montserrat" pitchFamily="34" charset="-122"/>
                <a:cs typeface="Montserrat" pitchFamily="34" charset="-120"/>
              </a:rPr>
              <a:t>Document every call and incident during your shift — on desktop or on your phone.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Duty Log: open your shift log</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Open </a:t>
            </a:r>
            <a:pPr indent="0" marL="0">
              <a:buNone/>
            </a:pPr>
            <a:r>
              <a:rPr lang="en-US" sz="1300" b="1" dirty="0">
                <a:solidFill>
                  <a:srgbClr val="002D6A"/>
                </a:solidFill>
                <a:latin typeface="Montserrat" pitchFamily="34" charset="0"/>
                <a:ea typeface="Montserrat" pitchFamily="34" charset="-122"/>
                <a:cs typeface="Montserrat" pitchFamily="34" charset="-120"/>
              </a:rPr>
              <a:t>Duty Log</a:t>
            </a:r>
            <a:pPr indent="0" marL="0">
              <a:buNone/>
            </a:pPr>
            <a:r>
              <a:rPr lang="en-US" sz="1300" dirty="0">
                <a:solidFill>
                  <a:srgbClr val="14213D"/>
                </a:solidFill>
                <a:latin typeface="Montserrat" pitchFamily="34" charset="0"/>
                <a:ea typeface="Montserrat" pitchFamily="34" charset="-122"/>
                <a:cs typeface="Montserrat" pitchFamily="34" charset="-120"/>
              </a:rPr>
              <a:t>. The banner shows </a:t>
            </a:r>
            <a:pPr indent="0" marL="0">
              <a:buNone/>
            </a:pPr>
            <a:r>
              <a:rPr lang="en-US" sz="1300" b="1" dirty="0">
                <a:solidFill>
                  <a:srgbClr val="002D6A"/>
                </a:solidFill>
                <a:latin typeface="Montserrat" pitchFamily="34" charset="0"/>
                <a:ea typeface="Montserrat" pitchFamily="34" charset="-122"/>
                <a:cs typeface="Montserrat" pitchFamily="34" charset="-120"/>
              </a:rPr>
              <a:t>Your duty shift</a:t>
            </a:r>
            <a:pPr indent="0" marL="0">
              <a:buNone/>
            </a:pPr>
            <a:r>
              <a:rPr lang="en-US" sz="1300" dirty="0">
                <a:solidFill>
                  <a:srgbClr val="14213D"/>
                </a:solidFill>
                <a:latin typeface="Montserrat" pitchFamily="34" charset="0"/>
                <a:ea typeface="Montserrat" pitchFamily="34" charset="-122"/>
                <a:cs typeface="Montserrat" pitchFamily="34" charset="-120"/>
              </a:rPr>
              <a:t> and </a:t>
            </a:r>
            <a:pPr indent="0" marL="0">
              <a:buNone/>
            </a:pPr>
            <a:r>
              <a:rPr lang="en-US" sz="1300" b="1" dirty="0">
                <a:solidFill>
                  <a:srgbClr val="002D6A"/>
                </a:solidFill>
                <a:latin typeface="Montserrat" pitchFamily="34" charset="0"/>
                <a:ea typeface="Montserrat" pitchFamily="34" charset="-122"/>
                <a:cs typeface="Montserrat" pitchFamily="34" charset="-120"/>
              </a:rPr>
              <a:t>Shift details</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8" name="Shape 6"/>
          <p:cNvSpPr/>
          <p:nvPr/>
        </p:nvSpPr>
        <p:spPr>
          <a:xfrm>
            <a:off x="548640" y="2514600"/>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1460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459736"/>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 {your shift}</a:t>
            </a:r>
            <a:pPr indent="0" marL="0">
              <a:buNone/>
            </a:pPr>
            <a:r>
              <a:rPr lang="en-US" sz="1300" dirty="0">
                <a:solidFill>
                  <a:srgbClr val="14213D"/>
                </a:solidFill>
                <a:latin typeface="Montserrat" pitchFamily="34" charset="0"/>
                <a:ea typeface="Montserrat" pitchFamily="34" charset="-122"/>
                <a:cs typeface="Montserrat" pitchFamily="34" charset="-120"/>
              </a:rPr>
              <a:t> for your scheduled shift, or pick a shift (Day, Evening, Overnight, Weekend…) and click </a:t>
            </a:r>
            <a:pPr indent="0" marL="0">
              <a:buNone/>
            </a:pPr>
            <a:r>
              <a:rPr lang="en-US" sz="1300" b="1" dirty="0">
                <a:solidFill>
                  <a:srgbClr val="002D6A"/>
                </a:solidFill>
                <a:latin typeface="Montserrat" pitchFamily="34" charset="0"/>
                <a:ea typeface="Montserrat" pitchFamily="34" charset="-122"/>
                <a:cs typeface="Montserrat" pitchFamily="34" charset="-120"/>
              </a:rPr>
              <a:t>Start / open shift log</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1" name="Shape 9"/>
          <p:cNvSpPr/>
          <p:nvPr/>
        </p:nvSpPr>
        <p:spPr>
          <a:xfrm>
            <a:off x="548640" y="3227832"/>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22783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172968"/>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There is </a:t>
            </a:r>
            <a:pPr indent="0" marL="0">
              <a:buNone/>
            </a:pPr>
            <a:r>
              <a:rPr lang="en-US" sz="1300" b="1" dirty="0">
                <a:solidFill>
                  <a:srgbClr val="002D6A"/>
                </a:solidFill>
                <a:latin typeface="Montserrat" pitchFamily="34" charset="0"/>
                <a:ea typeface="Montserrat" pitchFamily="34" charset="-122"/>
                <a:cs typeface="Montserrat" pitchFamily="34" charset="-120"/>
              </a:rPr>
              <a:t>one shared log per shift</a:t>
            </a:r>
            <a:pPr indent="0" marL="0">
              <a:buNone/>
            </a:pPr>
            <a:r>
              <a:rPr lang="en-US" sz="1300" dirty="0">
                <a:solidFill>
                  <a:srgbClr val="14213D"/>
                </a:solidFill>
                <a:latin typeface="Montserrat" pitchFamily="34" charset="0"/>
                <a:ea typeface="Montserrat" pitchFamily="34" charset="-122"/>
                <a:cs typeface="Montserrat" pitchFamily="34" charset="-120"/>
              </a:rPr>
              <a:t>. Your duty partner opens the </a:t>
            </a:r>
            <a:pPr indent="0" marL="0">
              <a:buNone/>
            </a:pPr>
            <a:r>
              <a:rPr lang="en-US" sz="1300" b="1" dirty="0">
                <a:solidFill>
                  <a:srgbClr val="002D6A"/>
                </a:solidFill>
                <a:latin typeface="Montserrat" pitchFamily="34" charset="0"/>
                <a:ea typeface="Montserrat" pitchFamily="34" charset="-122"/>
                <a:cs typeface="Montserrat" pitchFamily="34" charset="-120"/>
              </a:rPr>
              <a:t>same</a:t>
            </a:r>
            <a:pPr indent="0" marL="0">
              <a:buNone/>
            </a:pPr>
            <a:r>
              <a:rPr lang="en-US" sz="1300" dirty="0">
                <a:solidFill>
                  <a:srgbClr val="14213D"/>
                </a:solidFill>
                <a:latin typeface="Montserrat" pitchFamily="34" charset="0"/>
                <a:ea typeface="Montserrat" pitchFamily="34" charset="-122"/>
                <a:cs typeface="Montserrat" pitchFamily="34" charset="-120"/>
              </a:rPr>
              <a:t> log — use </a:t>
            </a:r>
            <a:pPr indent="0" marL="0">
              <a:buNone/>
            </a:pPr>
            <a:r>
              <a:rPr lang="en-US" sz="1300" b="1" dirty="0">
                <a:solidFill>
                  <a:srgbClr val="002D6A"/>
                </a:solidFill>
                <a:latin typeface="Montserrat" pitchFamily="34" charset="0"/>
                <a:ea typeface="Montserrat" pitchFamily="34" charset="-122"/>
                <a:cs typeface="Montserrat" pitchFamily="34" charset="-120"/>
              </a:rPr>
              <a:t>Join</a:t>
            </a:r>
            <a:pPr indent="0" marL="0">
              <a:buNone/>
            </a:pPr>
            <a:r>
              <a:rPr lang="en-US" sz="1300" dirty="0">
                <a:solidFill>
                  <a:srgbClr val="14213D"/>
                </a:solidFill>
                <a:latin typeface="Montserrat" pitchFamily="34" charset="0"/>
                <a:ea typeface="Montserrat" pitchFamily="34" charset="-122"/>
                <a:cs typeface="Montserrat" pitchFamily="34" charset="-120"/>
              </a:rPr>
              <a:t> on the shift chip.</a:t>
            </a:r>
            <a:endParaRPr lang="en-US" sz="1300" dirty="0"/>
          </a:p>
        </p:txBody>
      </p:sp>
      <p:sp>
        <p:nvSpPr>
          <p:cNvPr id="14" name="Shape 12"/>
          <p:cNvSpPr/>
          <p:nvPr/>
        </p:nvSpPr>
        <p:spPr>
          <a:xfrm>
            <a:off x="548640" y="3941064"/>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94106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886200"/>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Confirm </a:t>
            </a:r>
            <a:pPr indent="0" marL="0">
              <a:buNone/>
            </a:pPr>
            <a:r>
              <a:rPr lang="en-US" sz="1300" b="1" dirty="0">
                <a:solidFill>
                  <a:srgbClr val="002D6A"/>
                </a:solidFill>
                <a:latin typeface="Montserrat" pitchFamily="34" charset="0"/>
                <a:ea typeface="Montserrat" pitchFamily="34" charset="-122"/>
                <a:cs typeface="Montserrat" pitchFamily="34" charset="-120"/>
              </a:rPr>
              <a:t>Duty RA</a:t>
            </a:r>
            <a:pPr indent="0" marL="0">
              <a:buNone/>
            </a:pPr>
            <a:r>
              <a:rPr lang="en-US" sz="1300" dirty="0">
                <a:solidFill>
                  <a:srgbClr val="14213D"/>
                </a:solidFill>
                <a:latin typeface="Montserrat" pitchFamily="34" charset="0"/>
                <a:ea typeface="Montserrat" pitchFamily="34" charset="-122"/>
                <a:cs typeface="Montserrat" pitchFamily="34" charset="-120"/>
              </a:rPr>
              <a:t> (you) and choose your </a:t>
            </a:r>
            <a:pPr indent="0" marL="0">
              <a:buNone/>
            </a:pPr>
            <a:r>
              <a:rPr lang="en-US" sz="1300" b="1" dirty="0">
                <a:solidFill>
                  <a:srgbClr val="002D6A"/>
                </a:solidFill>
                <a:latin typeface="Montserrat" pitchFamily="34" charset="0"/>
                <a:ea typeface="Montserrat" pitchFamily="34" charset="-122"/>
                <a:cs typeface="Montserrat" pitchFamily="34" charset="-120"/>
              </a:rPr>
              <a:t>Duty Partner</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654296"/>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65429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599432"/>
            <a:ext cx="530352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Quiet shift? Tick </a:t>
            </a:r>
            <a:pPr indent="0" marL="0">
              <a:buNone/>
            </a:pPr>
            <a:r>
              <a:rPr lang="en-US" sz="1300" b="1" dirty="0">
                <a:solidFill>
                  <a:srgbClr val="002D6A"/>
                </a:solidFill>
                <a:latin typeface="Montserrat" pitchFamily="34" charset="0"/>
                <a:ea typeface="Montserrat" pitchFamily="34" charset="-122"/>
                <a:cs typeface="Montserrat" pitchFamily="34" charset="-120"/>
              </a:rPr>
              <a:t>No Calls / Incidents to Report</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20" name="Shape 18"/>
          <p:cNvSpPr/>
          <p:nvPr/>
        </p:nvSpPr>
        <p:spPr>
          <a:xfrm>
            <a:off x="6675120" y="1783080"/>
            <a:ext cx="4983480" cy="3063240"/>
          </a:xfrm>
          <a:prstGeom prst="roundRect">
            <a:avLst>
              <a:gd name="adj" fmla="val 1791"/>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21" name="Shape 19"/>
          <p:cNvSpPr/>
          <p:nvPr/>
        </p:nvSpPr>
        <p:spPr>
          <a:xfrm>
            <a:off x="6675120" y="1783080"/>
            <a:ext cx="1196035" cy="3063240"/>
          </a:xfrm>
          <a:prstGeom prst="rect">
            <a:avLst/>
          </a:prstGeom>
          <a:solidFill>
            <a:srgbClr val="002D6A"/>
          </a:solidFill>
          <a:ln w="12700">
            <a:solidFill>
              <a:srgbClr val="002D6A"/>
            </a:solidFill>
            <a:prstDash val="solid"/>
          </a:ln>
        </p:spPr>
      </p:sp>
      <p:pic>
        <p:nvPicPr>
          <p:cNvPr id="22" name="Image 0" descr="C:\Users\brian\AppData\Local\Temp\kilo\ppt\img\logo-white.png">    </p:cNvPr>
          <p:cNvPicPr>
            <a:picLocks noChangeAspect="1"/>
          </p:cNvPicPr>
          <p:nvPr/>
        </p:nvPicPr>
        <p:blipFill>
          <a:blip r:embed="rId1"/>
          <a:stretch>
            <a:fillRect/>
          </a:stretch>
        </p:blipFill>
        <p:spPr>
          <a:xfrm>
            <a:off x="6784848" y="1892808"/>
            <a:ext cx="976579" cy="380866"/>
          </a:xfrm>
          <a:prstGeom prst="rect">
            <a:avLst/>
          </a:prstGeom>
        </p:spPr>
      </p:pic>
      <p:sp>
        <p:nvSpPr>
          <p:cNvPr id="23" name="Text 20"/>
          <p:cNvSpPr/>
          <p:nvPr/>
        </p:nvSpPr>
        <p:spPr>
          <a:xfrm>
            <a:off x="6784848" y="235915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24" name="Text 21"/>
          <p:cNvSpPr/>
          <p:nvPr/>
        </p:nvSpPr>
        <p:spPr>
          <a:xfrm>
            <a:off x="6784848" y="260604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25" name="Text 22"/>
          <p:cNvSpPr/>
          <p:nvPr/>
        </p:nvSpPr>
        <p:spPr>
          <a:xfrm>
            <a:off x="6784848" y="285292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26" name="Text 23"/>
          <p:cNvSpPr/>
          <p:nvPr/>
        </p:nvSpPr>
        <p:spPr>
          <a:xfrm>
            <a:off x="6784848" y="309981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27" name="Text 24"/>
          <p:cNvSpPr/>
          <p:nvPr/>
        </p:nvSpPr>
        <p:spPr>
          <a:xfrm>
            <a:off x="6784848" y="3346704"/>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28" name="Shape 25"/>
          <p:cNvSpPr/>
          <p:nvPr/>
        </p:nvSpPr>
        <p:spPr>
          <a:xfrm>
            <a:off x="6675120" y="3593592"/>
            <a:ext cx="1196035" cy="237744"/>
          </a:xfrm>
          <a:prstGeom prst="rect">
            <a:avLst/>
          </a:prstGeom>
          <a:solidFill>
            <a:srgbClr val="F99239"/>
          </a:solidFill>
          <a:ln w="12700">
            <a:solidFill>
              <a:srgbClr val="F99239"/>
            </a:solidFill>
            <a:prstDash val="solid"/>
          </a:ln>
        </p:spPr>
      </p:sp>
      <p:sp>
        <p:nvSpPr>
          <p:cNvPr id="29" name="Text 26"/>
          <p:cNvSpPr/>
          <p:nvPr/>
        </p:nvSpPr>
        <p:spPr>
          <a:xfrm>
            <a:off x="6784848" y="3593592"/>
            <a:ext cx="1058875"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30" name="Text 27"/>
          <p:cNvSpPr/>
          <p:nvPr/>
        </p:nvSpPr>
        <p:spPr>
          <a:xfrm>
            <a:off x="6784848" y="384048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31" name="Text 28"/>
          <p:cNvSpPr/>
          <p:nvPr/>
        </p:nvSpPr>
        <p:spPr>
          <a:xfrm>
            <a:off x="6784848" y="408736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32" name="Text 29"/>
          <p:cNvSpPr/>
          <p:nvPr/>
        </p:nvSpPr>
        <p:spPr>
          <a:xfrm>
            <a:off x="6784848" y="433425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33" name="Shape 30"/>
          <p:cNvSpPr/>
          <p:nvPr/>
        </p:nvSpPr>
        <p:spPr>
          <a:xfrm>
            <a:off x="7871155" y="1783080"/>
            <a:ext cx="3787445" cy="347472"/>
          </a:xfrm>
          <a:prstGeom prst="rect">
            <a:avLst/>
          </a:prstGeom>
          <a:solidFill>
            <a:srgbClr val="FFFFFF"/>
          </a:solidFill>
          <a:ln w="12700">
            <a:solidFill>
              <a:srgbClr val="E2E8F0"/>
            </a:solidFill>
            <a:prstDash val="solid"/>
          </a:ln>
        </p:spPr>
      </p:sp>
      <p:sp>
        <p:nvSpPr>
          <p:cNvPr id="34" name="Text 31"/>
          <p:cNvSpPr/>
          <p:nvPr/>
        </p:nvSpPr>
        <p:spPr>
          <a:xfrm>
            <a:off x="8008315"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35" name="Text 32"/>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36" name="Shape 33"/>
          <p:cNvSpPr/>
          <p:nvPr/>
        </p:nvSpPr>
        <p:spPr>
          <a:xfrm>
            <a:off x="8035747" y="2286000"/>
            <a:ext cx="3458261" cy="2377440"/>
          </a:xfrm>
          <a:prstGeom prst="rect">
            <a:avLst/>
          </a:prstGeom>
          <a:solidFill>
            <a:srgbClr val="FFFFFF"/>
          </a:solidFill>
          <a:ln w="12700">
            <a:solidFill>
              <a:srgbClr val="E2E8F0"/>
            </a:solidFill>
            <a:prstDash val="solid"/>
          </a:ln>
        </p:spPr>
      </p:sp>
      <p:sp>
        <p:nvSpPr>
          <p:cNvPr id="37" name="Text 34"/>
          <p:cNvSpPr/>
          <p:nvPr/>
        </p:nvSpPr>
        <p:spPr>
          <a:xfrm>
            <a:off x="8145475" y="2331720"/>
            <a:ext cx="1995221"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MY DUTY LOG</a:t>
            </a:r>
            <a:endParaRPr lang="en-US" sz="900" dirty="0"/>
          </a:p>
        </p:txBody>
      </p:sp>
      <p:sp>
        <p:nvSpPr>
          <p:cNvPr id="38" name="Shape 35"/>
          <p:cNvSpPr/>
          <p:nvPr/>
        </p:nvSpPr>
        <p:spPr>
          <a:xfrm>
            <a:off x="10076688" y="2359152"/>
            <a:ext cx="1325880" cy="256032"/>
          </a:xfrm>
          <a:prstGeom prst="roundRect">
            <a:avLst>
              <a:gd name="adj" fmla="val 17857"/>
            </a:avLst>
          </a:prstGeom>
          <a:solidFill>
            <a:srgbClr val="F99239"/>
          </a:solidFill>
          <a:ln w="12700">
            <a:solidFill>
              <a:srgbClr val="F99239"/>
            </a:solidFill>
            <a:prstDash val="solid"/>
          </a:ln>
        </p:spPr>
      </p:sp>
      <p:sp>
        <p:nvSpPr>
          <p:cNvPr id="39" name="Text 36"/>
          <p:cNvSpPr/>
          <p:nvPr/>
        </p:nvSpPr>
        <p:spPr>
          <a:xfrm>
            <a:off x="10076688" y="2359152"/>
            <a:ext cx="1325880" cy="256032"/>
          </a:xfrm>
          <a:prstGeom prst="rect">
            <a:avLst/>
          </a:prstGeom>
          <a:noFill/>
          <a:ln/>
        </p:spPr>
        <p:txBody>
          <a:bodyPr wrap="square" rtlCol="0" anchor="ctr"/>
          <a:lstStyle/>
          <a:p>
            <a:pPr algn="ctr" indent="0" marL="0">
              <a:buNone/>
            </a:pPr>
            <a:r>
              <a:rPr lang="en-US" sz="700" b="1" dirty="0">
                <a:solidFill>
                  <a:srgbClr val="FFFFFF"/>
                </a:solidFill>
                <a:latin typeface="Montserrat" pitchFamily="34" charset="0"/>
                <a:ea typeface="Montserrat" pitchFamily="34" charset="-122"/>
                <a:cs typeface="Montserrat" pitchFamily="34" charset="-120"/>
              </a:rPr>
              <a:t>+ Add Call / Incident</a:t>
            </a:r>
            <a:endParaRPr lang="en-US" sz="700" dirty="0"/>
          </a:p>
        </p:txBody>
      </p:sp>
      <p:sp>
        <p:nvSpPr>
          <p:cNvPr id="40" name="Shape 37"/>
          <p:cNvSpPr/>
          <p:nvPr/>
        </p:nvSpPr>
        <p:spPr>
          <a:xfrm>
            <a:off x="8127187" y="2724912"/>
            <a:ext cx="3275381" cy="310896"/>
          </a:xfrm>
          <a:prstGeom prst="rect">
            <a:avLst/>
          </a:prstGeom>
          <a:solidFill>
            <a:srgbClr val="F8FAFC"/>
          </a:solidFill>
          <a:ln w="12700">
            <a:solidFill>
              <a:srgbClr val="E2E8F0"/>
            </a:solidFill>
            <a:prstDash val="solid"/>
          </a:ln>
        </p:spPr>
      </p:sp>
      <p:sp>
        <p:nvSpPr>
          <p:cNvPr id="41" name="Text 38"/>
          <p:cNvSpPr/>
          <p:nvPr/>
        </p:nvSpPr>
        <p:spPr>
          <a:xfrm>
            <a:off x="8218627" y="272491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Today · 2 logs today · one per shift</a:t>
            </a:r>
            <a:endParaRPr lang="en-US" sz="800" dirty="0"/>
          </a:p>
        </p:txBody>
      </p:sp>
      <p:sp>
        <p:nvSpPr>
          <p:cNvPr id="42" name="Shape 39"/>
          <p:cNvSpPr/>
          <p:nvPr/>
        </p:nvSpPr>
        <p:spPr>
          <a:xfrm>
            <a:off x="8127187" y="3090672"/>
            <a:ext cx="3275381" cy="310896"/>
          </a:xfrm>
          <a:prstGeom prst="rect">
            <a:avLst/>
          </a:prstGeom>
          <a:solidFill>
            <a:srgbClr val="FFFFFF"/>
          </a:solidFill>
          <a:ln w="12700">
            <a:solidFill>
              <a:srgbClr val="E2E8F0"/>
            </a:solidFill>
            <a:prstDash val="solid"/>
          </a:ln>
        </p:spPr>
      </p:sp>
      <p:sp>
        <p:nvSpPr>
          <p:cNvPr id="43" name="Text 40"/>
          <p:cNvSpPr/>
          <p:nvPr/>
        </p:nvSpPr>
        <p:spPr>
          <a:xfrm>
            <a:off x="8218627" y="309067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Evening — In progress · You + Partner  [Join]</a:t>
            </a:r>
            <a:endParaRPr lang="en-US" sz="800" dirty="0"/>
          </a:p>
        </p:txBody>
      </p:sp>
      <p:sp>
        <p:nvSpPr>
          <p:cNvPr id="44" name="Shape 41"/>
          <p:cNvSpPr/>
          <p:nvPr/>
        </p:nvSpPr>
        <p:spPr>
          <a:xfrm>
            <a:off x="8127187" y="3456432"/>
            <a:ext cx="3275381" cy="310896"/>
          </a:xfrm>
          <a:prstGeom prst="rect">
            <a:avLst/>
          </a:prstGeom>
          <a:solidFill>
            <a:srgbClr val="F8FAFC"/>
          </a:solidFill>
          <a:ln w="12700">
            <a:solidFill>
              <a:srgbClr val="E2E8F0"/>
            </a:solidFill>
            <a:prstDash val="solid"/>
          </a:ln>
        </p:spPr>
      </p:sp>
      <p:sp>
        <p:nvSpPr>
          <p:cNvPr id="45" name="Text 42"/>
          <p:cNvSpPr/>
          <p:nvPr/>
        </p:nvSpPr>
        <p:spPr>
          <a:xfrm>
            <a:off x="8218627" y="345643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Duty RA: you    Duty Partner: ▼</a:t>
            </a:r>
            <a:endParaRPr lang="en-US" sz="800" dirty="0"/>
          </a:p>
        </p:txBody>
      </p:sp>
      <p:sp>
        <p:nvSpPr>
          <p:cNvPr id="46" name="Shape 43"/>
          <p:cNvSpPr/>
          <p:nvPr/>
        </p:nvSpPr>
        <p:spPr>
          <a:xfrm>
            <a:off x="8127187" y="3822192"/>
            <a:ext cx="3275381" cy="310896"/>
          </a:xfrm>
          <a:prstGeom prst="rect">
            <a:avLst/>
          </a:prstGeom>
          <a:solidFill>
            <a:srgbClr val="FFFFFF"/>
          </a:solidFill>
          <a:ln w="12700">
            <a:solidFill>
              <a:srgbClr val="E2E8F0"/>
            </a:solidFill>
            <a:prstDash val="solid"/>
          </a:ln>
        </p:spPr>
      </p:sp>
      <p:sp>
        <p:nvSpPr>
          <p:cNvPr id="47" name="Text 44"/>
          <p:cNvSpPr/>
          <p:nvPr/>
        </p:nvSpPr>
        <p:spPr>
          <a:xfrm>
            <a:off x="8218627" y="382219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No Calls / Incidents to Report</a:t>
            </a:r>
            <a:endParaRPr lang="en-US" sz="800" dirty="0"/>
          </a:p>
        </p:txBody>
      </p:sp>
      <p:sp>
        <p:nvSpPr>
          <p:cNvPr id="48" name="Shape 45"/>
          <p:cNvSpPr/>
          <p:nvPr/>
        </p:nvSpPr>
        <p:spPr>
          <a:xfrm>
            <a:off x="6675120" y="5074920"/>
            <a:ext cx="4983480" cy="868680"/>
          </a:xfrm>
          <a:prstGeom prst="roundRect">
            <a:avLst>
              <a:gd name="adj" fmla="val 8421"/>
            </a:avLst>
          </a:prstGeom>
          <a:solidFill>
            <a:srgbClr val="FFF7ED"/>
          </a:solidFill>
          <a:ln w="12700">
            <a:solidFill>
              <a:srgbClr val="FED7AA"/>
            </a:solidFill>
            <a:prstDash val="solid"/>
          </a:ln>
        </p:spPr>
      </p:sp>
      <p:sp>
        <p:nvSpPr>
          <p:cNvPr id="49" name="Shape 46"/>
          <p:cNvSpPr/>
          <p:nvPr/>
        </p:nvSpPr>
        <p:spPr>
          <a:xfrm>
            <a:off x="6675120" y="5074920"/>
            <a:ext cx="73152" cy="868680"/>
          </a:xfrm>
          <a:prstGeom prst="rect">
            <a:avLst/>
          </a:prstGeom>
          <a:solidFill>
            <a:srgbClr val="F99239"/>
          </a:solidFill>
          <a:ln w="12700">
            <a:solidFill>
              <a:srgbClr val="F99239"/>
            </a:solidFill>
            <a:prstDash val="solid"/>
          </a:ln>
        </p:spPr>
      </p:sp>
      <p:sp>
        <p:nvSpPr>
          <p:cNvPr id="50" name="Text 47"/>
          <p:cNvSpPr/>
          <p:nvPr/>
        </p:nvSpPr>
        <p:spPr>
          <a:xfrm>
            <a:off x="6858000" y="5074920"/>
            <a:ext cx="4709160" cy="86868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Everyone on the shift can add entries — only </a:t>
            </a:r>
            <a:pPr indent="0" marL="0">
              <a:buNone/>
            </a:pPr>
            <a:r>
              <a:rPr lang="en-US" sz="1100" b="1" dirty="0">
                <a:solidFill>
                  <a:srgbClr val="002D6A"/>
                </a:solidFill>
                <a:latin typeface="Montserrat" pitchFamily="34" charset="0"/>
                <a:ea typeface="Montserrat" pitchFamily="34" charset="-122"/>
                <a:cs typeface="Montserrat" pitchFamily="34" charset="-120"/>
              </a:rPr>
              <a:t>one</a:t>
            </a:r>
            <a:pPr indent="0" marL="0">
              <a:buNone/>
            </a:pPr>
            <a:r>
              <a:rPr lang="en-US" sz="1100" dirty="0">
                <a:solidFill>
                  <a:srgbClr val="14213D"/>
                </a:solidFill>
                <a:latin typeface="Montserrat" pitchFamily="34" charset="0"/>
                <a:ea typeface="Montserrat" pitchFamily="34" charset="-122"/>
                <a:cs typeface="Montserrat" pitchFamily="34" charset="-120"/>
              </a:rPr>
              <a:t> person needs to submit.</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Adding a call or incident</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Text 3"/>
          <p:cNvSpPr/>
          <p:nvPr/>
        </p:nvSpPr>
        <p:spPr>
          <a:xfrm>
            <a:off x="548640" y="1645920"/>
            <a:ext cx="10972800" cy="320040"/>
          </a:xfrm>
          <a:prstGeom prst="rect">
            <a:avLst/>
          </a:prstGeom>
          <a:noFill/>
          <a:ln/>
        </p:spPr>
        <p:txBody>
          <a:bodyPr wrap="square" rtlCol="0" anchor="ctr"/>
          <a:lstStyle/>
          <a:p>
            <a:pPr indent="0" marL="0">
              <a:buNone/>
            </a:pPr>
            <a:r>
              <a:rPr lang="en-US" sz="1300" i="1" dirty="0">
                <a:solidFill>
                  <a:srgbClr val="64748B"/>
                </a:solidFill>
                <a:latin typeface="Montserrat" pitchFamily="34" charset="0"/>
                <a:ea typeface="Montserrat" pitchFamily="34" charset="-122"/>
                <a:cs typeface="Montserrat" pitchFamily="34" charset="-120"/>
              </a:rPr>
              <a:t>Click + Add Call / Incident — every field saves as you type.</a:t>
            </a:r>
            <a:endParaRPr lang="en-US" sz="1300" dirty="0"/>
          </a:p>
        </p:txBody>
      </p:sp>
      <p:sp>
        <p:nvSpPr>
          <p:cNvPr id="6" name="Shape 4"/>
          <p:cNvSpPr/>
          <p:nvPr/>
        </p:nvSpPr>
        <p:spPr>
          <a:xfrm>
            <a:off x="548640" y="2057400"/>
            <a:ext cx="5440680" cy="694944"/>
          </a:xfrm>
          <a:prstGeom prst="roundRect">
            <a:avLst>
              <a:gd name="adj" fmla="val 6579"/>
            </a:avLst>
          </a:prstGeom>
          <a:solidFill>
            <a:srgbClr val="F8FAFC"/>
          </a:solidFill>
          <a:ln w="12700">
            <a:solidFill>
              <a:srgbClr val="E2E8F0"/>
            </a:solidFill>
            <a:prstDash val="solid"/>
          </a:ln>
        </p:spPr>
      </p:sp>
      <p:sp>
        <p:nvSpPr>
          <p:cNvPr id="7" name="Text 5"/>
          <p:cNvSpPr/>
          <p:nvPr/>
        </p:nvSpPr>
        <p:spPr>
          <a:xfrm>
            <a:off x="685800" y="2057400"/>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Incident Date &amp; Time of Call</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When it started</a:t>
            </a:r>
            <a:endParaRPr lang="en-US" sz="1200" dirty="0"/>
          </a:p>
        </p:txBody>
      </p:sp>
      <p:sp>
        <p:nvSpPr>
          <p:cNvPr id="8" name="Shape 6"/>
          <p:cNvSpPr/>
          <p:nvPr/>
        </p:nvSpPr>
        <p:spPr>
          <a:xfrm>
            <a:off x="6126480" y="2057400"/>
            <a:ext cx="5440680" cy="694944"/>
          </a:xfrm>
          <a:prstGeom prst="roundRect">
            <a:avLst>
              <a:gd name="adj" fmla="val 6579"/>
            </a:avLst>
          </a:prstGeom>
          <a:solidFill>
            <a:srgbClr val="F8FAFC"/>
          </a:solidFill>
          <a:ln w="12700">
            <a:solidFill>
              <a:srgbClr val="E2E8F0"/>
            </a:solidFill>
            <a:prstDash val="solid"/>
          </a:ln>
        </p:spPr>
      </p:sp>
      <p:sp>
        <p:nvSpPr>
          <p:cNvPr id="9" name="Text 7"/>
          <p:cNvSpPr/>
          <p:nvPr/>
        </p:nvSpPr>
        <p:spPr>
          <a:xfrm>
            <a:off x="6263640" y="2057400"/>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Caller’s Name &amp; Title</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Resident, Guest, Parent/Family, RA, REC, Security/Campus Safety, Maintenance, Staff, Witness, Other</a:t>
            </a:r>
            <a:endParaRPr lang="en-US" sz="1200" dirty="0"/>
          </a:p>
        </p:txBody>
      </p:sp>
      <p:sp>
        <p:nvSpPr>
          <p:cNvPr id="10" name="Shape 8"/>
          <p:cNvSpPr/>
          <p:nvPr/>
        </p:nvSpPr>
        <p:spPr>
          <a:xfrm>
            <a:off x="548640" y="2843784"/>
            <a:ext cx="5440680" cy="694944"/>
          </a:xfrm>
          <a:prstGeom prst="roundRect">
            <a:avLst>
              <a:gd name="adj" fmla="val 6579"/>
            </a:avLst>
          </a:prstGeom>
          <a:solidFill>
            <a:srgbClr val="F8FAFC"/>
          </a:solidFill>
          <a:ln w="12700">
            <a:solidFill>
              <a:srgbClr val="E2E8F0"/>
            </a:solidFill>
            <a:prstDash val="solid"/>
          </a:ln>
        </p:spPr>
      </p:sp>
      <p:sp>
        <p:nvSpPr>
          <p:cNvPr id="11" name="Text 9"/>
          <p:cNvSpPr/>
          <p:nvPr/>
        </p:nvSpPr>
        <p:spPr>
          <a:xfrm>
            <a:off x="685800" y="2843784"/>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Location</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Building, room number or area</a:t>
            </a:r>
            <a:endParaRPr lang="en-US" sz="1200" dirty="0"/>
          </a:p>
        </p:txBody>
      </p:sp>
      <p:sp>
        <p:nvSpPr>
          <p:cNvPr id="12" name="Shape 10"/>
          <p:cNvSpPr/>
          <p:nvPr/>
        </p:nvSpPr>
        <p:spPr>
          <a:xfrm>
            <a:off x="6126480" y="2843784"/>
            <a:ext cx="5440680" cy="694944"/>
          </a:xfrm>
          <a:prstGeom prst="roundRect">
            <a:avLst>
              <a:gd name="adj" fmla="val 6579"/>
            </a:avLst>
          </a:prstGeom>
          <a:solidFill>
            <a:srgbClr val="F8FAFC"/>
          </a:solidFill>
          <a:ln w="12700">
            <a:solidFill>
              <a:srgbClr val="E2E8F0"/>
            </a:solidFill>
            <a:prstDash val="solid"/>
          </a:ln>
        </p:spPr>
      </p:sp>
      <p:sp>
        <p:nvSpPr>
          <p:cNvPr id="13" name="Text 11"/>
          <p:cNvSpPr/>
          <p:nvPr/>
        </p:nvSpPr>
        <p:spPr>
          <a:xfrm>
            <a:off x="6263640" y="2843784"/>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Incident Type</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Noise, Lockout, Resident Concern, Maintenance, Wellness Check, Policy Violation, Facility/Safety, Medical, Mental Health, Alcohol/Drug, Other</a:t>
            </a:r>
            <a:endParaRPr lang="en-US" sz="1200" dirty="0"/>
          </a:p>
        </p:txBody>
      </p:sp>
      <p:sp>
        <p:nvSpPr>
          <p:cNvPr id="14" name="Shape 12"/>
          <p:cNvSpPr/>
          <p:nvPr/>
        </p:nvSpPr>
        <p:spPr>
          <a:xfrm>
            <a:off x="548640" y="3630168"/>
            <a:ext cx="5440680" cy="694944"/>
          </a:xfrm>
          <a:prstGeom prst="roundRect">
            <a:avLst>
              <a:gd name="adj" fmla="val 6579"/>
            </a:avLst>
          </a:prstGeom>
          <a:solidFill>
            <a:srgbClr val="F8FAFC"/>
          </a:solidFill>
          <a:ln w="12700">
            <a:solidFill>
              <a:srgbClr val="E2E8F0"/>
            </a:solidFill>
            <a:prstDash val="solid"/>
          </a:ln>
        </p:spPr>
      </p:sp>
      <p:sp>
        <p:nvSpPr>
          <p:cNvPr id="15" name="Text 13"/>
          <p:cNvSpPr/>
          <p:nvPr/>
        </p:nvSpPr>
        <p:spPr>
          <a:xfrm>
            <a:off x="685800" y="3630168"/>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Reason for Call</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The initial information you were given</a:t>
            </a:r>
            <a:endParaRPr lang="en-US" sz="1200" dirty="0"/>
          </a:p>
        </p:txBody>
      </p:sp>
      <p:sp>
        <p:nvSpPr>
          <p:cNvPr id="16" name="Shape 14"/>
          <p:cNvSpPr/>
          <p:nvPr/>
        </p:nvSpPr>
        <p:spPr>
          <a:xfrm>
            <a:off x="6126480" y="3630168"/>
            <a:ext cx="5440680" cy="694944"/>
          </a:xfrm>
          <a:prstGeom prst="roundRect">
            <a:avLst>
              <a:gd name="adj" fmla="val 6579"/>
            </a:avLst>
          </a:prstGeom>
          <a:solidFill>
            <a:srgbClr val="F8FAFC"/>
          </a:solidFill>
          <a:ln w="12700">
            <a:solidFill>
              <a:srgbClr val="E2E8F0"/>
            </a:solidFill>
            <a:prstDash val="solid"/>
          </a:ln>
        </p:spPr>
      </p:sp>
      <p:sp>
        <p:nvSpPr>
          <p:cNvPr id="17" name="Text 15"/>
          <p:cNvSpPr/>
          <p:nvPr/>
        </p:nvSpPr>
        <p:spPr>
          <a:xfrm>
            <a:off x="6263640" y="3630168"/>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Response / Follow-Up</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2–3 sentence summary of what you did</a:t>
            </a:r>
            <a:endParaRPr lang="en-US" sz="1200" dirty="0"/>
          </a:p>
        </p:txBody>
      </p:sp>
      <p:sp>
        <p:nvSpPr>
          <p:cNvPr id="18" name="Shape 16"/>
          <p:cNvSpPr/>
          <p:nvPr/>
        </p:nvSpPr>
        <p:spPr>
          <a:xfrm>
            <a:off x="548640" y="4416552"/>
            <a:ext cx="5440680" cy="694944"/>
          </a:xfrm>
          <a:prstGeom prst="roundRect">
            <a:avLst>
              <a:gd name="adj" fmla="val 6579"/>
            </a:avLst>
          </a:prstGeom>
          <a:solidFill>
            <a:srgbClr val="F8FAFC"/>
          </a:solidFill>
          <a:ln w="12700">
            <a:solidFill>
              <a:srgbClr val="E2E8F0"/>
            </a:solidFill>
            <a:prstDash val="solid"/>
          </a:ln>
        </p:spPr>
      </p:sp>
      <p:sp>
        <p:nvSpPr>
          <p:cNvPr id="19" name="Text 17"/>
          <p:cNvSpPr/>
          <p:nvPr/>
        </p:nvSpPr>
        <p:spPr>
          <a:xfrm>
            <a:off x="685800" y="4416552"/>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Documentation Completed</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None Required, Incident Report, Service Request, Other</a:t>
            </a:r>
            <a:endParaRPr lang="en-US" sz="1200" dirty="0"/>
          </a:p>
        </p:txBody>
      </p:sp>
      <p:sp>
        <p:nvSpPr>
          <p:cNvPr id="20" name="Shape 18"/>
          <p:cNvSpPr/>
          <p:nvPr/>
        </p:nvSpPr>
        <p:spPr>
          <a:xfrm>
            <a:off x="6126480" y="4416552"/>
            <a:ext cx="5440680" cy="694944"/>
          </a:xfrm>
          <a:prstGeom prst="roundRect">
            <a:avLst>
              <a:gd name="adj" fmla="val 6579"/>
            </a:avLst>
          </a:prstGeom>
          <a:solidFill>
            <a:srgbClr val="F8FAFC"/>
          </a:solidFill>
          <a:ln w="12700">
            <a:solidFill>
              <a:srgbClr val="E2E8F0"/>
            </a:solidFill>
            <a:prstDash val="solid"/>
          </a:ln>
        </p:spPr>
      </p:sp>
      <p:sp>
        <p:nvSpPr>
          <p:cNvPr id="21" name="Text 19"/>
          <p:cNvSpPr/>
          <p:nvPr/>
        </p:nvSpPr>
        <p:spPr>
          <a:xfrm>
            <a:off x="6263640" y="4416552"/>
            <a:ext cx="5212080" cy="694944"/>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Done</a:t>
            </a:r>
            <a:endParaRPr lang="en-US" sz="1200" dirty="0"/>
          </a:p>
          <a:p>
            <a:pPr indent="0" marL="0">
              <a:buNone/>
            </a:pPr>
            <a:r>
              <a:rPr lang="en-US" sz="1000" dirty="0">
                <a:solidFill>
                  <a:srgbClr val="14213D"/>
                </a:solidFill>
                <a:latin typeface="Montserrat" pitchFamily="34" charset="0"/>
                <a:ea typeface="Montserrat" pitchFamily="34" charset="-122"/>
                <a:cs typeface="Montserrat" pitchFamily="34" charset="-120"/>
              </a:rPr>
              <a:t>Saves the entry — use Edit or Remove later</a:t>
            </a:r>
            <a:endParaRPr lang="en-US" sz="1200" dirty="0"/>
          </a:p>
        </p:txBody>
      </p:sp>
      <p:sp>
        <p:nvSpPr>
          <p:cNvPr id="22" name="Shape 20"/>
          <p:cNvSpPr/>
          <p:nvPr/>
        </p:nvSpPr>
        <p:spPr>
          <a:xfrm>
            <a:off x="548640" y="5257800"/>
            <a:ext cx="11109960" cy="548640"/>
          </a:xfrm>
          <a:prstGeom prst="roundRect">
            <a:avLst>
              <a:gd name="adj" fmla="val 13333"/>
            </a:avLst>
          </a:prstGeom>
          <a:solidFill>
            <a:srgbClr val="FFF7ED"/>
          </a:solidFill>
          <a:ln w="12700">
            <a:solidFill>
              <a:srgbClr val="FED7AA"/>
            </a:solidFill>
            <a:prstDash val="solid"/>
          </a:ln>
        </p:spPr>
      </p:sp>
      <p:sp>
        <p:nvSpPr>
          <p:cNvPr id="23" name="Shape 21"/>
          <p:cNvSpPr/>
          <p:nvPr/>
        </p:nvSpPr>
        <p:spPr>
          <a:xfrm>
            <a:off x="548640" y="5257800"/>
            <a:ext cx="73152" cy="548640"/>
          </a:xfrm>
          <a:prstGeom prst="rect">
            <a:avLst/>
          </a:prstGeom>
          <a:solidFill>
            <a:srgbClr val="F99239"/>
          </a:solidFill>
          <a:ln w="12700">
            <a:solidFill>
              <a:srgbClr val="F99239"/>
            </a:solidFill>
            <a:prstDash val="solid"/>
          </a:ln>
        </p:spPr>
      </p:sp>
      <p:sp>
        <p:nvSpPr>
          <p:cNvPr id="24" name="Text 22"/>
          <p:cNvSpPr/>
          <p:nvPr/>
        </p:nvSpPr>
        <p:spPr>
          <a:xfrm>
            <a:off x="731520" y="5257800"/>
            <a:ext cx="10835640" cy="5486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 </a:t>
            </a:r>
            <a:pPr indent="0" marL="0">
              <a:buNone/>
            </a:pPr>
            <a:r>
              <a:rPr lang="en-US" sz="1100" b="1" dirty="0">
                <a:solidFill>
                  <a:srgbClr val="002D6A"/>
                </a:solidFill>
                <a:latin typeface="Montserrat" pitchFamily="34" charset="0"/>
                <a:ea typeface="Montserrat" pitchFamily="34" charset="-122"/>
                <a:cs typeface="Montserrat" pitchFamily="34" charset="-120"/>
              </a:rPr>
              <a:t>Do not include resident names or Student IDs</a:t>
            </a:r>
            <a:pPr indent="0" marL="0">
              <a:buNone/>
            </a:pPr>
            <a:r>
              <a:rPr lang="en-US" sz="1100" dirty="0">
                <a:solidFill>
                  <a:srgbClr val="14213D"/>
                </a:solidFill>
                <a:latin typeface="Montserrat" pitchFamily="34" charset="0"/>
                <a:ea typeface="Montserrat" pitchFamily="34" charset="-122"/>
                <a:cs typeface="Montserrat" pitchFamily="34" charset="-120"/>
              </a:rPr>
              <a:t> in the Response / Follow-Up section.</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Submitting, reopening &amp; working offline</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At the end of your duty period click </a:t>
            </a:r>
            <a:pPr indent="0" marL="0">
              <a:buNone/>
            </a:pPr>
            <a:r>
              <a:rPr lang="en-US" sz="1300" b="1" dirty="0">
                <a:solidFill>
                  <a:srgbClr val="002D6A"/>
                </a:solidFill>
                <a:latin typeface="Montserrat" pitchFamily="34" charset="0"/>
                <a:ea typeface="Montserrat" pitchFamily="34" charset="-122"/>
                <a:cs typeface="Montserrat" pitchFamily="34" charset="-120"/>
              </a:rPr>
              <a:t>Submit {Shift} Duty Log</a:t>
            </a:r>
            <a:pPr indent="0" marL="0">
              <a:buNone/>
            </a:pPr>
            <a:r>
              <a:rPr lang="en-US" sz="1300" dirty="0">
                <a:solidFill>
                  <a:srgbClr val="14213D"/>
                </a:solidFill>
                <a:latin typeface="Montserrat" pitchFamily="34" charset="0"/>
                <a:ea typeface="Montserrat" pitchFamily="34" charset="-122"/>
                <a:cs typeface="Montserrat" pitchFamily="34" charset="-120"/>
              </a:rPr>
              <a:t> (needs at least one entry or </a:t>
            </a:r>
            <a:pPr indent="0" marL="0">
              <a:buNone/>
            </a:pPr>
            <a:r>
              <a:rPr lang="en-US" sz="1300" b="1" dirty="0">
                <a:solidFill>
                  <a:srgbClr val="002D6A"/>
                </a:solidFill>
                <a:latin typeface="Montserrat" pitchFamily="34" charset="0"/>
                <a:ea typeface="Montserrat" pitchFamily="34" charset="-122"/>
                <a:cs typeface="Montserrat" pitchFamily="34" charset="-120"/>
              </a:rPr>
              <a:t>No Calls</a:t>
            </a:r>
            <a:pPr indent="0" marL="0">
              <a:buNone/>
            </a:pPr>
            <a:r>
              <a:rPr lang="en-US" sz="1300" dirty="0">
                <a:solidFill>
                  <a:srgbClr val="14213D"/>
                </a:solidFill>
                <a:latin typeface="Montserrat" pitchFamily="34" charset="0"/>
                <a:ea typeface="Montserrat" pitchFamily="34" charset="-122"/>
                <a:cs typeface="Montserrat" pitchFamily="34" charset="-120"/>
              </a:rPr>
              <a:t> ticked).</a:t>
            </a:r>
            <a:endParaRPr lang="en-US" sz="1300" dirty="0"/>
          </a:p>
        </p:txBody>
      </p:sp>
      <p:sp>
        <p:nvSpPr>
          <p:cNvPr id="8" name="Shape 6"/>
          <p:cNvSpPr/>
          <p:nvPr/>
        </p:nvSpPr>
        <p:spPr>
          <a:xfrm>
            <a:off x="548640" y="2514600"/>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1460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459736"/>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Check the summary — date, Duty RA, partner, number of calls — and click </a:t>
            </a:r>
            <a:pPr indent="0" marL="0">
              <a:buNone/>
            </a:pPr>
            <a:r>
              <a:rPr lang="en-US" sz="1300" b="1" dirty="0">
                <a:solidFill>
                  <a:srgbClr val="002D6A"/>
                </a:solidFill>
                <a:latin typeface="Montserrat" pitchFamily="34" charset="0"/>
                <a:ea typeface="Montserrat" pitchFamily="34" charset="-122"/>
                <a:cs typeface="Montserrat" pitchFamily="34" charset="-120"/>
              </a:rPr>
              <a:t>Submit Duty Log</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1" name="Shape 9"/>
          <p:cNvSpPr/>
          <p:nvPr/>
        </p:nvSpPr>
        <p:spPr>
          <a:xfrm>
            <a:off x="548640" y="3227832"/>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22783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172968"/>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After submitting the log is </a:t>
            </a:r>
            <a:pPr indent="0" marL="0">
              <a:buNone/>
            </a:pPr>
            <a:r>
              <a:rPr lang="en-US" sz="1300" b="1" dirty="0">
                <a:solidFill>
                  <a:srgbClr val="002D6A"/>
                </a:solidFill>
                <a:latin typeface="Montserrat" pitchFamily="34" charset="0"/>
                <a:ea typeface="Montserrat" pitchFamily="34" charset="-122"/>
                <a:cs typeface="Montserrat" pitchFamily="34" charset="-120"/>
              </a:rPr>
              <a:t>read-only</a:t>
            </a:r>
            <a:pPr indent="0" marL="0">
              <a:buNone/>
            </a:pPr>
            <a:r>
              <a:rPr lang="en-US" sz="1300" dirty="0">
                <a:solidFill>
                  <a:srgbClr val="14213D"/>
                </a:solidFill>
                <a:latin typeface="Montserrat" pitchFamily="34" charset="0"/>
                <a:ea typeface="Montserrat" pitchFamily="34" charset="-122"/>
                <a:cs typeface="Montserrat" pitchFamily="34" charset="-120"/>
              </a:rPr>
              <a:t>. Use </a:t>
            </a:r>
            <a:pPr indent="0" marL="0">
              <a:buNone/>
            </a:pPr>
            <a:r>
              <a:rPr lang="en-US" sz="1300" b="1" dirty="0">
                <a:solidFill>
                  <a:srgbClr val="002D6A"/>
                </a:solidFill>
                <a:latin typeface="Montserrat" pitchFamily="34" charset="0"/>
                <a:ea typeface="Montserrat" pitchFamily="34" charset="-122"/>
                <a:cs typeface="Montserrat" pitchFamily="34" charset="-120"/>
              </a:rPr>
              <a:t>View report</a:t>
            </a:r>
            <a:pPr indent="0" marL="0">
              <a:buNone/>
            </a:pPr>
            <a:r>
              <a:rPr lang="en-US" sz="1300" dirty="0">
                <a:solidFill>
                  <a:srgbClr val="14213D"/>
                </a:solidFill>
                <a:latin typeface="Montserrat" pitchFamily="34" charset="0"/>
                <a:ea typeface="Montserrat" pitchFamily="34" charset="-122"/>
                <a:cs typeface="Montserrat" pitchFamily="34" charset="-120"/>
              </a:rPr>
              <a:t> (with Print).</a:t>
            </a:r>
            <a:endParaRPr lang="en-US" sz="1300" dirty="0"/>
          </a:p>
        </p:txBody>
      </p:sp>
      <p:sp>
        <p:nvSpPr>
          <p:cNvPr id="14" name="Shape 12"/>
          <p:cNvSpPr/>
          <p:nvPr/>
        </p:nvSpPr>
        <p:spPr>
          <a:xfrm>
            <a:off x="548640" y="3941064"/>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94106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886200"/>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Need a fix? Same day: </a:t>
            </a:r>
            <a:pPr indent="0" marL="0">
              <a:buNone/>
            </a:pPr>
            <a:r>
              <a:rPr lang="en-US" sz="1300" b="1" dirty="0">
                <a:solidFill>
                  <a:srgbClr val="002D6A"/>
                </a:solidFill>
                <a:latin typeface="Montserrat" pitchFamily="34" charset="0"/>
                <a:ea typeface="Montserrat" pitchFamily="34" charset="-122"/>
                <a:cs typeface="Montserrat" pitchFamily="34" charset="-120"/>
              </a:rPr>
              <a:t>Reopen to edit</a:t>
            </a:r>
            <a:pPr indent="0" marL="0">
              <a:buNone/>
            </a:pPr>
            <a:r>
              <a:rPr lang="en-US" sz="1300" dirty="0">
                <a:solidFill>
                  <a:srgbClr val="14213D"/>
                </a:solidFill>
                <a:latin typeface="Montserrat" pitchFamily="34" charset="0"/>
                <a:ea typeface="Montserrat" pitchFamily="34" charset="-122"/>
                <a:cs typeface="Montserrat" pitchFamily="34" charset="-120"/>
              </a:rPr>
              <a:t>. Otherwise open the report → </a:t>
            </a:r>
            <a:pPr indent="0" marL="0">
              <a:buNone/>
            </a:pPr>
            <a:r>
              <a:rPr lang="en-US" sz="1300" b="1" dirty="0">
                <a:solidFill>
                  <a:srgbClr val="002D6A"/>
                </a:solidFill>
                <a:latin typeface="Montserrat" pitchFamily="34" charset="0"/>
                <a:ea typeface="Montserrat" pitchFamily="34" charset="-122"/>
                <a:cs typeface="Montserrat" pitchFamily="34" charset="-120"/>
              </a:rPr>
              <a:t>Request Edit Unlock</a:t>
            </a:r>
            <a:pPr indent="0" marL="0">
              <a:buNone/>
            </a:pPr>
            <a:r>
              <a:rPr lang="en-US" sz="1300" dirty="0">
                <a:solidFill>
                  <a:srgbClr val="14213D"/>
                </a:solidFill>
                <a:latin typeface="Montserrat" pitchFamily="34" charset="0"/>
                <a:ea typeface="Montserrat" pitchFamily="34" charset="-122"/>
                <a:cs typeface="Montserrat" pitchFamily="34" charset="-120"/>
              </a:rPr>
              <a:t> (shows “Edit Requested”).</a:t>
            </a:r>
            <a:endParaRPr lang="en-US" sz="1300" dirty="0"/>
          </a:p>
        </p:txBody>
      </p:sp>
      <p:sp>
        <p:nvSpPr>
          <p:cNvPr id="17" name="Shape 15"/>
          <p:cNvSpPr/>
          <p:nvPr/>
        </p:nvSpPr>
        <p:spPr>
          <a:xfrm>
            <a:off x="548640" y="4654296"/>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65429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599432"/>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Use </a:t>
            </a:r>
            <a:pPr indent="0" marL="0">
              <a:buNone/>
            </a:pPr>
            <a:r>
              <a:rPr lang="en-US" sz="1300" b="1" dirty="0">
                <a:solidFill>
                  <a:srgbClr val="002D6A"/>
                </a:solidFill>
                <a:latin typeface="Montserrat" pitchFamily="34" charset="0"/>
                <a:ea typeface="Montserrat" pitchFamily="34" charset="-122"/>
                <a:cs typeface="Montserrat" pitchFamily="34" charset="-120"/>
              </a:rPr>
              <a:t>Duty Resources</a:t>
            </a:r>
            <a:pPr indent="0" marL="0">
              <a:buNone/>
            </a:pPr>
            <a:r>
              <a:rPr lang="en-US" sz="1300" dirty="0">
                <a:solidFill>
                  <a:srgbClr val="14213D"/>
                </a:solidFill>
                <a:latin typeface="Montserrat" pitchFamily="34" charset="0"/>
                <a:ea typeface="Montserrat" pitchFamily="34" charset="-122"/>
                <a:cs typeface="Montserrat" pitchFamily="34" charset="-120"/>
              </a:rPr>
              <a:t> for </a:t>
            </a:r>
            <a:pPr indent="0" marL="0">
              <a:buNone/>
            </a:pPr>
            <a:r>
              <a:rPr lang="en-US" sz="1300" b="1" dirty="0">
                <a:solidFill>
                  <a:srgbClr val="002D6A"/>
                </a:solidFill>
                <a:latin typeface="Montserrat" pitchFamily="34" charset="0"/>
                <a:ea typeface="Montserrat" pitchFamily="34" charset="-122"/>
                <a:cs typeface="Montserrat" pitchFamily="34" charset="-120"/>
              </a:rPr>
              <a:t>How to Write an Incident Report</a:t>
            </a:r>
            <a:pPr indent="0" marL="0">
              <a:buNone/>
            </a:pPr>
            <a:r>
              <a:rPr lang="en-US" sz="1300" dirty="0">
                <a:solidFill>
                  <a:srgbClr val="14213D"/>
                </a:solidFill>
                <a:latin typeface="Montserrat" pitchFamily="34" charset="0"/>
                <a:ea typeface="Montserrat" pitchFamily="34" charset="-122"/>
                <a:cs typeface="Montserrat" pitchFamily="34" charset="-120"/>
              </a:rPr>
              <a:t> and </a:t>
            </a:r>
            <a:pPr indent="0" marL="0">
              <a:buNone/>
            </a:pPr>
            <a:r>
              <a:rPr lang="en-US" sz="1300" b="1" dirty="0">
                <a:solidFill>
                  <a:srgbClr val="002D6A"/>
                </a:solidFill>
                <a:latin typeface="Montserrat" pitchFamily="34" charset="0"/>
                <a:ea typeface="Montserrat" pitchFamily="34" charset="-122"/>
                <a:cs typeface="Montserrat" pitchFamily="34" charset="-120"/>
              </a:rPr>
              <a:t>Open Incident Report Form</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20" name="Shape 18"/>
          <p:cNvSpPr/>
          <p:nvPr/>
        </p:nvSpPr>
        <p:spPr>
          <a:xfrm>
            <a:off x="7178040" y="1783080"/>
            <a:ext cx="4480560" cy="2194560"/>
          </a:xfrm>
          <a:prstGeom prst="roundRect">
            <a:avLst>
              <a:gd name="adj" fmla="val 3333"/>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21" name="Shape 19"/>
          <p:cNvSpPr/>
          <p:nvPr/>
        </p:nvSpPr>
        <p:spPr>
          <a:xfrm>
            <a:off x="7178040" y="1783080"/>
            <a:ext cx="73152" cy="2194560"/>
          </a:xfrm>
          <a:prstGeom prst="rect">
            <a:avLst/>
          </a:prstGeom>
          <a:solidFill>
            <a:srgbClr val="1F5FA8"/>
          </a:solidFill>
          <a:ln w="12700">
            <a:solidFill>
              <a:srgbClr val="1F5FA8"/>
            </a:solidFill>
            <a:prstDash val="solid"/>
          </a:ln>
        </p:spPr>
      </p:sp>
      <p:sp>
        <p:nvSpPr>
          <p:cNvPr id="22" name="Text 20"/>
          <p:cNvSpPr/>
          <p:nvPr/>
        </p:nvSpPr>
        <p:spPr>
          <a:xfrm>
            <a:off x="7379208" y="1874520"/>
            <a:ext cx="4160520" cy="347472"/>
          </a:xfrm>
          <a:prstGeom prst="rect">
            <a:avLst/>
          </a:prstGeom>
          <a:noFill/>
          <a:ln/>
        </p:spPr>
        <p:txBody>
          <a:bodyPr wrap="square" rtlCol="0" anchor="ctr"/>
          <a:lstStyle/>
          <a:p>
            <a:pPr indent="0" marL="0">
              <a:buNone/>
            </a:pPr>
            <a:r>
              <a:rPr lang="en-US" sz="1300" b="1" dirty="0">
                <a:solidFill>
                  <a:srgbClr val="1F5FA8"/>
                </a:solidFill>
                <a:latin typeface="Montserrat" pitchFamily="34" charset="0"/>
                <a:ea typeface="Montserrat" pitchFamily="34" charset="-122"/>
                <a:cs typeface="Montserrat" pitchFamily="34" charset="-120"/>
              </a:rPr>
              <a:t>📶  Lost connection?</a:t>
            </a:r>
            <a:endParaRPr lang="en-US" sz="1300" dirty="0"/>
          </a:p>
        </p:txBody>
      </p:sp>
      <p:sp>
        <p:nvSpPr>
          <p:cNvPr id="23" name="Text 21"/>
          <p:cNvSpPr/>
          <p:nvPr/>
        </p:nvSpPr>
        <p:spPr>
          <a:xfrm>
            <a:off x="7315200" y="2240280"/>
            <a:ext cx="4206240" cy="164592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Changes are kept on your device</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Status shows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Offline — changes will sync</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Retries automatically, then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All changes synced</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You cannot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submit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while offline</a:t>
            </a:r>
            <a:endParaRPr lang="en-US" sz="1100" dirty="0"/>
          </a:p>
        </p:txBody>
      </p:sp>
      <p:sp>
        <p:nvSpPr>
          <p:cNvPr id="24" name="Shape 22"/>
          <p:cNvSpPr/>
          <p:nvPr/>
        </p:nvSpPr>
        <p:spPr>
          <a:xfrm>
            <a:off x="7178040" y="4160520"/>
            <a:ext cx="4480560" cy="1188720"/>
          </a:xfrm>
          <a:prstGeom prst="roundRect">
            <a:avLst>
              <a:gd name="adj" fmla="val 6154"/>
            </a:avLst>
          </a:prstGeom>
          <a:solidFill>
            <a:srgbClr val="FFF7ED"/>
          </a:solidFill>
          <a:ln w="12700">
            <a:solidFill>
              <a:srgbClr val="FED7AA"/>
            </a:solidFill>
            <a:prstDash val="solid"/>
          </a:ln>
        </p:spPr>
      </p:sp>
      <p:sp>
        <p:nvSpPr>
          <p:cNvPr id="25" name="Shape 23"/>
          <p:cNvSpPr/>
          <p:nvPr/>
        </p:nvSpPr>
        <p:spPr>
          <a:xfrm>
            <a:off x="7178040" y="4160520"/>
            <a:ext cx="73152" cy="1188720"/>
          </a:xfrm>
          <a:prstGeom prst="rect">
            <a:avLst/>
          </a:prstGeom>
          <a:solidFill>
            <a:srgbClr val="F99239"/>
          </a:solidFill>
          <a:ln w="12700">
            <a:solidFill>
              <a:srgbClr val="F99239"/>
            </a:solidFill>
            <a:prstDash val="solid"/>
          </a:ln>
        </p:spPr>
      </p:sp>
      <p:sp>
        <p:nvSpPr>
          <p:cNvPr id="26" name="Text 24"/>
          <p:cNvSpPr/>
          <p:nvPr/>
        </p:nvSpPr>
        <p:spPr>
          <a:xfrm>
            <a:off x="7360920" y="4160520"/>
            <a:ext cx="4206240" cy="118872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Submit your log at the end of every duty period and follow your REC’s deadline. Past logs live in </a:t>
            </a:r>
            <a:pPr indent="0" marL="0">
              <a:buNone/>
            </a:pPr>
            <a:r>
              <a:rPr lang="en-US" sz="1100" b="1" dirty="0">
                <a:solidFill>
                  <a:srgbClr val="002D6A"/>
                </a:solidFill>
                <a:latin typeface="Montserrat" pitchFamily="34" charset="0"/>
                <a:ea typeface="Montserrat" pitchFamily="34" charset="-122"/>
                <a:cs typeface="Montserrat" pitchFamily="34" charset="-120"/>
              </a:rPr>
              <a:t>My Duty Log History</a:t>
            </a:r>
            <a:pPr indent="0" marL="0">
              <a:buNone/>
            </a:pPr>
            <a:r>
              <a:rPr lang="en-US" sz="1100" dirty="0">
                <a:solidFill>
                  <a:srgbClr val="14213D"/>
                </a:solidFill>
                <a:latin typeface="Montserrat" pitchFamily="34" charset="0"/>
                <a:ea typeface="Montserrat" pitchFamily="34" charset="-122"/>
                <a:cs typeface="Montserrat" pitchFamily="34" charset="-120"/>
              </a:rPr>
              <a:t>.</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Duty Log on your phone</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6309360" cy="64008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Open the Duty Log page on your phone and sign in.</a:t>
            </a:r>
            <a:endParaRPr lang="en-US" sz="1300" dirty="0"/>
          </a:p>
        </p:txBody>
      </p:sp>
      <p:sp>
        <p:nvSpPr>
          <p:cNvPr id="8" name="Shape 6"/>
          <p:cNvSpPr/>
          <p:nvPr/>
        </p:nvSpPr>
        <p:spPr>
          <a:xfrm>
            <a:off x="548640" y="2441448"/>
            <a:ext cx="347472" cy="347472"/>
          </a:xfrm>
          <a:prstGeom prst="ellipse">
            <a:avLst/>
          </a:prstGeom>
          <a:solidFill>
            <a:srgbClr val="002D6A"/>
          </a:solidFill>
          <a:ln w="12700">
            <a:solidFill>
              <a:srgbClr val="FFFFFF"/>
            </a:solidFill>
            <a:prstDash val="solid"/>
          </a:ln>
        </p:spPr>
      </p:sp>
      <p:sp>
        <p:nvSpPr>
          <p:cNvPr id="9" name="Text 7"/>
          <p:cNvSpPr/>
          <p:nvPr/>
        </p:nvSpPr>
        <p:spPr>
          <a:xfrm>
            <a:off x="548640" y="244144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386584"/>
            <a:ext cx="6309360" cy="640080"/>
          </a:xfrm>
          <a:prstGeom prst="rect">
            <a:avLst/>
          </a:prstGeom>
          <a:noFill/>
          <a:ln/>
        </p:spPr>
        <p:txBody>
          <a:bodyPr wrap="square" rtlCol="0" anchor="t"/>
          <a:lstStyle/>
          <a:p>
            <a:pPr indent="0" marL="0">
              <a:buNone/>
            </a:pPr>
            <a:r>
              <a:rPr lang="en-US" sz="1300" b="1" dirty="0">
                <a:solidFill>
                  <a:srgbClr val="002D6A"/>
                </a:solidFill>
                <a:latin typeface="Montserrat" pitchFamily="34" charset="0"/>
                <a:ea typeface="Montserrat" pitchFamily="34" charset="-122"/>
                <a:cs typeface="Montserrat" pitchFamily="34" charset="-120"/>
              </a:rPr>
              <a:t>iPhone:</a:t>
            </a:r>
            <a:pPr indent="0" marL="0">
              <a:buNone/>
            </a:pPr>
            <a:r>
              <a:rPr lang="en-US" sz="1300" dirty="0">
                <a:solidFill>
                  <a:srgbClr val="14213D"/>
                </a:solidFill>
                <a:latin typeface="Montserrat" pitchFamily="34" charset="0"/>
                <a:ea typeface="Montserrat" pitchFamily="34" charset="-122"/>
                <a:cs typeface="Montserrat" pitchFamily="34" charset="-120"/>
              </a:rPr>
              <a:t> Safari → Share → </a:t>
            </a:r>
            <a:pPr indent="0" marL="0">
              <a:buNone/>
            </a:pPr>
            <a:r>
              <a:rPr lang="en-US" sz="1300" b="1" dirty="0">
                <a:solidFill>
                  <a:srgbClr val="002D6A"/>
                </a:solidFill>
                <a:latin typeface="Montserrat" pitchFamily="34" charset="0"/>
                <a:ea typeface="Montserrat" pitchFamily="34" charset="-122"/>
                <a:cs typeface="Montserrat" pitchFamily="34" charset="-120"/>
              </a:rPr>
              <a:t>Add to Home Screen</a:t>
            </a:r>
            <a:pPr indent="0" marL="0">
              <a:buNone/>
            </a:pPr>
            <a:r>
              <a:rPr lang="en-US" sz="1300" dirty="0">
                <a:solidFill>
                  <a:srgbClr val="14213D"/>
                </a:solidFill>
                <a:latin typeface="Montserrat" pitchFamily="34" charset="0"/>
                <a:ea typeface="Montserrat" pitchFamily="34" charset="-122"/>
                <a:cs typeface="Montserrat" pitchFamily="34" charset="-120"/>
              </a:rPr>
              <a:t>. </a:t>
            </a:r>
            <a:pPr indent="0" marL="0">
              <a:buNone/>
            </a:pPr>
            <a:r>
              <a:rPr lang="en-US" sz="1300" b="1" dirty="0">
                <a:solidFill>
                  <a:srgbClr val="002D6A"/>
                </a:solidFill>
                <a:latin typeface="Montserrat" pitchFamily="34" charset="0"/>
                <a:ea typeface="Montserrat" pitchFamily="34" charset="-122"/>
                <a:cs typeface="Montserrat" pitchFamily="34" charset="-120"/>
              </a:rPr>
              <a:t>Android:</a:t>
            </a:r>
            <a:pPr indent="0" marL="0">
              <a:buNone/>
            </a:pPr>
            <a:r>
              <a:rPr lang="en-US" sz="1300" dirty="0">
                <a:solidFill>
                  <a:srgbClr val="14213D"/>
                </a:solidFill>
                <a:latin typeface="Montserrat" pitchFamily="34" charset="0"/>
                <a:ea typeface="Montserrat" pitchFamily="34" charset="-122"/>
                <a:cs typeface="Montserrat" pitchFamily="34" charset="-120"/>
              </a:rPr>
              <a:t> menu → </a:t>
            </a:r>
            <a:pPr indent="0" marL="0">
              <a:buNone/>
            </a:pPr>
            <a:r>
              <a:rPr lang="en-US" sz="1300" b="1" dirty="0">
                <a:solidFill>
                  <a:srgbClr val="002D6A"/>
                </a:solidFill>
                <a:latin typeface="Montserrat" pitchFamily="34" charset="0"/>
                <a:ea typeface="Montserrat" pitchFamily="34" charset="-122"/>
                <a:cs typeface="Montserrat" pitchFamily="34" charset="-120"/>
              </a:rPr>
              <a:t>Install app / Add to Home screen</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1" name="Shape 9"/>
          <p:cNvSpPr/>
          <p:nvPr/>
        </p:nvSpPr>
        <p:spPr>
          <a:xfrm>
            <a:off x="548640" y="3081528"/>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08152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026664"/>
            <a:ext cx="6309360" cy="64008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Tap the </a:t>
            </a:r>
            <a:pPr indent="0" marL="0">
              <a:buNone/>
            </a:pPr>
            <a:r>
              <a:rPr lang="en-US" sz="1300" b="1" dirty="0">
                <a:solidFill>
                  <a:srgbClr val="002D6A"/>
                </a:solidFill>
                <a:latin typeface="Montserrat" pitchFamily="34" charset="0"/>
                <a:ea typeface="Montserrat" pitchFamily="34" charset="-122"/>
                <a:cs typeface="Montserrat" pitchFamily="34" charset="-120"/>
              </a:rPr>
              <a:t>Duty Log</a:t>
            </a:r>
            <a:pPr indent="0" marL="0">
              <a:buNone/>
            </a:pPr>
            <a:r>
              <a:rPr lang="en-US" sz="1300" dirty="0">
                <a:solidFill>
                  <a:srgbClr val="14213D"/>
                </a:solidFill>
                <a:latin typeface="Montserrat" pitchFamily="34" charset="0"/>
                <a:ea typeface="Montserrat" pitchFamily="34" charset="-122"/>
                <a:cs typeface="Montserrat" pitchFamily="34" charset="-120"/>
              </a:rPr>
              <a:t> icon to open full screen.</a:t>
            </a:r>
            <a:endParaRPr lang="en-US" sz="1300" dirty="0"/>
          </a:p>
        </p:txBody>
      </p:sp>
      <p:sp>
        <p:nvSpPr>
          <p:cNvPr id="14" name="Shape 12"/>
          <p:cNvSpPr/>
          <p:nvPr/>
        </p:nvSpPr>
        <p:spPr>
          <a:xfrm>
            <a:off x="548640" y="3721608"/>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72160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666744"/>
            <a:ext cx="6309360" cy="640080"/>
          </a:xfrm>
          <a:prstGeom prst="rect">
            <a:avLst/>
          </a:prstGeom>
          <a:noFill/>
          <a:ln/>
        </p:spPr>
        <p:txBody>
          <a:bodyPr wrap="square" rtlCol="0" anchor="t"/>
          <a:lstStyle/>
          <a:p>
            <a:pPr indent="0" marL="0">
              <a:buNone/>
            </a:pPr>
            <a:r>
              <a:rPr lang="en-US" sz="1300" b="1" dirty="0">
                <a:solidFill>
                  <a:srgbClr val="002D6A"/>
                </a:solidFill>
                <a:latin typeface="Montserrat" pitchFamily="34" charset="0"/>
                <a:ea typeface="Montserrat" pitchFamily="34" charset="-122"/>
                <a:cs typeface="Montserrat" pitchFamily="34" charset="-120"/>
              </a:rPr>
              <a:t>Start Today’s Duty Log</a:t>
            </a:r>
            <a:pPr indent="0" marL="0">
              <a:buNone/>
            </a:pPr>
            <a:r>
              <a:rPr lang="en-US" sz="1300" dirty="0">
                <a:solidFill>
                  <a:srgbClr val="14213D"/>
                </a:solidFill>
                <a:latin typeface="Montserrat" pitchFamily="34" charset="0"/>
                <a:ea typeface="Montserrat" pitchFamily="34" charset="-122"/>
                <a:cs typeface="Montserrat" pitchFamily="34" charset="-120"/>
              </a:rPr>
              <a:t> → choose </a:t>
            </a:r>
            <a:pPr indent="0" marL="0">
              <a:buNone/>
            </a:pPr>
            <a:r>
              <a:rPr lang="en-US" sz="1300" b="1" dirty="0">
                <a:solidFill>
                  <a:srgbClr val="002D6A"/>
                </a:solidFill>
                <a:latin typeface="Montserrat" pitchFamily="34" charset="0"/>
                <a:ea typeface="Montserrat" pitchFamily="34" charset="-122"/>
                <a:cs typeface="Montserrat" pitchFamily="34" charset="-120"/>
              </a:rPr>
              <a:t>Duty Partner</a:t>
            </a:r>
            <a:pPr indent="0" marL="0">
              <a:buNone/>
            </a:pPr>
            <a:r>
              <a:rPr lang="en-US" sz="1300" dirty="0">
                <a:solidFill>
                  <a:srgbClr val="14213D"/>
                </a:solidFill>
                <a:latin typeface="Montserrat" pitchFamily="34" charset="0"/>
                <a:ea typeface="Montserrat" pitchFamily="34" charset="-122"/>
                <a:cs typeface="Montserrat" pitchFamily="34" charset="-120"/>
              </a:rPr>
              <a:t> → </a:t>
            </a:r>
            <a:pPr indent="0" marL="0">
              <a:buNone/>
            </a:pPr>
            <a:r>
              <a:rPr lang="en-US" sz="1300" b="1" dirty="0">
                <a:solidFill>
                  <a:srgbClr val="002D6A"/>
                </a:solidFill>
                <a:latin typeface="Montserrat" pitchFamily="34" charset="0"/>
                <a:ea typeface="Montserrat" pitchFamily="34" charset="-122"/>
                <a:cs typeface="Montserrat" pitchFamily="34" charset="-120"/>
              </a:rPr>
              <a:t>+ Add Call / Incident</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361688"/>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3616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306824"/>
            <a:ext cx="6309360" cy="64008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Entries auto-save; if the signal drops it shows </a:t>
            </a:r>
            <a:pPr indent="0" marL="0">
              <a:buNone/>
            </a:pPr>
            <a:r>
              <a:rPr lang="en-US" sz="1300" b="1" dirty="0">
                <a:solidFill>
                  <a:srgbClr val="002D6A"/>
                </a:solidFill>
                <a:latin typeface="Montserrat" pitchFamily="34" charset="0"/>
                <a:ea typeface="Montserrat" pitchFamily="34" charset="-122"/>
                <a:cs typeface="Montserrat" pitchFamily="34" charset="-120"/>
              </a:rPr>
              <a:t>Offline — will retry</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20" name="Shape 18"/>
          <p:cNvSpPr/>
          <p:nvPr/>
        </p:nvSpPr>
        <p:spPr>
          <a:xfrm>
            <a:off x="548640" y="5001768"/>
            <a:ext cx="347472" cy="347472"/>
          </a:xfrm>
          <a:prstGeom prst="ellipse">
            <a:avLst/>
          </a:prstGeom>
          <a:solidFill>
            <a:srgbClr val="002D6A"/>
          </a:solidFill>
          <a:ln w="12700">
            <a:solidFill>
              <a:srgbClr val="FFFFFF"/>
            </a:solidFill>
            <a:prstDash val="solid"/>
          </a:ln>
        </p:spPr>
      </p:sp>
      <p:sp>
        <p:nvSpPr>
          <p:cNvPr id="21" name="Text 19"/>
          <p:cNvSpPr/>
          <p:nvPr/>
        </p:nvSpPr>
        <p:spPr>
          <a:xfrm>
            <a:off x="548640" y="50017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6</a:t>
            </a:r>
            <a:endParaRPr lang="en-US" sz="1200" dirty="0"/>
          </a:p>
        </p:txBody>
      </p:sp>
      <p:sp>
        <p:nvSpPr>
          <p:cNvPr id="22" name="Text 20"/>
          <p:cNvSpPr/>
          <p:nvPr/>
        </p:nvSpPr>
        <p:spPr>
          <a:xfrm>
            <a:off x="1005840" y="4946904"/>
            <a:ext cx="6309360" cy="64008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Tap </a:t>
            </a:r>
            <a:pPr indent="0" marL="0">
              <a:buNone/>
            </a:pPr>
            <a:r>
              <a:rPr lang="en-US" sz="1300" b="1" dirty="0">
                <a:solidFill>
                  <a:srgbClr val="002D6A"/>
                </a:solidFill>
                <a:latin typeface="Montserrat" pitchFamily="34" charset="0"/>
                <a:ea typeface="Montserrat" pitchFamily="34" charset="-122"/>
                <a:cs typeface="Montserrat" pitchFamily="34" charset="-120"/>
              </a:rPr>
              <a:t>Submit Daily Duty Log</a:t>
            </a:r>
            <a:pPr indent="0" marL="0">
              <a:buNone/>
            </a:pPr>
            <a:r>
              <a:rPr lang="en-US" sz="1300" dirty="0">
                <a:solidFill>
                  <a:srgbClr val="14213D"/>
                </a:solidFill>
                <a:latin typeface="Montserrat" pitchFamily="34" charset="0"/>
                <a:ea typeface="Montserrat" pitchFamily="34" charset="-122"/>
                <a:cs typeface="Montserrat" pitchFamily="34" charset="-120"/>
              </a:rPr>
              <a:t>. Use </a:t>
            </a:r>
            <a:pPr indent="0" marL="0">
              <a:buNone/>
            </a:pPr>
            <a:r>
              <a:rPr lang="en-US" sz="1300" b="1" dirty="0">
                <a:solidFill>
                  <a:srgbClr val="002D6A"/>
                </a:solidFill>
                <a:latin typeface="Montserrat" pitchFamily="34" charset="0"/>
                <a:ea typeface="Montserrat" pitchFamily="34" charset="-122"/>
                <a:cs typeface="Montserrat" pitchFamily="34" charset="-120"/>
              </a:rPr>
              <a:t>Open full Reslife Hub</a:t>
            </a:r>
            <a:pPr indent="0" marL="0">
              <a:buNone/>
            </a:pPr>
            <a:r>
              <a:rPr lang="en-US" sz="1300" dirty="0">
                <a:solidFill>
                  <a:srgbClr val="14213D"/>
                </a:solidFill>
                <a:latin typeface="Montserrat" pitchFamily="34" charset="0"/>
                <a:ea typeface="Montserrat" pitchFamily="34" charset="-122"/>
                <a:cs typeface="Montserrat" pitchFamily="34" charset="-120"/>
              </a:rPr>
              <a:t> for desktop tools.</a:t>
            </a:r>
            <a:endParaRPr lang="en-US" sz="1300" dirty="0"/>
          </a:p>
        </p:txBody>
      </p:sp>
      <p:sp>
        <p:nvSpPr>
          <p:cNvPr id="23" name="Shape 21"/>
          <p:cNvSpPr/>
          <p:nvPr/>
        </p:nvSpPr>
        <p:spPr>
          <a:xfrm>
            <a:off x="8229600" y="1691640"/>
            <a:ext cx="2377440" cy="4206240"/>
          </a:xfrm>
          <a:prstGeom prst="roundRect">
            <a:avLst>
              <a:gd name="adj" fmla="val 11538"/>
            </a:avLst>
          </a:prstGeom>
          <a:solidFill>
            <a:srgbClr val="111827"/>
          </a:solidFill>
          <a:ln w="12700">
            <a:solidFill>
              <a:srgbClr val="111827"/>
            </a:solidFill>
            <a:prstDash val="solid"/>
          </a:ln>
        </p:spPr>
      </p:sp>
      <p:sp>
        <p:nvSpPr>
          <p:cNvPr id="24" name="Shape 22"/>
          <p:cNvSpPr/>
          <p:nvPr/>
        </p:nvSpPr>
        <p:spPr>
          <a:xfrm>
            <a:off x="8339328" y="1874520"/>
            <a:ext cx="2157984" cy="3840480"/>
          </a:xfrm>
          <a:prstGeom prst="roundRect">
            <a:avLst>
              <a:gd name="adj" fmla="val 7627"/>
            </a:avLst>
          </a:prstGeom>
          <a:solidFill>
            <a:srgbClr val="F3F5F8"/>
          </a:solidFill>
          <a:ln w="12700">
            <a:solidFill>
              <a:srgbClr val="F3F5F8"/>
            </a:solidFill>
            <a:prstDash val="solid"/>
          </a:ln>
        </p:spPr>
      </p:sp>
      <p:sp>
        <p:nvSpPr>
          <p:cNvPr id="25" name="Shape 23"/>
          <p:cNvSpPr/>
          <p:nvPr/>
        </p:nvSpPr>
        <p:spPr>
          <a:xfrm>
            <a:off x="8339328" y="1965960"/>
            <a:ext cx="2157984" cy="457200"/>
          </a:xfrm>
          <a:prstGeom prst="rect">
            <a:avLst/>
          </a:prstGeom>
          <a:solidFill>
            <a:srgbClr val="002D6A"/>
          </a:solidFill>
          <a:ln w="12700">
            <a:solidFill>
              <a:srgbClr val="002D6A"/>
            </a:solidFill>
            <a:prstDash val="solid"/>
          </a:ln>
        </p:spPr>
      </p:sp>
      <p:sp>
        <p:nvSpPr>
          <p:cNvPr id="26" name="Text 24"/>
          <p:cNvSpPr/>
          <p:nvPr/>
        </p:nvSpPr>
        <p:spPr>
          <a:xfrm>
            <a:off x="8412480" y="1965960"/>
            <a:ext cx="2011680" cy="457200"/>
          </a:xfrm>
          <a:prstGeom prst="rect">
            <a:avLst/>
          </a:prstGeom>
          <a:noFill/>
          <a:ln/>
        </p:spPr>
        <p:txBody>
          <a:bodyPr wrap="square"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Duty Log   🔔</a:t>
            </a:r>
            <a:endParaRPr lang="en-US" sz="1000" dirty="0"/>
          </a:p>
        </p:txBody>
      </p:sp>
      <p:sp>
        <p:nvSpPr>
          <p:cNvPr id="27" name="Shape 25"/>
          <p:cNvSpPr/>
          <p:nvPr/>
        </p:nvSpPr>
        <p:spPr>
          <a:xfrm>
            <a:off x="8503920" y="2697480"/>
            <a:ext cx="1828800" cy="457200"/>
          </a:xfrm>
          <a:prstGeom prst="roundRect">
            <a:avLst>
              <a:gd name="adj" fmla="val 16000"/>
            </a:avLst>
          </a:prstGeom>
          <a:solidFill>
            <a:srgbClr val="F99239"/>
          </a:solidFill>
          <a:ln w="12700">
            <a:solidFill>
              <a:srgbClr val="FFFFFF"/>
            </a:solidFill>
            <a:prstDash val="solid"/>
          </a:ln>
        </p:spPr>
      </p:sp>
      <p:sp>
        <p:nvSpPr>
          <p:cNvPr id="28" name="Text 26"/>
          <p:cNvSpPr/>
          <p:nvPr/>
        </p:nvSpPr>
        <p:spPr>
          <a:xfrm>
            <a:off x="8503920" y="2697480"/>
            <a:ext cx="1828800" cy="457200"/>
          </a:xfrm>
          <a:prstGeom prst="rect">
            <a:avLst/>
          </a:prstGeom>
          <a:noFill/>
          <a:ln/>
        </p:spPr>
        <p:txBody>
          <a:bodyPr wrap="square"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Start Today’s Duty Log</a:t>
            </a:r>
            <a:endParaRPr lang="en-US" sz="850" dirty="0"/>
          </a:p>
        </p:txBody>
      </p:sp>
      <p:sp>
        <p:nvSpPr>
          <p:cNvPr id="29" name="Shape 27"/>
          <p:cNvSpPr/>
          <p:nvPr/>
        </p:nvSpPr>
        <p:spPr>
          <a:xfrm>
            <a:off x="8503920" y="3383280"/>
            <a:ext cx="1828800" cy="457200"/>
          </a:xfrm>
          <a:prstGeom prst="roundRect">
            <a:avLst>
              <a:gd name="adj" fmla="val 16000"/>
            </a:avLst>
          </a:prstGeom>
          <a:solidFill>
            <a:srgbClr val="F99239"/>
          </a:solidFill>
          <a:ln w="12700">
            <a:solidFill>
              <a:srgbClr val="FFFFFF"/>
            </a:solidFill>
            <a:prstDash val="solid"/>
          </a:ln>
        </p:spPr>
      </p:sp>
      <p:sp>
        <p:nvSpPr>
          <p:cNvPr id="30" name="Text 28"/>
          <p:cNvSpPr/>
          <p:nvPr/>
        </p:nvSpPr>
        <p:spPr>
          <a:xfrm>
            <a:off x="8503920" y="3383280"/>
            <a:ext cx="1828800" cy="457200"/>
          </a:xfrm>
          <a:prstGeom prst="rect">
            <a:avLst/>
          </a:prstGeom>
          <a:noFill/>
          <a:ln/>
        </p:spPr>
        <p:txBody>
          <a:bodyPr wrap="square"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 Add Call / Incident</a:t>
            </a:r>
            <a:endParaRPr lang="en-US" sz="850" dirty="0"/>
          </a:p>
        </p:txBody>
      </p:sp>
      <p:sp>
        <p:nvSpPr>
          <p:cNvPr id="31" name="Shape 29"/>
          <p:cNvSpPr/>
          <p:nvPr/>
        </p:nvSpPr>
        <p:spPr>
          <a:xfrm>
            <a:off x="8503920" y="4069080"/>
            <a:ext cx="1828800" cy="457200"/>
          </a:xfrm>
          <a:prstGeom prst="roundRect">
            <a:avLst>
              <a:gd name="adj" fmla="val 16000"/>
            </a:avLst>
          </a:prstGeom>
          <a:solidFill>
            <a:srgbClr val="002D6A"/>
          </a:solidFill>
          <a:ln w="12700">
            <a:solidFill>
              <a:srgbClr val="FFFFFF"/>
            </a:solidFill>
            <a:prstDash val="solid"/>
          </a:ln>
        </p:spPr>
      </p:sp>
      <p:sp>
        <p:nvSpPr>
          <p:cNvPr id="32" name="Text 30"/>
          <p:cNvSpPr/>
          <p:nvPr/>
        </p:nvSpPr>
        <p:spPr>
          <a:xfrm>
            <a:off x="8503920" y="4069080"/>
            <a:ext cx="1828800" cy="457200"/>
          </a:xfrm>
          <a:prstGeom prst="rect">
            <a:avLst/>
          </a:prstGeom>
          <a:noFill/>
          <a:ln/>
        </p:spPr>
        <p:txBody>
          <a:bodyPr wrap="square"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Submit Daily Duty Log</a:t>
            </a:r>
            <a:endParaRPr lang="en-US" sz="850" dirty="0"/>
          </a:p>
        </p:txBody>
      </p:sp>
      <p:pic>
        <p:nvPicPr>
          <p:cNvPr id="33" name="Image 0" descr="C:\Users\brian\AppData\Local\Temp\kilo\ppt\img\harbour-logo-color.png">    </p:cNvPr>
          <p:cNvPicPr>
            <a:picLocks noChangeAspect="1"/>
          </p:cNvPicPr>
          <p:nvPr/>
        </p:nvPicPr>
        <p:blipFill>
          <a:blip r:embed="rId1"/>
          <a:stretch>
            <a:fillRect/>
          </a:stretch>
        </p:blipFill>
        <p:spPr>
          <a:xfrm>
            <a:off x="8732520" y="4937760"/>
            <a:ext cx="1371600" cy="539496"/>
          </a:xfrm>
          <a:prstGeom prst="rect">
            <a:avLst/>
          </a:prstGeom>
        </p:spPr>
      </p:pic>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2D6A"/>
        </a:solidFill>
      </p:bgPr>
    </p:bg>
    <p:spTree>
      <p:nvGrpSpPr>
        <p:cNvPr id="1" name=""/>
        <p:cNvGrpSpPr/>
        <p:nvPr/>
      </p:nvGrpSpPr>
      <p:grpSpPr>
        <a:xfrm>
          <a:off x="0" y="0"/>
          <a:ext cx="0" cy="0"/>
          <a:chOff x="0" y="0"/>
          <a:chExt cx="0" cy="0"/>
        </a:xfrm>
      </p:grpSpPr>
      <p:pic>
        <p:nvPicPr>
          <p:cNvPr id="2" name="Image 0" descr="C:\Users\brian\AppData\Local\Temp\kilo\ppt\img\kitchen-0182.jpg">    </p:cNvPr>
          <p:cNvPicPr>
            <a:picLocks noChangeAspect="1"/>
          </p:cNvPicPr>
          <p:nvPr/>
        </p:nvPicPr>
        <p:blipFill>
          <a:blip r:embed="rId1"/>
          <a:srcRect l="0" r="0" t="0" b="0"/>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02D6A">
              <a:alpha val="45000"/>
            </a:srgbClr>
          </a:solidFill>
          <a:ln w="12700">
            <a:solidFill>
              <a:srgbClr val="002D6A">
                <a:alpha val="0"/>
              </a:srgbClr>
            </a:solidFill>
            <a:prstDash val="solid"/>
          </a:ln>
        </p:spPr>
      </p:sp>
      <p:sp>
        <p:nvSpPr>
          <p:cNvPr id="4" name="Shape 1"/>
          <p:cNvSpPr/>
          <p:nvPr/>
        </p:nvSpPr>
        <p:spPr>
          <a:xfrm>
            <a:off x="6876288" y="0"/>
            <a:ext cx="73152" cy="6858000"/>
          </a:xfrm>
          <a:prstGeom prst="rect">
            <a:avLst/>
          </a:prstGeom>
          <a:solidFill>
            <a:srgbClr val="F99239"/>
          </a:solidFill>
          <a:ln w="12700">
            <a:solidFill>
              <a:srgbClr val="F99239"/>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640080" y="548640"/>
            <a:ext cx="1828800" cy="722376"/>
          </a:xfrm>
          <a:prstGeom prst="rect">
            <a:avLst/>
          </a:prstGeom>
        </p:spPr>
      </p:pic>
      <p:sp>
        <p:nvSpPr>
          <p:cNvPr id="6" name="Text 2"/>
          <p:cNvSpPr/>
          <p:nvPr/>
        </p:nvSpPr>
        <p:spPr>
          <a:xfrm>
            <a:off x="640080" y="2011680"/>
            <a:ext cx="2743200" cy="1097280"/>
          </a:xfrm>
          <a:prstGeom prst="rect">
            <a:avLst/>
          </a:prstGeom>
          <a:noFill/>
          <a:ln/>
        </p:spPr>
        <p:txBody>
          <a:bodyPr wrap="square" rtlCol="0" anchor="ctr"/>
          <a:lstStyle/>
          <a:p>
            <a:pPr indent="0" marL="0">
              <a:buNone/>
            </a:pPr>
            <a:r>
              <a:rPr lang="en-US" sz="7200" b="1" dirty="0">
                <a:solidFill>
                  <a:srgbClr val="F99239"/>
                </a:solidFill>
                <a:latin typeface="Montserrat" pitchFamily="34" charset="0"/>
                <a:ea typeface="Montserrat" pitchFamily="34" charset="-122"/>
                <a:cs typeface="Montserrat" pitchFamily="34" charset="-120"/>
              </a:rPr>
              <a:t>05</a:t>
            </a:r>
            <a:endParaRPr lang="en-US" sz="7200" dirty="0"/>
          </a:p>
        </p:txBody>
      </p:sp>
      <p:sp>
        <p:nvSpPr>
          <p:cNvPr id="7" name="Text 3"/>
          <p:cNvSpPr/>
          <p:nvPr/>
        </p:nvSpPr>
        <p:spPr>
          <a:xfrm>
            <a:off x="640080" y="3154680"/>
            <a:ext cx="6035040" cy="100584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Guests, Incidents &amp; Maintenance</a:t>
            </a:r>
            <a:endParaRPr lang="en-US" sz="3600" dirty="0"/>
          </a:p>
        </p:txBody>
      </p:sp>
      <p:sp>
        <p:nvSpPr>
          <p:cNvPr id="8" name="Text 4"/>
          <p:cNvSpPr/>
          <p:nvPr/>
        </p:nvSpPr>
        <p:spPr>
          <a:xfrm>
            <a:off x="640080" y="4206240"/>
            <a:ext cx="5852160" cy="1097280"/>
          </a:xfrm>
          <a:prstGeom prst="rect">
            <a:avLst/>
          </a:prstGeom>
          <a:noFill/>
          <a:ln/>
        </p:spPr>
        <p:txBody>
          <a:bodyPr wrap="square" rtlCol="0" anchor="t"/>
          <a:lstStyle/>
          <a:p>
            <a:pPr indent="0" marL="0">
              <a:buNone/>
            </a:pPr>
            <a:r>
              <a:rPr lang="en-US" sz="1500" dirty="0">
                <a:solidFill>
                  <a:srgbClr val="DCEBF7"/>
                </a:solidFill>
                <a:latin typeface="Montserrat" pitchFamily="34" charset="0"/>
                <a:ea typeface="Montserrat" pitchFamily="34" charset="-122"/>
                <a:cs typeface="Montserrat" pitchFamily="34" charset="-120"/>
              </a:rPr>
              <a:t>Front-desk guest check-in, quick incident reports, and maintenance &amp; key requests.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Guest Log: who is on property</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Text 3"/>
          <p:cNvSpPr/>
          <p:nvPr/>
        </p:nvSpPr>
        <p:spPr>
          <a:xfrm>
            <a:off x="548640" y="1783080"/>
            <a:ext cx="5760720" cy="4114800"/>
          </a:xfrm>
          <a:prstGeom prst="rect">
            <a:avLst/>
          </a:prstGeom>
          <a:noFill/>
          <a:ln/>
        </p:spPr>
        <p:txBody>
          <a:bodyPr wrap="square" rtlCol="0" anchor="t"/>
          <a:lstStyle/>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Buttons: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Restricted-Access Check</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Open Kiosk</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Send Pre-Registration Link</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 Log a Guest</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a:p>
            <a:pPr marL="342900" indent="-342900">
              <a:lnSpc>
                <a:spcPct val="105000"/>
              </a:lnSpc>
              <a:spcAft>
                <a:spcPts val="700"/>
              </a:spcAft>
              <a:buSzPct val="100000"/>
              <a:buChar char="●"/>
            </a:pPr>
            <a:r>
              <a:rPr lang="en-US" sz="1300" dirty="0">
                <a:solidFill>
                  <a:srgbClr val="14213D"/>
                </a:solidFill>
                <a:latin typeface="Montserrat" pitchFamily="34" charset="0"/>
                <a:ea typeface="Montserrat" pitchFamily="34" charset="-122"/>
                <a:cs typeface="Montserrat" pitchFamily="34" charset="-120"/>
              </a:rPr>
              <a:t>Stats: On property, Expected today, Check-ins today, Pre-registered,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Past expected time</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a:p>
            <a:pPr marL="342900" indent="-342900">
              <a:lnSpc>
                <a:spcPct val="105000"/>
              </a:lnSpc>
              <a:spcAft>
                <a:spcPts val="700"/>
              </a:spcAft>
              <a:buSzPct val="100000"/>
              <a:buChar char="●"/>
            </a:pPr>
            <a:r>
              <a:rPr lang="en-US" sz="1300" b="1" dirty="0">
                <a:solidFill>
                  <a:srgbClr val="002D6A"/>
                </a:solidFill>
                <a:latin typeface="Montserrat" pitchFamily="34" charset="0"/>
                <a:ea typeface="Montserrat" pitchFamily="34" charset="-122"/>
                <a:cs typeface="Montserrat" pitchFamily="34" charset="-120"/>
              </a:rPr>
              <a:t>Today / Week / Month</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views and search by guest, resident or unit.</a:t>
            </a:r>
            <a:endParaRPr lang="en-US" sz="1300" dirty="0"/>
          </a:p>
          <a:p>
            <a:pPr marL="342900" indent="-342900">
              <a:lnSpc>
                <a:spcPct val="105000"/>
              </a:lnSpc>
              <a:spcAft>
                <a:spcPts val="700"/>
              </a:spcAft>
              <a:buSzPct val="100000"/>
              <a:buChar char="●"/>
            </a:pPr>
            <a:r>
              <a:rPr lang="en-US" sz="1300" b="1" dirty="0">
                <a:solidFill>
                  <a:srgbClr val="002D6A"/>
                </a:solidFill>
                <a:latin typeface="Montserrat" pitchFamily="34" charset="0"/>
                <a:ea typeface="Montserrat" pitchFamily="34" charset="-122"/>
                <a:cs typeface="Montserrat" pitchFamily="34" charset="-120"/>
              </a:rPr>
              <a:t>Pre-Registered</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 click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Check In</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when the guest arrives.</a:t>
            </a:r>
            <a:endParaRPr lang="en-US" sz="1300" dirty="0"/>
          </a:p>
          <a:p>
            <a:pPr marL="342900" indent="-342900">
              <a:lnSpc>
                <a:spcPct val="105000"/>
              </a:lnSpc>
              <a:spcAft>
                <a:spcPts val="700"/>
              </a:spcAft>
              <a:buSzPct val="100000"/>
              <a:buChar char="●"/>
            </a:pPr>
            <a:r>
              <a:rPr lang="en-US" sz="1300" b="1" dirty="0">
                <a:solidFill>
                  <a:srgbClr val="002D6A"/>
                </a:solidFill>
                <a:latin typeface="Montserrat" pitchFamily="34" charset="0"/>
                <a:ea typeface="Montserrat" pitchFamily="34" charset="-122"/>
                <a:cs typeface="Montserrat" pitchFamily="34" charset="-120"/>
              </a:rPr>
              <a:t>Currently On Property</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 click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Check Out</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when they leave. Watch for the </a:t>
            </a:r>
            <a:pPr indent="0" marL="0">
              <a:lnSpc>
                <a:spcPct val="105000"/>
              </a:lnSpc>
              <a:spcAft>
                <a:spcPts val="700"/>
              </a:spcAft>
              <a:buNone/>
            </a:pPr>
            <a:r>
              <a:rPr lang="en-US" sz="1300" b="1" dirty="0">
                <a:solidFill>
                  <a:srgbClr val="002D6A"/>
                </a:solidFill>
                <a:latin typeface="Montserrat" pitchFamily="34" charset="0"/>
                <a:ea typeface="Montserrat" pitchFamily="34" charset="-122"/>
                <a:cs typeface="Montserrat" pitchFamily="34" charset="-120"/>
              </a:rPr>
              <a:t>Past expected time</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flag.</a:t>
            </a:r>
            <a:endParaRPr lang="en-US" sz="1300" dirty="0"/>
          </a:p>
          <a:p>
            <a:pPr marL="342900" indent="-342900">
              <a:lnSpc>
                <a:spcPct val="105000"/>
              </a:lnSpc>
              <a:spcAft>
                <a:spcPts val="700"/>
              </a:spcAft>
              <a:buSzPct val="100000"/>
              <a:buChar char="●"/>
            </a:pPr>
            <a:r>
              <a:rPr lang="en-US" sz="1300" b="1" dirty="0">
                <a:solidFill>
                  <a:srgbClr val="002D6A"/>
                </a:solidFill>
                <a:latin typeface="Montserrat" pitchFamily="34" charset="0"/>
                <a:ea typeface="Montserrat" pitchFamily="34" charset="-122"/>
                <a:cs typeface="Montserrat" pitchFamily="34" charset="-120"/>
              </a:rPr>
              <a:t>View ID</a:t>
            </a:r>
            <a:pPr indent="0" marL="0">
              <a:lnSpc>
                <a:spcPct val="105000"/>
              </a:lnSpc>
              <a:spcAft>
                <a:spcPts val="700"/>
              </a:spcAft>
              <a:buNone/>
            </a:pPr>
            <a:r>
              <a:rPr lang="en-US" sz="1300" dirty="0">
                <a:solidFill>
                  <a:srgbClr val="14213D"/>
                </a:solidFill>
                <a:latin typeface="Montserrat" pitchFamily="34" charset="0"/>
                <a:ea typeface="Montserrat" pitchFamily="34" charset="-122"/>
                <a:cs typeface="Montserrat" pitchFamily="34" charset="-120"/>
              </a:rPr>
              <a:t> shows the guest’s ID photo.</a:t>
            </a:r>
            <a:endParaRPr lang="en-US" sz="1300" dirty="0"/>
          </a:p>
        </p:txBody>
      </p:sp>
      <p:sp>
        <p:nvSpPr>
          <p:cNvPr id="6" name="Shape 4"/>
          <p:cNvSpPr/>
          <p:nvPr/>
        </p:nvSpPr>
        <p:spPr>
          <a:xfrm>
            <a:off x="6675120" y="1783080"/>
            <a:ext cx="4983480" cy="3108960"/>
          </a:xfrm>
          <a:prstGeom prst="roundRect">
            <a:avLst>
              <a:gd name="adj" fmla="val 1765"/>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7" name="Shape 5"/>
          <p:cNvSpPr/>
          <p:nvPr/>
        </p:nvSpPr>
        <p:spPr>
          <a:xfrm>
            <a:off x="6675120" y="1783080"/>
            <a:ext cx="1196035" cy="3108960"/>
          </a:xfrm>
          <a:prstGeom prst="rect">
            <a:avLst/>
          </a:prstGeom>
          <a:solidFill>
            <a:srgbClr val="002D6A"/>
          </a:solidFill>
          <a:ln w="12700">
            <a:solidFill>
              <a:srgbClr val="002D6A"/>
            </a:solidFill>
            <a:prstDash val="solid"/>
          </a:ln>
        </p:spPr>
      </p:sp>
      <p:pic>
        <p:nvPicPr>
          <p:cNvPr id="8" name="Image 0" descr="C:\Users\brian\AppData\Local\Temp\kilo\ppt\img\logo-white.png">    </p:cNvPr>
          <p:cNvPicPr>
            <a:picLocks noChangeAspect="1"/>
          </p:cNvPicPr>
          <p:nvPr/>
        </p:nvPicPr>
        <p:blipFill>
          <a:blip r:embed="rId1"/>
          <a:stretch>
            <a:fillRect/>
          </a:stretch>
        </p:blipFill>
        <p:spPr>
          <a:xfrm>
            <a:off x="6784848" y="1892808"/>
            <a:ext cx="976579" cy="380866"/>
          </a:xfrm>
          <a:prstGeom prst="rect">
            <a:avLst/>
          </a:prstGeom>
        </p:spPr>
      </p:pic>
      <p:sp>
        <p:nvSpPr>
          <p:cNvPr id="9" name="Text 6"/>
          <p:cNvSpPr/>
          <p:nvPr/>
        </p:nvSpPr>
        <p:spPr>
          <a:xfrm>
            <a:off x="6784848" y="235915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Dashboard</a:t>
            </a:r>
            <a:endParaRPr lang="en-US" sz="750" dirty="0"/>
          </a:p>
        </p:txBody>
      </p:sp>
      <p:sp>
        <p:nvSpPr>
          <p:cNvPr id="10" name="Text 7"/>
          <p:cNvSpPr/>
          <p:nvPr/>
        </p:nvSpPr>
        <p:spPr>
          <a:xfrm>
            <a:off x="6784848" y="2606040"/>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11" name="Text 8"/>
          <p:cNvSpPr/>
          <p:nvPr/>
        </p:nvSpPr>
        <p:spPr>
          <a:xfrm>
            <a:off x="6784848" y="285292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12" name="Text 9"/>
          <p:cNvSpPr/>
          <p:nvPr/>
        </p:nvSpPr>
        <p:spPr>
          <a:xfrm>
            <a:off x="6784848" y="309981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13" name="Text 10"/>
          <p:cNvSpPr/>
          <p:nvPr/>
        </p:nvSpPr>
        <p:spPr>
          <a:xfrm>
            <a:off x="6784848" y="3346704"/>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14" name="Text 11"/>
          <p:cNvSpPr/>
          <p:nvPr/>
        </p:nvSpPr>
        <p:spPr>
          <a:xfrm>
            <a:off x="6784848" y="3593592"/>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15" name="Shape 12"/>
          <p:cNvSpPr/>
          <p:nvPr/>
        </p:nvSpPr>
        <p:spPr>
          <a:xfrm>
            <a:off x="6675120" y="3840480"/>
            <a:ext cx="1196035" cy="237744"/>
          </a:xfrm>
          <a:prstGeom prst="rect">
            <a:avLst/>
          </a:prstGeom>
          <a:solidFill>
            <a:srgbClr val="F99239"/>
          </a:solidFill>
          <a:ln w="12700">
            <a:solidFill>
              <a:srgbClr val="F99239"/>
            </a:solidFill>
            <a:prstDash val="solid"/>
          </a:ln>
        </p:spPr>
      </p:sp>
      <p:sp>
        <p:nvSpPr>
          <p:cNvPr id="16" name="Text 13"/>
          <p:cNvSpPr/>
          <p:nvPr/>
        </p:nvSpPr>
        <p:spPr>
          <a:xfrm>
            <a:off x="6784848" y="3840480"/>
            <a:ext cx="1058875"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17" name="Text 14"/>
          <p:cNvSpPr/>
          <p:nvPr/>
        </p:nvSpPr>
        <p:spPr>
          <a:xfrm>
            <a:off x="6784848" y="4087368"/>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18" name="Text 15"/>
          <p:cNvSpPr/>
          <p:nvPr/>
        </p:nvSpPr>
        <p:spPr>
          <a:xfrm>
            <a:off x="6784848" y="4334256"/>
            <a:ext cx="1058875"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19" name="Shape 16"/>
          <p:cNvSpPr/>
          <p:nvPr/>
        </p:nvSpPr>
        <p:spPr>
          <a:xfrm>
            <a:off x="7871155" y="1783080"/>
            <a:ext cx="3787445" cy="347472"/>
          </a:xfrm>
          <a:prstGeom prst="rect">
            <a:avLst/>
          </a:prstGeom>
          <a:solidFill>
            <a:srgbClr val="FFFFFF"/>
          </a:solidFill>
          <a:ln w="12700">
            <a:solidFill>
              <a:srgbClr val="E2E8F0"/>
            </a:solidFill>
            <a:prstDash val="solid"/>
          </a:ln>
        </p:spPr>
      </p:sp>
      <p:sp>
        <p:nvSpPr>
          <p:cNvPr id="20" name="Text 17"/>
          <p:cNvSpPr/>
          <p:nvPr/>
        </p:nvSpPr>
        <p:spPr>
          <a:xfrm>
            <a:off x="8008315"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21" name="Text 18"/>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22" name="Shape 19"/>
          <p:cNvSpPr/>
          <p:nvPr/>
        </p:nvSpPr>
        <p:spPr>
          <a:xfrm>
            <a:off x="8035747" y="2286000"/>
            <a:ext cx="3458261" cy="2423160"/>
          </a:xfrm>
          <a:prstGeom prst="rect">
            <a:avLst/>
          </a:prstGeom>
          <a:solidFill>
            <a:srgbClr val="FFFFFF"/>
          </a:solidFill>
          <a:ln w="12700">
            <a:solidFill>
              <a:srgbClr val="E2E8F0"/>
            </a:solidFill>
            <a:prstDash val="solid"/>
          </a:ln>
        </p:spPr>
      </p:sp>
      <p:sp>
        <p:nvSpPr>
          <p:cNvPr id="23" name="Text 20"/>
          <p:cNvSpPr/>
          <p:nvPr/>
        </p:nvSpPr>
        <p:spPr>
          <a:xfrm>
            <a:off x="8145475" y="2331720"/>
            <a:ext cx="1995221"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GUEST LOG</a:t>
            </a:r>
            <a:endParaRPr lang="en-US" sz="900" dirty="0"/>
          </a:p>
        </p:txBody>
      </p:sp>
      <p:sp>
        <p:nvSpPr>
          <p:cNvPr id="24" name="Shape 21"/>
          <p:cNvSpPr/>
          <p:nvPr/>
        </p:nvSpPr>
        <p:spPr>
          <a:xfrm>
            <a:off x="10076688" y="2359152"/>
            <a:ext cx="1325880" cy="256032"/>
          </a:xfrm>
          <a:prstGeom prst="roundRect">
            <a:avLst>
              <a:gd name="adj" fmla="val 17857"/>
            </a:avLst>
          </a:prstGeom>
          <a:solidFill>
            <a:srgbClr val="F99239"/>
          </a:solidFill>
          <a:ln w="12700">
            <a:solidFill>
              <a:srgbClr val="F99239"/>
            </a:solidFill>
            <a:prstDash val="solid"/>
          </a:ln>
        </p:spPr>
      </p:sp>
      <p:sp>
        <p:nvSpPr>
          <p:cNvPr id="25" name="Text 22"/>
          <p:cNvSpPr/>
          <p:nvPr/>
        </p:nvSpPr>
        <p:spPr>
          <a:xfrm>
            <a:off x="10076688" y="2359152"/>
            <a:ext cx="1325880" cy="256032"/>
          </a:xfrm>
          <a:prstGeom prst="rect">
            <a:avLst/>
          </a:prstGeom>
          <a:noFill/>
          <a:ln/>
        </p:spPr>
        <p:txBody>
          <a:bodyPr wrap="square" rtlCol="0" anchor="ctr"/>
          <a:lstStyle/>
          <a:p>
            <a:pPr algn="ctr" indent="0" marL="0">
              <a:buNone/>
            </a:pPr>
            <a:r>
              <a:rPr lang="en-US" sz="700" b="1" dirty="0">
                <a:solidFill>
                  <a:srgbClr val="FFFFFF"/>
                </a:solidFill>
                <a:latin typeface="Montserrat" pitchFamily="34" charset="0"/>
                <a:ea typeface="Montserrat" pitchFamily="34" charset="-122"/>
                <a:cs typeface="Montserrat" pitchFamily="34" charset="-120"/>
              </a:rPr>
              <a:t>+ Log a Guest</a:t>
            </a:r>
            <a:endParaRPr lang="en-US" sz="700" dirty="0"/>
          </a:p>
        </p:txBody>
      </p:sp>
      <p:sp>
        <p:nvSpPr>
          <p:cNvPr id="26" name="Shape 23"/>
          <p:cNvSpPr/>
          <p:nvPr/>
        </p:nvSpPr>
        <p:spPr>
          <a:xfrm>
            <a:off x="8127187" y="2724912"/>
            <a:ext cx="3275381" cy="310896"/>
          </a:xfrm>
          <a:prstGeom prst="rect">
            <a:avLst/>
          </a:prstGeom>
          <a:solidFill>
            <a:srgbClr val="F8FAFC"/>
          </a:solidFill>
          <a:ln w="12700">
            <a:solidFill>
              <a:srgbClr val="E2E8F0"/>
            </a:solidFill>
            <a:prstDash val="solid"/>
          </a:ln>
        </p:spPr>
      </p:sp>
      <p:sp>
        <p:nvSpPr>
          <p:cNvPr id="27" name="Text 24"/>
          <p:cNvSpPr/>
          <p:nvPr/>
        </p:nvSpPr>
        <p:spPr>
          <a:xfrm>
            <a:off x="8218627" y="272491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On property 3 · Expected 2 · Past expected 1</a:t>
            </a:r>
            <a:endParaRPr lang="en-US" sz="800" dirty="0"/>
          </a:p>
        </p:txBody>
      </p:sp>
      <p:sp>
        <p:nvSpPr>
          <p:cNvPr id="28" name="Shape 25"/>
          <p:cNvSpPr/>
          <p:nvPr/>
        </p:nvSpPr>
        <p:spPr>
          <a:xfrm>
            <a:off x="8127187" y="3090672"/>
            <a:ext cx="3275381" cy="310896"/>
          </a:xfrm>
          <a:prstGeom prst="rect">
            <a:avLst/>
          </a:prstGeom>
          <a:solidFill>
            <a:srgbClr val="FFFFFF"/>
          </a:solidFill>
          <a:ln w="12700">
            <a:solidFill>
              <a:srgbClr val="E2E8F0"/>
            </a:solidFill>
            <a:prstDash val="solid"/>
          </a:ln>
        </p:spPr>
      </p:sp>
      <p:sp>
        <p:nvSpPr>
          <p:cNvPr id="29" name="Text 26"/>
          <p:cNvSpPr/>
          <p:nvPr/>
        </p:nvSpPr>
        <p:spPr>
          <a:xfrm>
            <a:off x="8218627" y="309067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Pre-Registered: Guest → Unit 1111  [Check In]</a:t>
            </a:r>
            <a:endParaRPr lang="en-US" sz="800" dirty="0"/>
          </a:p>
        </p:txBody>
      </p:sp>
      <p:sp>
        <p:nvSpPr>
          <p:cNvPr id="30" name="Shape 27"/>
          <p:cNvSpPr/>
          <p:nvPr/>
        </p:nvSpPr>
        <p:spPr>
          <a:xfrm>
            <a:off x="8127187" y="3456432"/>
            <a:ext cx="3275381" cy="310896"/>
          </a:xfrm>
          <a:prstGeom prst="rect">
            <a:avLst/>
          </a:prstGeom>
          <a:solidFill>
            <a:srgbClr val="F8FAFC"/>
          </a:solidFill>
          <a:ln w="12700">
            <a:solidFill>
              <a:srgbClr val="E2E8F0"/>
            </a:solidFill>
            <a:prstDash val="solid"/>
          </a:ln>
        </p:spPr>
      </p:sp>
      <p:sp>
        <p:nvSpPr>
          <p:cNvPr id="31" name="Text 28"/>
          <p:cNvSpPr/>
          <p:nvPr/>
        </p:nvSpPr>
        <p:spPr>
          <a:xfrm>
            <a:off x="8218627" y="345643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On Property: Guest → Unit 2204  [Check Out]</a:t>
            </a:r>
            <a:endParaRPr lang="en-US" sz="800" dirty="0"/>
          </a:p>
        </p:txBody>
      </p:sp>
      <p:sp>
        <p:nvSpPr>
          <p:cNvPr id="32" name="Shape 29"/>
          <p:cNvSpPr/>
          <p:nvPr/>
        </p:nvSpPr>
        <p:spPr>
          <a:xfrm>
            <a:off x="8127187" y="3822192"/>
            <a:ext cx="3275381" cy="310896"/>
          </a:xfrm>
          <a:prstGeom prst="rect">
            <a:avLst/>
          </a:prstGeom>
          <a:solidFill>
            <a:srgbClr val="FFFFFF"/>
          </a:solidFill>
          <a:ln w="12700">
            <a:solidFill>
              <a:srgbClr val="E2E8F0"/>
            </a:solidFill>
            <a:prstDash val="solid"/>
          </a:ln>
        </p:spPr>
      </p:sp>
      <p:sp>
        <p:nvSpPr>
          <p:cNvPr id="33" name="Text 30"/>
          <p:cNvSpPr/>
          <p:nvPr/>
        </p:nvSpPr>
        <p:spPr>
          <a:xfrm>
            <a:off x="8218627" y="3822192"/>
            <a:ext cx="3092501"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 Past expected time: Guest → Unit 3108</a:t>
            </a:r>
            <a:endParaRPr lang="en-US" sz="8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Logging a guest &amp; sending pre-registration links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 Log a Guest</a:t>
            </a:r>
            <a:pPr indent="0" marL="0">
              <a:buNone/>
            </a:pPr>
            <a:r>
              <a:rPr lang="en-US" sz="1300" dirty="0">
                <a:solidFill>
                  <a:srgbClr val="14213D"/>
                </a:solidFill>
                <a:latin typeface="Montserrat" pitchFamily="34" charset="0"/>
                <a:ea typeface="Montserrat" pitchFamily="34" charset="-122"/>
                <a:cs typeface="Montserrat" pitchFamily="34" charset="-120"/>
              </a:rPr>
              <a:t> → choose </a:t>
            </a:r>
            <a:pPr indent="0" marL="0">
              <a:buNone/>
            </a:pPr>
            <a:r>
              <a:rPr lang="en-US" sz="1300" b="1" dirty="0">
                <a:solidFill>
                  <a:srgbClr val="002D6A"/>
                </a:solidFill>
                <a:latin typeface="Montserrat" pitchFamily="34" charset="0"/>
                <a:ea typeface="Montserrat" pitchFamily="34" charset="-122"/>
                <a:cs typeface="Montserrat" pitchFamily="34" charset="-120"/>
              </a:rPr>
              <a:t>Check in now</a:t>
            </a:r>
            <a:pPr indent="0" marL="0">
              <a:buNone/>
            </a:pPr>
            <a:r>
              <a:rPr lang="en-US" sz="1300" dirty="0">
                <a:solidFill>
                  <a:srgbClr val="14213D"/>
                </a:solidFill>
                <a:latin typeface="Montserrat" pitchFamily="34" charset="0"/>
                <a:ea typeface="Montserrat" pitchFamily="34" charset="-122"/>
                <a:cs typeface="Montserrat" pitchFamily="34" charset="-120"/>
              </a:rPr>
              <a:t> or </a:t>
            </a:r>
            <a:pPr indent="0" marL="0">
              <a:buNone/>
            </a:pPr>
            <a:r>
              <a:rPr lang="en-US" sz="1300" b="1" dirty="0">
                <a:solidFill>
                  <a:srgbClr val="002D6A"/>
                </a:solidFill>
                <a:latin typeface="Montserrat" pitchFamily="34" charset="0"/>
                <a:ea typeface="Montserrat" pitchFamily="34" charset="-122"/>
                <a:cs typeface="Montserrat" pitchFamily="34" charset="-120"/>
              </a:rPr>
              <a:t>Pre-register</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8" name="Shape 6"/>
          <p:cNvSpPr/>
          <p:nvPr/>
        </p:nvSpPr>
        <p:spPr>
          <a:xfrm>
            <a:off x="548640" y="2404872"/>
            <a:ext cx="347472" cy="347472"/>
          </a:xfrm>
          <a:prstGeom prst="ellipse">
            <a:avLst/>
          </a:prstGeom>
          <a:solidFill>
            <a:srgbClr val="002D6A"/>
          </a:solidFill>
          <a:ln w="12700">
            <a:solidFill>
              <a:srgbClr val="FFFFFF"/>
            </a:solidFill>
            <a:prstDash val="solid"/>
          </a:ln>
        </p:spPr>
      </p:sp>
      <p:sp>
        <p:nvSpPr>
          <p:cNvPr id="9" name="Text 7"/>
          <p:cNvSpPr/>
          <p:nvPr/>
        </p:nvSpPr>
        <p:spPr>
          <a:xfrm>
            <a:off x="548640" y="240487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350008"/>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Search and select the </a:t>
            </a:r>
            <a:pPr indent="0" marL="0">
              <a:buNone/>
            </a:pPr>
            <a:r>
              <a:rPr lang="en-US" sz="1300" b="1" dirty="0">
                <a:solidFill>
                  <a:srgbClr val="002D6A"/>
                </a:solidFill>
                <a:latin typeface="Montserrat" pitchFamily="34" charset="0"/>
                <a:ea typeface="Montserrat" pitchFamily="34" charset="-122"/>
                <a:cs typeface="Montserrat" pitchFamily="34" charset="-120"/>
              </a:rPr>
              <a:t>Resident</a:t>
            </a:r>
            <a:pPr indent="0" marL="0">
              <a:buNone/>
            </a:pPr>
            <a:r>
              <a:rPr lang="en-US" sz="1300" dirty="0">
                <a:solidFill>
                  <a:srgbClr val="14213D"/>
                </a:solidFill>
                <a:latin typeface="Montserrat" pitchFamily="34" charset="0"/>
                <a:ea typeface="Montserrat" pitchFamily="34" charset="-122"/>
                <a:cs typeface="Montserrat" pitchFamily="34" charset="-120"/>
              </a:rPr>
              <a:t>* (by name or unit).</a:t>
            </a:r>
            <a:endParaRPr lang="en-US" sz="1300" dirty="0"/>
          </a:p>
        </p:txBody>
      </p:sp>
      <p:sp>
        <p:nvSpPr>
          <p:cNvPr id="11" name="Shape 9"/>
          <p:cNvSpPr/>
          <p:nvPr/>
        </p:nvSpPr>
        <p:spPr>
          <a:xfrm>
            <a:off x="548640" y="3008376"/>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00837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2953512"/>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Enter </a:t>
            </a:r>
            <a:pPr indent="0" marL="0">
              <a:buNone/>
            </a:pPr>
            <a:r>
              <a:rPr lang="en-US" sz="1300" b="1" dirty="0">
                <a:solidFill>
                  <a:srgbClr val="002D6A"/>
                </a:solidFill>
                <a:latin typeface="Montserrat" pitchFamily="34" charset="0"/>
                <a:ea typeface="Montserrat" pitchFamily="34" charset="-122"/>
                <a:cs typeface="Montserrat" pitchFamily="34" charset="-120"/>
              </a:rPr>
              <a:t>Guest full name</a:t>
            </a:r>
            <a:pPr indent="0" marL="0">
              <a:buNone/>
            </a:pPr>
            <a:r>
              <a:rPr lang="en-US" sz="1300" dirty="0">
                <a:solidFill>
                  <a:srgbClr val="14213D"/>
                </a:solidFill>
                <a:latin typeface="Montserrat" pitchFamily="34" charset="0"/>
                <a:ea typeface="Montserrat" pitchFamily="34" charset="-122"/>
                <a:cs typeface="Montserrat" pitchFamily="34" charset="-120"/>
              </a:rPr>
              <a:t>* (first and last), phone and email.</a:t>
            </a:r>
            <a:endParaRPr lang="en-US" sz="1300" dirty="0"/>
          </a:p>
        </p:txBody>
      </p:sp>
      <p:sp>
        <p:nvSpPr>
          <p:cNvPr id="14" name="Shape 12"/>
          <p:cNvSpPr/>
          <p:nvPr/>
        </p:nvSpPr>
        <p:spPr>
          <a:xfrm>
            <a:off x="548640" y="3611880"/>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61188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557016"/>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Choose </a:t>
            </a:r>
            <a:pPr indent="0" marL="0">
              <a:buNone/>
            </a:pPr>
            <a:r>
              <a:rPr lang="en-US" sz="1300" b="1" dirty="0">
                <a:solidFill>
                  <a:srgbClr val="002D6A"/>
                </a:solidFill>
                <a:latin typeface="Montserrat" pitchFamily="34" charset="0"/>
                <a:ea typeface="Montserrat" pitchFamily="34" charset="-122"/>
                <a:cs typeface="Montserrat" pitchFamily="34" charset="-120"/>
              </a:rPr>
              <a:t>ID type</a:t>
            </a:r>
            <a:pPr indent="0" marL="0">
              <a:buNone/>
            </a:pPr>
            <a:r>
              <a:rPr lang="en-US" sz="1300" dirty="0">
                <a:solidFill>
                  <a:srgbClr val="14213D"/>
                </a:solidFill>
                <a:latin typeface="Montserrat" pitchFamily="34" charset="0"/>
                <a:ea typeface="Montserrat" pitchFamily="34" charset="-122"/>
                <a:cs typeface="Montserrat" pitchFamily="34" charset="-120"/>
              </a:rPr>
              <a:t>* — Driver’s License, State ID or Student ID — and </a:t>
            </a:r>
            <a:pPr indent="0" marL="0">
              <a:buNone/>
            </a:pPr>
            <a:r>
              <a:rPr lang="en-US" sz="1300" b="1" dirty="0">
                <a:solidFill>
                  <a:srgbClr val="002D6A"/>
                </a:solidFill>
                <a:latin typeface="Montserrat" pitchFamily="34" charset="0"/>
                <a:ea typeface="Montserrat" pitchFamily="34" charset="-122"/>
                <a:cs typeface="Montserrat" pitchFamily="34" charset="-120"/>
              </a:rPr>
              <a:t>Take / upload photo</a:t>
            </a:r>
            <a:pPr indent="0" marL="0">
              <a:buNone/>
            </a:pPr>
            <a:r>
              <a:rPr lang="en-US" sz="1300" dirty="0">
                <a:solidFill>
                  <a:srgbClr val="14213D"/>
                </a:solidFill>
                <a:latin typeface="Montserrat" pitchFamily="34" charset="0"/>
                <a:ea typeface="Montserrat" pitchFamily="34" charset="-122"/>
                <a:cs typeface="Montserrat" pitchFamily="34" charset="-120"/>
              </a:rPr>
              <a:t> of the ID.</a:t>
            </a:r>
            <a:endParaRPr lang="en-US" sz="1300" dirty="0"/>
          </a:p>
        </p:txBody>
      </p:sp>
      <p:sp>
        <p:nvSpPr>
          <p:cNvPr id="17" name="Shape 15"/>
          <p:cNvSpPr/>
          <p:nvPr/>
        </p:nvSpPr>
        <p:spPr>
          <a:xfrm>
            <a:off x="548640" y="4215384"/>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21538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160520"/>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Set </a:t>
            </a:r>
            <a:pPr indent="0" marL="0">
              <a:buNone/>
            </a:pPr>
            <a:r>
              <a:rPr lang="en-US" sz="1300" b="1" dirty="0">
                <a:solidFill>
                  <a:srgbClr val="002D6A"/>
                </a:solidFill>
                <a:latin typeface="Montserrat" pitchFamily="34" charset="0"/>
                <a:ea typeface="Montserrat" pitchFamily="34" charset="-122"/>
                <a:cs typeface="Montserrat" pitchFamily="34" charset="-120"/>
              </a:rPr>
              <a:t>Length of stay</a:t>
            </a:r>
            <a:pPr indent="0" marL="0">
              <a:buNone/>
            </a:pPr>
            <a:r>
              <a:rPr lang="en-US" sz="1300" dirty="0">
                <a:solidFill>
                  <a:srgbClr val="14213D"/>
                </a:solidFill>
                <a:latin typeface="Montserrat" pitchFamily="34" charset="0"/>
                <a:ea typeface="Montserrat" pitchFamily="34" charset="-122"/>
                <a:cs typeface="Montserrat" pitchFamily="34" charset="-120"/>
              </a:rPr>
              <a:t> (1–4 hours, Until 11:00 PM, Overnight). Add notes if needed.</a:t>
            </a:r>
            <a:endParaRPr lang="en-US" sz="1300" dirty="0"/>
          </a:p>
        </p:txBody>
      </p:sp>
      <p:sp>
        <p:nvSpPr>
          <p:cNvPr id="20" name="Shape 18"/>
          <p:cNvSpPr/>
          <p:nvPr/>
        </p:nvSpPr>
        <p:spPr>
          <a:xfrm>
            <a:off x="548640" y="4818888"/>
            <a:ext cx="347472" cy="347472"/>
          </a:xfrm>
          <a:prstGeom prst="ellipse">
            <a:avLst/>
          </a:prstGeom>
          <a:solidFill>
            <a:srgbClr val="002D6A"/>
          </a:solidFill>
          <a:ln w="12700">
            <a:solidFill>
              <a:srgbClr val="FFFFFF"/>
            </a:solidFill>
            <a:prstDash val="solid"/>
          </a:ln>
        </p:spPr>
      </p:sp>
      <p:sp>
        <p:nvSpPr>
          <p:cNvPr id="21" name="Text 19"/>
          <p:cNvSpPr/>
          <p:nvPr/>
        </p:nvSpPr>
        <p:spPr>
          <a:xfrm>
            <a:off x="548640" y="48188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6</a:t>
            </a:r>
            <a:endParaRPr lang="en-US" sz="1200" dirty="0"/>
          </a:p>
        </p:txBody>
      </p:sp>
      <p:sp>
        <p:nvSpPr>
          <p:cNvPr id="22" name="Text 20"/>
          <p:cNvSpPr/>
          <p:nvPr/>
        </p:nvSpPr>
        <p:spPr>
          <a:xfrm>
            <a:off x="1005840" y="4764024"/>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Check In Guest</a:t>
            </a:r>
            <a:pPr indent="0" marL="0">
              <a:buNone/>
            </a:pPr>
            <a:r>
              <a:rPr lang="en-US" sz="1300" dirty="0">
                <a:solidFill>
                  <a:srgbClr val="14213D"/>
                </a:solidFill>
                <a:latin typeface="Montserrat" pitchFamily="34" charset="0"/>
                <a:ea typeface="Montserrat" pitchFamily="34" charset="-122"/>
                <a:cs typeface="Montserrat" pitchFamily="34" charset="-120"/>
              </a:rPr>
              <a:t> or </a:t>
            </a:r>
            <a:pPr indent="0" marL="0">
              <a:buNone/>
            </a:pPr>
            <a:r>
              <a:rPr lang="en-US" sz="1300" b="1" dirty="0">
                <a:solidFill>
                  <a:srgbClr val="002D6A"/>
                </a:solidFill>
                <a:latin typeface="Montserrat" pitchFamily="34" charset="0"/>
                <a:ea typeface="Montserrat" pitchFamily="34" charset="-122"/>
                <a:cs typeface="Montserrat" pitchFamily="34" charset="-120"/>
              </a:rPr>
              <a:t>Pre-Register Guest</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23" name="Shape 21"/>
          <p:cNvSpPr/>
          <p:nvPr/>
        </p:nvSpPr>
        <p:spPr>
          <a:xfrm>
            <a:off x="7178040" y="1783080"/>
            <a:ext cx="4480560" cy="2651760"/>
          </a:xfrm>
          <a:prstGeom prst="roundRect">
            <a:avLst>
              <a:gd name="adj" fmla="val 2759"/>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24" name="Shape 22"/>
          <p:cNvSpPr/>
          <p:nvPr/>
        </p:nvSpPr>
        <p:spPr>
          <a:xfrm>
            <a:off x="7178040" y="1783080"/>
            <a:ext cx="73152" cy="2651760"/>
          </a:xfrm>
          <a:prstGeom prst="rect">
            <a:avLst/>
          </a:prstGeom>
          <a:solidFill>
            <a:srgbClr val="F99239"/>
          </a:solidFill>
          <a:ln w="12700">
            <a:solidFill>
              <a:srgbClr val="F99239"/>
            </a:solidFill>
            <a:prstDash val="solid"/>
          </a:ln>
        </p:spPr>
      </p:sp>
      <p:sp>
        <p:nvSpPr>
          <p:cNvPr id="25" name="Text 23"/>
          <p:cNvSpPr/>
          <p:nvPr/>
        </p:nvSpPr>
        <p:spPr>
          <a:xfrm>
            <a:off x="7379208" y="1874520"/>
            <a:ext cx="416052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Pre-Registration Link</a:t>
            </a:r>
            <a:endParaRPr lang="en-US" sz="1300" dirty="0"/>
          </a:p>
        </p:txBody>
      </p:sp>
      <p:sp>
        <p:nvSpPr>
          <p:cNvPr id="26" name="Text 24"/>
          <p:cNvSpPr/>
          <p:nvPr/>
        </p:nvSpPr>
        <p:spPr>
          <a:xfrm>
            <a:off x="7315200" y="2240280"/>
            <a:ext cx="4206240" cy="210312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Click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Send Pre-Registration Link</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Pick the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Resident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expected visit date and link length (3 / 7 / 14 days)</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Click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Generate Link</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Copy link</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or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Email in Gmail</a:t>
            </a:r>
            <a:endParaRPr lang="en-US" sz="1100" dirty="0"/>
          </a:p>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The guest must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still check in at the front desk</a:t>
            </a:r>
            <a:endParaRPr lang="en-US" sz="1100" dirty="0"/>
          </a:p>
        </p:txBody>
      </p:sp>
      <p:sp>
        <p:nvSpPr>
          <p:cNvPr id="27" name="Shape 25"/>
          <p:cNvSpPr/>
          <p:nvPr/>
        </p:nvSpPr>
        <p:spPr>
          <a:xfrm>
            <a:off x="7178040" y="4617720"/>
            <a:ext cx="4480560" cy="822960"/>
          </a:xfrm>
          <a:prstGeom prst="roundRect">
            <a:avLst>
              <a:gd name="adj" fmla="val 8889"/>
            </a:avLst>
          </a:prstGeom>
          <a:solidFill>
            <a:srgbClr val="FFF7ED"/>
          </a:solidFill>
          <a:ln w="12700">
            <a:solidFill>
              <a:srgbClr val="FED7AA"/>
            </a:solidFill>
            <a:prstDash val="solid"/>
          </a:ln>
        </p:spPr>
      </p:sp>
      <p:sp>
        <p:nvSpPr>
          <p:cNvPr id="28" name="Shape 26"/>
          <p:cNvSpPr/>
          <p:nvPr/>
        </p:nvSpPr>
        <p:spPr>
          <a:xfrm>
            <a:off x="7178040" y="4617720"/>
            <a:ext cx="73152" cy="822960"/>
          </a:xfrm>
          <a:prstGeom prst="rect">
            <a:avLst/>
          </a:prstGeom>
          <a:solidFill>
            <a:srgbClr val="F99239"/>
          </a:solidFill>
          <a:ln w="12700">
            <a:solidFill>
              <a:srgbClr val="F99239"/>
            </a:solidFill>
            <a:prstDash val="solid"/>
          </a:ln>
        </p:spPr>
      </p:sp>
      <p:sp>
        <p:nvSpPr>
          <p:cNvPr id="29" name="Text 27"/>
          <p:cNvSpPr/>
          <p:nvPr/>
        </p:nvSpPr>
        <p:spPr>
          <a:xfrm>
            <a:off x="7360920" y="4617720"/>
            <a:ext cx="4206240" cy="82296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The resident and property inboxes are emailed by default — leave that box ticked.</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Restricted-access check</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Restricted-Access Check</a:t>
            </a:r>
            <a:pPr indent="0" marL="0">
              <a:buNone/>
            </a:pPr>
            <a:r>
              <a:rPr lang="en-US" sz="1300" dirty="0">
                <a:solidFill>
                  <a:srgbClr val="14213D"/>
                </a:solidFill>
                <a:latin typeface="Montserrat" pitchFamily="34" charset="0"/>
                <a:ea typeface="Montserrat" pitchFamily="34" charset="-122"/>
                <a:cs typeface="Montserrat" pitchFamily="34" charset="-120"/>
              </a:rPr>
              <a:t>, type the guest’s full name, click </a:t>
            </a:r>
            <a:pPr indent="0" marL="0">
              <a:buNone/>
            </a:pPr>
            <a:r>
              <a:rPr lang="en-US" sz="1300" b="1" dirty="0">
                <a:solidFill>
                  <a:srgbClr val="002D6A"/>
                </a:solidFill>
                <a:latin typeface="Montserrat" pitchFamily="34" charset="0"/>
                <a:ea typeface="Montserrat" pitchFamily="34" charset="-122"/>
                <a:cs typeface="Montserrat" pitchFamily="34" charset="-120"/>
              </a:rPr>
              <a:t>Check</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8" name="Shape 6"/>
          <p:cNvSpPr/>
          <p:nvPr/>
        </p:nvSpPr>
        <p:spPr>
          <a:xfrm>
            <a:off x="548640" y="2404872"/>
            <a:ext cx="347472" cy="347472"/>
          </a:xfrm>
          <a:prstGeom prst="ellipse">
            <a:avLst/>
          </a:prstGeom>
          <a:solidFill>
            <a:srgbClr val="002D6A"/>
          </a:solidFill>
          <a:ln w="12700">
            <a:solidFill>
              <a:srgbClr val="FFFFFF"/>
            </a:solidFill>
            <a:prstDash val="solid"/>
          </a:ln>
        </p:spPr>
      </p:sp>
      <p:sp>
        <p:nvSpPr>
          <p:cNvPr id="9" name="Text 7"/>
          <p:cNvSpPr/>
          <p:nvPr/>
        </p:nvSpPr>
        <p:spPr>
          <a:xfrm>
            <a:off x="548640" y="240487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350008"/>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No match: “Continue the normal guest process.”</a:t>
            </a:r>
            <a:endParaRPr lang="en-US" sz="1300" dirty="0"/>
          </a:p>
        </p:txBody>
      </p:sp>
      <p:sp>
        <p:nvSpPr>
          <p:cNvPr id="11" name="Shape 9"/>
          <p:cNvSpPr/>
          <p:nvPr/>
        </p:nvSpPr>
        <p:spPr>
          <a:xfrm>
            <a:off x="548640" y="3008376"/>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00837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2953512"/>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Possible match: </a:t>
            </a:r>
            <a:pPr indent="0" marL="0">
              <a:buNone/>
            </a:pPr>
            <a:r>
              <a:rPr lang="en-US" sz="1300" b="1" dirty="0">
                <a:solidFill>
                  <a:srgbClr val="002D6A"/>
                </a:solidFill>
                <a:latin typeface="Montserrat" pitchFamily="34" charset="0"/>
                <a:ea typeface="Montserrat" pitchFamily="34" charset="-122"/>
                <a:cs typeface="Montserrat" pitchFamily="34" charset="-120"/>
              </a:rPr>
              <a:t>pause the check-in politely</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4" name="Shape 12"/>
          <p:cNvSpPr/>
          <p:nvPr/>
        </p:nvSpPr>
        <p:spPr>
          <a:xfrm>
            <a:off x="548640" y="3611880"/>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61188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557016"/>
            <a:ext cx="5943600" cy="603504"/>
          </a:xfrm>
          <a:prstGeom prst="rect">
            <a:avLst/>
          </a:prstGeom>
          <a:noFill/>
          <a:ln/>
        </p:spPr>
        <p:txBody>
          <a:bodyPr wrap="square" rtlCol="0" anchor="t"/>
          <a:lstStyle/>
          <a:p>
            <a:pPr indent="0" marL="0">
              <a:buNone/>
            </a:pPr>
            <a:r>
              <a:rPr lang="en-US" sz="1300" b="1" dirty="0">
                <a:solidFill>
                  <a:srgbClr val="002D6A"/>
                </a:solidFill>
                <a:latin typeface="Montserrat" pitchFamily="34" charset="0"/>
                <a:ea typeface="Montserrat" pitchFamily="34" charset="-122"/>
                <a:cs typeface="Montserrat" pitchFamily="34" charset="-120"/>
              </a:rPr>
              <a:t>Contact the on-call REC now.</a:t>
            </a:r>
            <a:endParaRPr lang="en-US" sz="1300" dirty="0"/>
          </a:p>
        </p:txBody>
      </p:sp>
      <p:sp>
        <p:nvSpPr>
          <p:cNvPr id="17" name="Shape 15"/>
          <p:cNvSpPr/>
          <p:nvPr/>
        </p:nvSpPr>
        <p:spPr>
          <a:xfrm>
            <a:off x="548640" y="4215384"/>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21538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160520"/>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Follow the </a:t>
            </a:r>
            <a:pPr indent="0" marL="0">
              <a:buNone/>
            </a:pPr>
            <a:r>
              <a:rPr lang="en-US" sz="1300" b="1" dirty="0">
                <a:solidFill>
                  <a:srgbClr val="002D6A"/>
                </a:solidFill>
                <a:latin typeface="Montserrat" pitchFamily="34" charset="0"/>
                <a:ea typeface="Montserrat" pitchFamily="34" charset="-122"/>
                <a:cs typeface="Montserrat" pitchFamily="34" charset="-120"/>
              </a:rPr>
              <a:t>Campus Safety escalation</a:t>
            </a:r>
            <a:pPr indent="0" marL="0">
              <a:buNone/>
            </a:pPr>
            <a:r>
              <a:rPr lang="en-US" sz="1300" dirty="0">
                <a:solidFill>
                  <a:srgbClr val="14213D"/>
                </a:solidFill>
                <a:latin typeface="Montserrat" pitchFamily="34" charset="0"/>
                <a:ea typeface="Montserrat" pitchFamily="34" charset="-122"/>
                <a:cs typeface="Montserrat" pitchFamily="34" charset="-120"/>
              </a:rPr>
              <a:t> process.</a:t>
            </a:r>
            <a:endParaRPr lang="en-US" sz="1300" dirty="0"/>
          </a:p>
        </p:txBody>
      </p:sp>
      <p:sp>
        <p:nvSpPr>
          <p:cNvPr id="20" name="Shape 18"/>
          <p:cNvSpPr/>
          <p:nvPr/>
        </p:nvSpPr>
        <p:spPr>
          <a:xfrm>
            <a:off x="548640" y="4818888"/>
            <a:ext cx="347472" cy="347472"/>
          </a:xfrm>
          <a:prstGeom prst="ellipse">
            <a:avLst/>
          </a:prstGeom>
          <a:solidFill>
            <a:srgbClr val="002D6A"/>
          </a:solidFill>
          <a:ln w="12700">
            <a:solidFill>
              <a:srgbClr val="FFFFFF"/>
            </a:solidFill>
            <a:prstDash val="solid"/>
          </a:ln>
        </p:spPr>
      </p:sp>
      <p:sp>
        <p:nvSpPr>
          <p:cNvPr id="21" name="Text 19"/>
          <p:cNvSpPr/>
          <p:nvPr/>
        </p:nvSpPr>
        <p:spPr>
          <a:xfrm>
            <a:off x="548640" y="48188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6</a:t>
            </a:r>
            <a:endParaRPr lang="en-US" sz="1200" dirty="0"/>
          </a:p>
        </p:txBody>
      </p:sp>
      <p:sp>
        <p:nvSpPr>
          <p:cNvPr id="22" name="Text 20"/>
          <p:cNvSpPr/>
          <p:nvPr/>
        </p:nvSpPr>
        <p:spPr>
          <a:xfrm>
            <a:off x="1005840" y="4764024"/>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Record the outcome: Escalated to REC / Campus Safety · Not a match — ID verified · Unable to verify identity.</a:t>
            </a:r>
            <a:endParaRPr lang="en-US" sz="1300" dirty="0"/>
          </a:p>
        </p:txBody>
      </p:sp>
      <p:sp>
        <p:nvSpPr>
          <p:cNvPr id="23" name="Shape 21"/>
          <p:cNvSpPr/>
          <p:nvPr/>
        </p:nvSpPr>
        <p:spPr>
          <a:xfrm>
            <a:off x="7178040" y="1783080"/>
            <a:ext cx="4480560" cy="1463040"/>
          </a:xfrm>
          <a:prstGeom prst="roundRect">
            <a:avLst>
              <a:gd name="adj" fmla="val 5000"/>
            </a:avLst>
          </a:prstGeom>
          <a:solidFill>
            <a:srgbClr val="FFF7ED"/>
          </a:solidFill>
          <a:ln w="12700">
            <a:solidFill>
              <a:srgbClr val="FED7AA"/>
            </a:solidFill>
            <a:prstDash val="solid"/>
          </a:ln>
        </p:spPr>
      </p:sp>
      <p:sp>
        <p:nvSpPr>
          <p:cNvPr id="24" name="Shape 22"/>
          <p:cNvSpPr/>
          <p:nvPr/>
        </p:nvSpPr>
        <p:spPr>
          <a:xfrm>
            <a:off x="7178040" y="1783080"/>
            <a:ext cx="73152" cy="1463040"/>
          </a:xfrm>
          <a:prstGeom prst="rect">
            <a:avLst/>
          </a:prstGeom>
          <a:solidFill>
            <a:srgbClr val="F99239"/>
          </a:solidFill>
          <a:ln w="12700">
            <a:solidFill>
              <a:srgbClr val="F99239"/>
            </a:solidFill>
            <a:prstDash val="solid"/>
          </a:ln>
        </p:spPr>
      </p:sp>
      <p:sp>
        <p:nvSpPr>
          <p:cNvPr id="25" name="Text 23"/>
          <p:cNvSpPr/>
          <p:nvPr/>
        </p:nvSpPr>
        <p:spPr>
          <a:xfrm>
            <a:off x="7360920" y="1783080"/>
            <a:ext cx="4206240" cy="14630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A match is a screening aid, </a:t>
            </a:r>
            <a:pPr indent="0" marL="0">
              <a:buNone/>
            </a:pPr>
            <a:r>
              <a:rPr lang="en-US" sz="1100" b="1" dirty="0">
                <a:solidFill>
                  <a:srgbClr val="002D6A"/>
                </a:solidFill>
                <a:latin typeface="Montserrat" pitchFamily="34" charset="0"/>
                <a:ea typeface="Montserrat" pitchFamily="34" charset="-122"/>
                <a:cs typeface="Montserrat" pitchFamily="34" charset="-120"/>
              </a:rPr>
              <a:t>not an identification</a:t>
            </a:r>
            <a:pPr indent="0" marL="0">
              <a:buNone/>
            </a:pPr>
            <a:r>
              <a:rPr lang="en-US" sz="1100" dirty="0">
                <a:solidFill>
                  <a:srgbClr val="14213D"/>
                </a:solidFill>
                <a:latin typeface="Montserrat" pitchFamily="34" charset="0"/>
                <a:ea typeface="Montserrat" pitchFamily="34" charset="-122"/>
                <a:cs typeface="Montserrat" pitchFamily="34" charset="-120"/>
              </a:rPr>
              <a:t>. Similar names are common. </a:t>
            </a:r>
            <a:pPr indent="0" marL="0">
              <a:buNone/>
            </a:pPr>
            <a:r>
              <a:rPr lang="en-US" sz="1100" b="1" dirty="0">
                <a:solidFill>
                  <a:srgbClr val="002D6A"/>
                </a:solidFill>
                <a:latin typeface="Montserrat" pitchFamily="34" charset="0"/>
                <a:ea typeface="Montserrat" pitchFamily="34" charset="-122"/>
                <a:cs typeface="Montserrat" pitchFamily="34" charset="-120"/>
              </a:rPr>
              <a:t>Do not confirm or deny anything</a:t>
            </a:r>
            <a:pPr indent="0" marL="0">
              <a:buNone/>
            </a:pPr>
            <a:r>
              <a:rPr lang="en-US" sz="1100" dirty="0">
                <a:solidFill>
                  <a:srgbClr val="14213D"/>
                </a:solidFill>
                <a:latin typeface="Montserrat" pitchFamily="34" charset="0"/>
                <a:ea typeface="Montserrat" pitchFamily="34" charset="-122"/>
                <a:cs typeface="Montserrat" pitchFamily="34" charset="-120"/>
              </a:rPr>
              <a:t> to the guest or resident.</a:t>
            </a:r>
            <a:endParaRPr lang="en-US" sz="1100" dirty="0"/>
          </a:p>
        </p:txBody>
      </p:sp>
      <p:sp>
        <p:nvSpPr>
          <p:cNvPr id="26" name="Shape 24"/>
          <p:cNvSpPr/>
          <p:nvPr/>
        </p:nvSpPr>
        <p:spPr>
          <a:xfrm>
            <a:off x="7178040" y="3429000"/>
            <a:ext cx="4480560" cy="1188720"/>
          </a:xfrm>
          <a:prstGeom prst="roundRect">
            <a:avLst>
              <a:gd name="adj" fmla="val 6154"/>
            </a:avLst>
          </a:prstGeom>
          <a:solidFill>
            <a:srgbClr val="FFF7ED"/>
          </a:solidFill>
          <a:ln w="12700">
            <a:solidFill>
              <a:srgbClr val="FED7AA"/>
            </a:solidFill>
            <a:prstDash val="solid"/>
          </a:ln>
        </p:spPr>
      </p:sp>
      <p:sp>
        <p:nvSpPr>
          <p:cNvPr id="27" name="Shape 25"/>
          <p:cNvSpPr/>
          <p:nvPr/>
        </p:nvSpPr>
        <p:spPr>
          <a:xfrm>
            <a:off x="7178040" y="3429000"/>
            <a:ext cx="73152" cy="1188720"/>
          </a:xfrm>
          <a:prstGeom prst="rect">
            <a:avLst/>
          </a:prstGeom>
          <a:solidFill>
            <a:srgbClr val="F99239"/>
          </a:solidFill>
          <a:ln w="12700">
            <a:solidFill>
              <a:srgbClr val="F99239"/>
            </a:solidFill>
            <a:prstDash val="solid"/>
          </a:ln>
        </p:spPr>
      </p:sp>
      <p:sp>
        <p:nvSpPr>
          <p:cNvPr id="28" name="Text 26"/>
          <p:cNvSpPr/>
          <p:nvPr/>
        </p:nvSpPr>
        <p:spPr>
          <a:xfrm>
            <a:off x="7360920" y="3429000"/>
            <a:ext cx="4206240" cy="118872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NOTE  </a:t>
            </a:r>
            <a:pPr indent="0" marL="0">
              <a:buNone/>
            </a:pPr>
            <a:r>
              <a:rPr lang="en-US" sz="1100" dirty="0">
                <a:solidFill>
                  <a:srgbClr val="14213D"/>
                </a:solidFill>
                <a:latin typeface="Montserrat" pitchFamily="34" charset="0"/>
                <a:ea typeface="Montserrat" pitchFamily="34" charset="-122"/>
                <a:cs typeface="Montserrat" pitchFamily="34" charset="-120"/>
              </a:rPr>
              <a:t>Checks can also pop up automatically when you check a guest in. A flagged guest shows </a:t>
            </a:r>
            <a:pPr indent="0" marL="0">
              <a:buNone/>
            </a:pPr>
            <a:r>
              <a:rPr lang="en-US" sz="1100" b="1" dirty="0">
                <a:solidFill>
                  <a:srgbClr val="002D6A"/>
                </a:solidFill>
                <a:latin typeface="Montserrat" pitchFamily="34" charset="0"/>
                <a:ea typeface="Montserrat" pitchFamily="34" charset="-122"/>
                <a:cs typeface="Montserrat" pitchFamily="34" charset="-120"/>
              </a:rPr>
              <a:t>Verification required</a:t>
            </a:r>
            <a:pPr indent="0" marL="0">
              <a:buNone/>
            </a:pPr>
            <a:r>
              <a:rPr lang="en-US" sz="1100" dirty="0">
                <a:solidFill>
                  <a:srgbClr val="14213D"/>
                </a:solidFill>
                <a:latin typeface="Montserrat" pitchFamily="34" charset="0"/>
                <a:ea typeface="Montserrat" pitchFamily="34" charset="-122"/>
                <a:cs typeface="Montserrat" pitchFamily="34" charset="-120"/>
              </a:rPr>
              <a:t>.</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Incident Reports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5440680" cy="3246120"/>
          </a:xfrm>
          <a:prstGeom prst="roundRect">
            <a:avLst>
              <a:gd name="adj" fmla="val 2254"/>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246120"/>
          </a:xfrm>
          <a:prstGeom prst="rect">
            <a:avLst/>
          </a:prstGeom>
          <a:solidFill>
            <a:srgbClr val="002D6A"/>
          </a:solidFill>
          <a:ln w="12700">
            <a:solidFill>
              <a:srgbClr val="002D6A"/>
            </a:solidFill>
            <a:prstDash val="solid"/>
          </a:ln>
        </p:spPr>
      </p:sp>
      <p:sp>
        <p:nvSpPr>
          <p:cNvPr id="7" name="Text 5"/>
          <p:cNvSpPr/>
          <p:nvPr/>
        </p:nvSpPr>
        <p:spPr>
          <a:xfrm>
            <a:off x="749808" y="1874520"/>
            <a:ext cx="51206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Quick Log (this tab)</a:t>
            </a:r>
            <a:endParaRPr lang="en-US" sz="1300" dirty="0"/>
          </a:p>
        </p:txBody>
      </p:sp>
      <p:sp>
        <p:nvSpPr>
          <p:cNvPr id="8" name="Text 6"/>
          <p:cNvSpPr/>
          <p:nvPr/>
        </p:nvSpPr>
        <p:spPr>
          <a:xfrm>
            <a:off x="685800" y="2240280"/>
            <a:ext cx="5166360" cy="269748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Click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 New Incident Report</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Who &amp; Where</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 Resident Name, Room / Unit (optional),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Severity</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Low / Medium / High</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What Happened</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Description</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(required)</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Review →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Submit Report</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You can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Edit</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or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Delete</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your own reports</a:t>
            </a:r>
            <a:endParaRPr lang="en-US" sz="1200" dirty="0"/>
          </a:p>
        </p:txBody>
      </p:sp>
      <p:sp>
        <p:nvSpPr>
          <p:cNvPr id="9" name="Shape 7"/>
          <p:cNvSpPr/>
          <p:nvPr/>
        </p:nvSpPr>
        <p:spPr>
          <a:xfrm>
            <a:off x="6217920" y="1783080"/>
            <a:ext cx="5440680" cy="3246120"/>
          </a:xfrm>
          <a:prstGeom prst="roundRect">
            <a:avLst>
              <a:gd name="adj" fmla="val 2254"/>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217920" y="1783080"/>
            <a:ext cx="73152" cy="3246120"/>
          </a:xfrm>
          <a:prstGeom prst="rect">
            <a:avLst/>
          </a:prstGeom>
          <a:solidFill>
            <a:srgbClr val="F99239"/>
          </a:solidFill>
          <a:ln w="12700">
            <a:solidFill>
              <a:srgbClr val="F99239"/>
            </a:solidFill>
            <a:prstDash val="solid"/>
          </a:ln>
        </p:spPr>
      </p:sp>
      <p:sp>
        <p:nvSpPr>
          <p:cNvPr id="11" name="Text 9"/>
          <p:cNvSpPr/>
          <p:nvPr/>
        </p:nvSpPr>
        <p:spPr>
          <a:xfrm>
            <a:off x="6419088" y="1874520"/>
            <a:ext cx="51206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Incident Report Assistant (full report)</a:t>
            </a:r>
            <a:endParaRPr lang="en-US" sz="1300" dirty="0"/>
          </a:p>
        </p:txBody>
      </p:sp>
      <p:sp>
        <p:nvSpPr>
          <p:cNvPr id="12" name="Text 10"/>
          <p:cNvSpPr/>
          <p:nvPr/>
        </p:nvSpPr>
        <p:spPr>
          <a:xfrm>
            <a:off x="6355080" y="2240280"/>
            <a:ext cx="5166360" cy="269748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Use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Open Incident Report Assistant →</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or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 New Report</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on the Dashboard</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Guided narrative builder for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Maxient-ready</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reports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Drafts show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Draft</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or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Ready for Maxient</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 click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Continue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Duty Log →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How to Write an Incident Report</a:t>
            </a:r>
            <a:endParaRPr lang="en-US" sz="1200" dirty="0"/>
          </a:p>
        </p:txBody>
      </p:sp>
      <p:sp>
        <p:nvSpPr>
          <p:cNvPr id="13" name="Shape 11"/>
          <p:cNvSpPr/>
          <p:nvPr/>
        </p:nvSpPr>
        <p:spPr>
          <a:xfrm>
            <a:off x="548640" y="5257800"/>
            <a:ext cx="11109960" cy="594360"/>
          </a:xfrm>
          <a:prstGeom prst="roundRect">
            <a:avLst>
              <a:gd name="adj" fmla="val 12308"/>
            </a:avLst>
          </a:prstGeom>
          <a:solidFill>
            <a:srgbClr val="FFF7ED"/>
          </a:solidFill>
          <a:ln w="12700">
            <a:solidFill>
              <a:srgbClr val="FED7AA"/>
            </a:solidFill>
            <a:prstDash val="solid"/>
          </a:ln>
        </p:spPr>
      </p:sp>
      <p:sp>
        <p:nvSpPr>
          <p:cNvPr id="14" name="Shape 12"/>
          <p:cNvSpPr/>
          <p:nvPr/>
        </p:nvSpPr>
        <p:spPr>
          <a:xfrm>
            <a:off x="548640" y="5257800"/>
            <a:ext cx="73152" cy="594360"/>
          </a:xfrm>
          <a:prstGeom prst="rect">
            <a:avLst/>
          </a:prstGeom>
          <a:solidFill>
            <a:srgbClr val="F99239"/>
          </a:solidFill>
          <a:ln w="12700">
            <a:solidFill>
              <a:srgbClr val="F99239"/>
            </a:solidFill>
            <a:prstDash val="solid"/>
          </a:ln>
        </p:spPr>
      </p:sp>
      <p:sp>
        <p:nvSpPr>
          <p:cNvPr id="15" name="Text 13"/>
          <p:cNvSpPr/>
          <p:nvPr/>
        </p:nvSpPr>
        <p:spPr>
          <a:xfrm>
            <a:off x="731520" y="5257800"/>
            <a:ext cx="10835640" cy="59436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Use the Quick Log to capture it fast — use the Assistant for the official, detailed report. RECs resolve and reopen reports.</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Maintenance &amp; Key requests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 New Request</a:t>
            </a:r>
            <a:pPr indent="0" marL="0">
              <a:buNone/>
            </a:pPr>
            <a:r>
              <a:rPr lang="en-US" sz="1300" dirty="0">
                <a:solidFill>
                  <a:srgbClr val="14213D"/>
                </a:solidFill>
                <a:latin typeface="Montserrat" pitchFamily="34" charset="0"/>
                <a:ea typeface="Montserrat" pitchFamily="34" charset="-122"/>
                <a:cs typeface="Montserrat" pitchFamily="34" charset="-120"/>
              </a:rPr>
              <a:t> → choose </a:t>
            </a:r>
            <a:pPr indent="0" marL="0">
              <a:buNone/>
            </a:pPr>
            <a:r>
              <a:rPr lang="en-US" sz="1300" b="1" dirty="0">
                <a:solidFill>
                  <a:srgbClr val="002D6A"/>
                </a:solidFill>
                <a:latin typeface="Montserrat" pitchFamily="34" charset="0"/>
                <a:ea typeface="Montserrat" pitchFamily="34" charset="-122"/>
                <a:cs typeface="Montserrat" pitchFamily="34" charset="-120"/>
              </a:rPr>
              <a:t>Maintenance</a:t>
            </a:r>
            <a:pPr indent="0" marL="0">
              <a:buNone/>
            </a:pPr>
            <a:r>
              <a:rPr lang="en-US" sz="1300" dirty="0">
                <a:solidFill>
                  <a:srgbClr val="14213D"/>
                </a:solidFill>
                <a:latin typeface="Montserrat" pitchFamily="34" charset="0"/>
                <a:ea typeface="Montserrat" pitchFamily="34" charset="-122"/>
                <a:cs typeface="Montserrat" pitchFamily="34" charset="-120"/>
              </a:rPr>
              <a:t> or </a:t>
            </a:r>
            <a:pPr indent="0" marL="0">
              <a:buNone/>
            </a:pPr>
            <a:r>
              <a:rPr lang="en-US" sz="1300" b="1" dirty="0">
                <a:solidFill>
                  <a:srgbClr val="002D6A"/>
                </a:solidFill>
                <a:latin typeface="Montserrat" pitchFamily="34" charset="0"/>
                <a:ea typeface="Montserrat" pitchFamily="34" charset="-122"/>
                <a:cs typeface="Montserrat" pitchFamily="34" charset="-120"/>
              </a:rPr>
              <a:t>Key / Lock</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8" name="Shape 6"/>
          <p:cNvSpPr/>
          <p:nvPr/>
        </p:nvSpPr>
        <p:spPr>
          <a:xfrm>
            <a:off x="548640" y="2404872"/>
            <a:ext cx="347472" cy="347472"/>
          </a:xfrm>
          <a:prstGeom prst="ellipse">
            <a:avLst/>
          </a:prstGeom>
          <a:solidFill>
            <a:srgbClr val="002D6A"/>
          </a:solidFill>
          <a:ln w="12700">
            <a:solidFill>
              <a:srgbClr val="FFFFFF"/>
            </a:solidFill>
            <a:prstDash val="solid"/>
          </a:ln>
        </p:spPr>
      </p:sp>
      <p:sp>
        <p:nvSpPr>
          <p:cNvPr id="9" name="Text 7"/>
          <p:cNvSpPr/>
          <p:nvPr/>
        </p:nvSpPr>
        <p:spPr>
          <a:xfrm>
            <a:off x="548640" y="240487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350008"/>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Select the </a:t>
            </a:r>
            <a:pPr indent="0" marL="0">
              <a:buNone/>
            </a:pPr>
            <a:r>
              <a:rPr lang="en-US" sz="1300" b="1" dirty="0">
                <a:solidFill>
                  <a:srgbClr val="002D6A"/>
                </a:solidFill>
                <a:latin typeface="Montserrat" pitchFamily="34" charset="0"/>
                <a:ea typeface="Montserrat" pitchFamily="34" charset="-122"/>
                <a:cs typeface="Montserrat" pitchFamily="34" charset="-120"/>
              </a:rPr>
              <a:t>Resident</a:t>
            </a:r>
            <a:pPr indent="0" marL="0">
              <a:buNone/>
            </a:pPr>
            <a:r>
              <a:rPr lang="en-US" sz="1300" dirty="0">
                <a:solidFill>
                  <a:srgbClr val="14213D"/>
                </a:solidFill>
                <a:latin typeface="Montserrat" pitchFamily="34" charset="0"/>
                <a:ea typeface="Montserrat" pitchFamily="34" charset="-122"/>
                <a:cs typeface="Montserrat" pitchFamily="34" charset="-120"/>
              </a:rPr>
              <a:t> (saved to their directory record) and the </a:t>
            </a:r>
            <a:pPr indent="0" marL="0">
              <a:buNone/>
            </a:pPr>
            <a:r>
              <a:rPr lang="en-US" sz="1300" b="1" dirty="0">
                <a:solidFill>
                  <a:srgbClr val="002D6A"/>
                </a:solidFill>
                <a:latin typeface="Montserrat" pitchFamily="34" charset="0"/>
                <a:ea typeface="Montserrat" pitchFamily="34" charset="-122"/>
                <a:cs typeface="Montserrat" pitchFamily="34" charset="-120"/>
              </a:rPr>
              <a:t>Unit / Bed</a:t>
            </a:r>
            <a:pPr indent="0" marL="0">
              <a:buNone/>
            </a:pPr>
            <a:r>
              <a:rPr lang="en-US" sz="1300" dirty="0">
                <a:solidFill>
                  <a:srgbClr val="14213D"/>
                </a:solidFill>
                <a:latin typeface="Montserrat" pitchFamily="34" charset="0"/>
                <a:ea typeface="Montserrat" pitchFamily="34" charset="-122"/>
                <a:cs typeface="Montserrat" pitchFamily="34" charset="-120"/>
              </a:rPr>
              <a:t> or Common Area.</a:t>
            </a:r>
            <a:endParaRPr lang="en-US" sz="1300" dirty="0"/>
          </a:p>
        </p:txBody>
      </p:sp>
      <p:sp>
        <p:nvSpPr>
          <p:cNvPr id="11" name="Shape 9"/>
          <p:cNvSpPr/>
          <p:nvPr/>
        </p:nvSpPr>
        <p:spPr>
          <a:xfrm>
            <a:off x="548640" y="3008376"/>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00837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2953512"/>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Maintenance: </a:t>
            </a:r>
            <a:pPr indent="0" marL="0">
              <a:buNone/>
            </a:pPr>
            <a:r>
              <a:rPr lang="en-US" sz="1300" b="1" dirty="0">
                <a:solidFill>
                  <a:srgbClr val="002D6A"/>
                </a:solidFill>
                <a:latin typeface="Montserrat" pitchFamily="34" charset="0"/>
                <a:ea typeface="Montserrat" pitchFamily="34" charset="-122"/>
                <a:cs typeface="Montserrat" pitchFamily="34" charset="-120"/>
              </a:rPr>
              <a:t>Category</a:t>
            </a:r>
            <a:pPr indent="0" marL="0">
              <a:buNone/>
            </a:pPr>
            <a:r>
              <a:rPr lang="en-US" sz="1300" dirty="0">
                <a:solidFill>
                  <a:srgbClr val="14213D"/>
                </a:solidFill>
                <a:latin typeface="Montserrat" pitchFamily="34" charset="0"/>
                <a:ea typeface="Montserrat" pitchFamily="34" charset="-122"/>
                <a:cs typeface="Montserrat" pitchFamily="34" charset="-120"/>
              </a:rPr>
              <a:t>*, </a:t>
            </a:r>
            <a:pPr indent="0" marL="0">
              <a:buNone/>
            </a:pPr>
            <a:r>
              <a:rPr lang="en-US" sz="1300" b="1" dirty="0">
                <a:solidFill>
                  <a:srgbClr val="002D6A"/>
                </a:solidFill>
                <a:latin typeface="Montserrat" pitchFamily="34" charset="0"/>
                <a:ea typeface="Montserrat" pitchFamily="34" charset="-122"/>
                <a:cs typeface="Montserrat" pitchFamily="34" charset="-120"/>
              </a:rPr>
              <a:t>Area</a:t>
            </a:r>
            <a:pPr indent="0" marL="0">
              <a:buNone/>
            </a:pPr>
            <a:r>
              <a:rPr lang="en-US" sz="1300" dirty="0">
                <a:solidFill>
                  <a:srgbClr val="14213D"/>
                </a:solidFill>
                <a:latin typeface="Montserrat" pitchFamily="34" charset="0"/>
                <a:ea typeface="Montserrat" pitchFamily="34" charset="-122"/>
                <a:cs typeface="Montserrat" pitchFamily="34" charset="-120"/>
              </a:rPr>
              <a:t>, </a:t>
            </a:r>
            <a:pPr indent="0" marL="0">
              <a:buNone/>
            </a:pPr>
            <a:r>
              <a:rPr lang="en-US" sz="1300" b="1" dirty="0">
                <a:solidFill>
                  <a:srgbClr val="002D6A"/>
                </a:solidFill>
                <a:latin typeface="Montserrat" pitchFamily="34" charset="0"/>
                <a:ea typeface="Montserrat" pitchFamily="34" charset="-122"/>
                <a:cs typeface="Montserrat" pitchFamily="34" charset="-120"/>
              </a:rPr>
              <a:t>Priority</a:t>
            </a:r>
            <a:pPr indent="0" marL="0">
              <a:buNone/>
            </a:pPr>
            <a:r>
              <a:rPr lang="en-US" sz="1300" dirty="0">
                <a:solidFill>
                  <a:srgbClr val="14213D"/>
                </a:solidFill>
                <a:latin typeface="Montserrat" pitchFamily="34" charset="0"/>
                <a:ea typeface="Montserrat" pitchFamily="34" charset="-122"/>
                <a:cs typeface="Montserrat" pitchFamily="34" charset="-120"/>
              </a:rPr>
              <a:t> (Normal, Low, Urgent, Emergency).</a:t>
            </a:r>
            <a:endParaRPr lang="en-US" sz="1300" dirty="0"/>
          </a:p>
        </p:txBody>
      </p:sp>
      <p:sp>
        <p:nvSpPr>
          <p:cNvPr id="14" name="Shape 12"/>
          <p:cNvSpPr/>
          <p:nvPr/>
        </p:nvSpPr>
        <p:spPr>
          <a:xfrm>
            <a:off x="548640" y="3611880"/>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61188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557016"/>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Key / Lock: </a:t>
            </a:r>
            <a:pPr indent="0" marL="0">
              <a:buNone/>
            </a:pPr>
            <a:r>
              <a:rPr lang="en-US" sz="1300" b="1" dirty="0">
                <a:solidFill>
                  <a:srgbClr val="002D6A"/>
                </a:solidFill>
                <a:latin typeface="Montserrat" pitchFamily="34" charset="0"/>
                <a:ea typeface="Montserrat" pitchFamily="34" charset="-122"/>
                <a:cs typeface="Montserrat" pitchFamily="34" charset="-120"/>
              </a:rPr>
              <a:t>Key Request</a:t>
            </a:r>
            <a:pPr indent="0" marL="0">
              <a:buNone/>
            </a:pPr>
            <a:r>
              <a:rPr lang="en-US" sz="1300" dirty="0">
                <a:solidFill>
                  <a:srgbClr val="14213D"/>
                </a:solidFill>
                <a:latin typeface="Montserrat" pitchFamily="34" charset="0"/>
                <a:ea typeface="Montserrat" pitchFamily="34" charset="-122"/>
                <a:cs typeface="Montserrat" pitchFamily="34" charset="-120"/>
              </a:rPr>
              <a:t>* (Lockout, Lost Key, Lost Fob, Lock Change…) and </a:t>
            </a:r>
            <a:pPr indent="0" marL="0">
              <a:buNone/>
            </a:pPr>
            <a:r>
              <a:rPr lang="en-US" sz="1300" b="1" dirty="0">
                <a:solidFill>
                  <a:srgbClr val="002D6A"/>
                </a:solidFill>
                <a:latin typeface="Montserrat" pitchFamily="34" charset="0"/>
                <a:ea typeface="Montserrat" pitchFamily="34" charset="-122"/>
                <a:cs typeface="Montserrat" pitchFamily="34" charset="-120"/>
              </a:rPr>
              <a:t>Item</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215384"/>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21538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160520"/>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Add a </a:t>
            </a:r>
            <a:pPr indent="0" marL="0">
              <a:buNone/>
            </a:pPr>
            <a:r>
              <a:rPr lang="en-US" sz="1300" b="1" dirty="0">
                <a:solidFill>
                  <a:srgbClr val="002D6A"/>
                </a:solidFill>
                <a:latin typeface="Montserrat" pitchFamily="34" charset="0"/>
                <a:ea typeface="Montserrat" pitchFamily="34" charset="-122"/>
                <a:cs typeface="Montserrat" pitchFamily="34" charset="-120"/>
              </a:rPr>
              <a:t>Note</a:t>
            </a:r>
            <a:pPr indent="0" marL="0">
              <a:buNone/>
            </a:pPr>
            <a:r>
              <a:rPr lang="en-US" sz="1300" dirty="0">
                <a:solidFill>
                  <a:srgbClr val="14213D"/>
                </a:solidFill>
                <a:latin typeface="Montserrat" pitchFamily="34" charset="0"/>
                <a:ea typeface="Montserrat" pitchFamily="34" charset="-122"/>
                <a:cs typeface="Montserrat" pitchFamily="34" charset="-120"/>
              </a:rPr>
              <a:t> (200 characters) and tick the </a:t>
            </a:r>
            <a:pPr indent="0" marL="0">
              <a:buNone/>
            </a:pPr>
            <a:r>
              <a:rPr lang="en-US" sz="1300" b="1" dirty="0">
                <a:solidFill>
                  <a:srgbClr val="002D6A"/>
                </a:solidFill>
                <a:latin typeface="Montserrat" pitchFamily="34" charset="0"/>
                <a:ea typeface="Montserrat" pitchFamily="34" charset="-122"/>
                <a:cs typeface="Montserrat" pitchFamily="34" charset="-120"/>
              </a:rPr>
              <a:t>Entrata</a:t>
            </a:r>
            <a:pPr indent="0" marL="0">
              <a:buNone/>
            </a:pPr>
            <a:r>
              <a:rPr lang="en-US" sz="1300" dirty="0">
                <a:solidFill>
                  <a:srgbClr val="14213D"/>
                </a:solidFill>
                <a:latin typeface="Montserrat" pitchFamily="34" charset="0"/>
                <a:ea typeface="Montserrat" pitchFamily="34" charset="-122"/>
                <a:cs typeface="Montserrat" pitchFamily="34" charset="-120"/>
              </a:rPr>
              <a:t> boxes — resident notes and work order # .</a:t>
            </a:r>
            <a:endParaRPr lang="en-US" sz="1300" dirty="0"/>
          </a:p>
        </p:txBody>
      </p:sp>
      <p:sp>
        <p:nvSpPr>
          <p:cNvPr id="20" name="Shape 18"/>
          <p:cNvSpPr/>
          <p:nvPr/>
        </p:nvSpPr>
        <p:spPr>
          <a:xfrm>
            <a:off x="548640" y="4818888"/>
            <a:ext cx="347472" cy="347472"/>
          </a:xfrm>
          <a:prstGeom prst="ellipse">
            <a:avLst/>
          </a:prstGeom>
          <a:solidFill>
            <a:srgbClr val="002D6A"/>
          </a:solidFill>
          <a:ln w="12700">
            <a:solidFill>
              <a:srgbClr val="FFFFFF"/>
            </a:solidFill>
            <a:prstDash val="solid"/>
          </a:ln>
        </p:spPr>
      </p:sp>
      <p:sp>
        <p:nvSpPr>
          <p:cNvPr id="21" name="Text 19"/>
          <p:cNvSpPr/>
          <p:nvPr/>
        </p:nvSpPr>
        <p:spPr>
          <a:xfrm>
            <a:off x="548640" y="48188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6</a:t>
            </a:r>
            <a:endParaRPr lang="en-US" sz="1200" dirty="0"/>
          </a:p>
        </p:txBody>
      </p:sp>
      <p:sp>
        <p:nvSpPr>
          <p:cNvPr id="22" name="Text 20"/>
          <p:cNvSpPr/>
          <p:nvPr/>
        </p:nvSpPr>
        <p:spPr>
          <a:xfrm>
            <a:off x="1005840" y="4764024"/>
            <a:ext cx="5943600" cy="603504"/>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Review → </a:t>
            </a:r>
            <a:pPr indent="0" marL="0">
              <a:buNone/>
            </a:pPr>
            <a:r>
              <a:rPr lang="en-US" sz="1300" b="1" dirty="0">
                <a:solidFill>
                  <a:srgbClr val="002D6A"/>
                </a:solidFill>
                <a:latin typeface="Montserrat" pitchFamily="34" charset="0"/>
                <a:ea typeface="Montserrat" pitchFamily="34" charset="-122"/>
                <a:cs typeface="Montserrat" pitchFamily="34" charset="-120"/>
              </a:rPr>
              <a:t>Submit Request</a:t>
            </a:r>
            <a:pPr indent="0" marL="0">
              <a:buNone/>
            </a:pPr>
            <a:r>
              <a:rPr lang="en-US" sz="1300" dirty="0">
                <a:solidFill>
                  <a:srgbClr val="14213D"/>
                </a:solidFill>
                <a:latin typeface="Montserrat" pitchFamily="34" charset="0"/>
                <a:ea typeface="Montserrat" pitchFamily="34" charset="-122"/>
                <a:cs typeface="Montserrat" pitchFamily="34" charset="-120"/>
              </a:rPr>
              <a:t>. Filter the list by type and status.</a:t>
            </a:r>
            <a:endParaRPr lang="en-US" sz="1300" dirty="0"/>
          </a:p>
        </p:txBody>
      </p:sp>
      <p:sp>
        <p:nvSpPr>
          <p:cNvPr id="23" name="Shape 21"/>
          <p:cNvSpPr/>
          <p:nvPr/>
        </p:nvSpPr>
        <p:spPr>
          <a:xfrm>
            <a:off x="7178040" y="1783080"/>
            <a:ext cx="4480560" cy="3017520"/>
          </a:xfrm>
          <a:prstGeom prst="roundRect">
            <a:avLst>
              <a:gd name="adj" fmla="val 1818"/>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24" name="Shape 22"/>
          <p:cNvSpPr/>
          <p:nvPr/>
        </p:nvSpPr>
        <p:spPr>
          <a:xfrm>
            <a:off x="7178040" y="1783080"/>
            <a:ext cx="1075334" cy="3017520"/>
          </a:xfrm>
          <a:prstGeom prst="rect">
            <a:avLst/>
          </a:prstGeom>
          <a:solidFill>
            <a:srgbClr val="002D6A"/>
          </a:solidFill>
          <a:ln w="12700">
            <a:solidFill>
              <a:srgbClr val="002D6A"/>
            </a:solidFill>
            <a:prstDash val="solid"/>
          </a:ln>
        </p:spPr>
      </p:sp>
      <p:pic>
        <p:nvPicPr>
          <p:cNvPr id="25" name="Image 0" descr="C:\Users\brian\AppData\Local\Temp\kilo\ppt\img\logo-white.png">    </p:cNvPr>
          <p:cNvPicPr>
            <a:picLocks noChangeAspect="1"/>
          </p:cNvPicPr>
          <p:nvPr/>
        </p:nvPicPr>
        <p:blipFill>
          <a:blip r:embed="rId1"/>
          <a:stretch>
            <a:fillRect/>
          </a:stretch>
        </p:blipFill>
        <p:spPr>
          <a:xfrm>
            <a:off x="7287768" y="1892808"/>
            <a:ext cx="855878" cy="333793"/>
          </a:xfrm>
          <a:prstGeom prst="rect">
            <a:avLst/>
          </a:prstGeom>
        </p:spPr>
      </p:pic>
      <p:sp>
        <p:nvSpPr>
          <p:cNvPr id="26" name="Text 23"/>
          <p:cNvSpPr/>
          <p:nvPr/>
        </p:nvSpPr>
        <p:spPr>
          <a:xfrm>
            <a:off x="7287768" y="235915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Announcements</a:t>
            </a:r>
            <a:endParaRPr lang="en-US" sz="750" dirty="0"/>
          </a:p>
        </p:txBody>
      </p:sp>
      <p:sp>
        <p:nvSpPr>
          <p:cNvPr id="27" name="Text 24"/>
          <p:cNvSpPr/>
          <p:nvPr/>
        </p:nvSpPr>
        <p:spPr>
          <a:xfrm>
            <a:off x="7287768" y="260604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28" name="Text 25"/>
          <p:cNvSpPr/>
          <p:nvPr/>
        </p:nvSpPr>
        <p:spPr>
          <a:xfrm>
            <a:off x="7287768" y="2852928"/>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29" name="Text 26"/>
          <p:cNvSpPr/>
          <p:nvPr/>
        </p:nvSpPr>
        <p:spPr>
          <a:xfrm>
            <a:off x="7287768" y="3099816"/>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30" name="Text 27"/>
          <p:cNvSpPr/>
          <p:nvPr/>
        </p:nvSpPr>
        <p:spPr>
          <a:xfrm>
            <a:off x="7287768" y="3346704"/>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31" name="Text 28"/>
          <p:cNvSpPr/>
          <p:nvPr/>
        </p:nvSpPr>
        <p:spPr>
          <a:xfrm>
            <a:off x="7287768" y="359359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32" name="Text 29"/>
          <p:cNvSpPr/>
          <p:nvPr/>
        </p:nvSpPr>
        <p:spPr>
          <a:xfrm>
            <a:off x="7287768" y="384048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33" name="Shape 30"/>
          <p:cNvSpPr/>
          <p:nvPr/>
        </p:nvSpPr>
        <p:spPr>
          <a:xfrm>
            <a:off x="7178040" y="4087368"/>
            <a:ext cx="1075334" cy="237744"/>
          </a:xfrm>
          <a:prstGeom prst="rect">
            <a:avLst/>
          </a:prstGeom>
          <a:solidFill>
            <a:srgbClr val="F99239"/>
          </a:solidFill>
          <a:ln w="12700">
            <a:solidFill>
              <a:srgbClr val="F99239"/>
            </a:solidFill>
            <a:prstDash val="solid"/>
          </a:ln>
        </p:spPr>
      </p:sp>
      <p:sp>
        <p:nvSpPr>
          <p:cNvPr id="34" name="Text 31"/>
          <p:cNvSpPr/>
          <p:nvPr/>
        </p:nvSpPr>
        <p:spPr>
          <a:xfrm>
            <a:off x="7287768" y="4087368"/>
            <a:ext cx="938174"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35" name="Text 32"/>
          <p:cNvSpPr/>
          <p:nvPr/>
        </p:nvSpPr>
        <p:spPr>
          <a:xfrm>
            <a:off x="7287768" y="4334256"/>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Resident Directory</a:t>
            </a:r>
            <a:endParaRPr lang="en-US" sz="750" dirty="0"/>
          </a:p>
        </p:txBody>
      </p:sp>
      <p:sp>
        <p:nvSpPr>
          <p:cNvPr id="36" name="Shape 33"/>
          <p:cNvSpPr/>
          <p:nvPr/>
        </p:nvSpPr>
        <p:spPr>
          <a:xfrm>
            <a:off x="8253374" y="1783080"/>
            <a:ext cx="3405226" cy="347472"/>
          </a:xfrm>
          <a:prstGeom prst="rect">
            <a:avLst/>
          </a:prstGeom>
          <a:solidFill>
            <a:srgbClr val="FFFFFF"/>
          </a:solidFill>
          <a:ln w="12700">
            <a:solidFill>
              <a:srgbClr val="E2E8F0"/>
            </a:solidFill>
            <a:prstDash val="solid"/>
          </a:ln>
        </p:spPr>
      </p:sp>
      <p:sp>
        <p:nvSpPr>
          <p:cNvPr id="37" name="Text 34"/>
          <p:cNvSpPr/>
          <p:nvPr/>
        </p:nvSpPr>
        <p:spPr>
          <a:xfrm>
            <a:off x="8390534"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38" name="Text 35"/>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39" name="Shape 36"/>
          <p:cNvSpPr/>
          <p:nvPr/>
        </p:nvSpPr>
        <p:spPr>
          <a:xfrm>
            <a:off x="8417966" y="2286000"/>
            <a:ext cx="3076042" cy="2331720"/>
          </a:xfrm>
          <a:prstGeom prst="rect">
            <a:avLst/>
          </a:prstGeom>
          <a:solidFill>
            <a:srgbClr val="FFFFFF"/>
          </a:solidFill>
          <a:ln w="12700">
            <a:solidFill>
              <a:srgbClr val="E2E8F0"/>
            </a:solidFill>
            <a:prstDash val="solid"/>
          </a:ln>
        </p:spPr>
      </p:sp>
      <p:sp>
        <p:nvSpPr>
          <p:cNvPr id="40" name="Text 37"/>
          <p:cNvSpPr/>
          <p:nvPr/>
        </p:nvSpPr>
        <p:spPr>
          <a:xfrm>
            <a:off x="8527694" y="2331720"/>
            <a:ext cx="1613002"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MAINTENANCE &amp; KEY REQUESTS</a:t>
            </a:r>
            <a:endParaRPr lang="en-US" sz="900" dirty="0"/>
          </a:p>
        </p:txBody>
      </p:sp>
      <p:sp>
        <p:nvSpPr>
          <p:cNvPr id="41" name="Shape 38"/>
          <p:cNvSpPr/>
          <p:nvPr/>
        </p:nvSpPr>
        <p:spPr>
          <a:xfrm>
            <a:off x="10076688" y="2359152"/>
            <a:ext cx="1325880" cy="256032"/>
          </a:xfrm>
          <a:prstGeom prst="roundRect">
            <a:avLst>
              <a:gd name="adj" fmla="val 17857"/>
            </a:avLst>
          </a:prstGeom>
          <a:solidFill>
            <a:srgbClr val="F99239"/>
          </a:solidFill>
          <a:ln w="12700">
            <a:solidFill>
              <a:srgbClr val="F99239"/>
            </a:solidFill>
            <a:prstDash val="solid"/>
          </a:ln>
        </p:spPr>
      </p:sp>
      <p:sp>
        <p:nvSpPr>
          <p:cNvPr id="42" name="Text 39"/>
          <p:cNvSpPr/>
          <p:nvPr/>
        </p:nvSpPr>
        <p:spPr>
          <a:xfrm>
            <a:off x="10076688" y="2359152"/>
            <a:ext cx="1325880" cy="256032"/>
          </a:xfrm>
          <a:prstGeom prst="rect">
            <a:avLst/>
          </a:prstGeom>
          <a:noFill/>
          <a:ln/>
        </p:spPr>
        <p:txBody>
          <a:bodyPr wrap="square" rtlCol="0" anchor="ctr"/>
          <a:lstStyle/>
          <a:p>
            <a:pPr algn="ctr" indent="0" marL="0">
              <a:buNone/>
            </a:pPr>
            <a:r>
              <a:rPr lang="en-US" sz="700" b="1" dirty="0">
                <a:solidFill>
                  <a:srgbClr val="FFFFFF"/>
                </a:solidFill>
                <a:latin typeface="Montserrat" pitchFamily="34" charset="0"/>
                <a:ea typeface="Montserrat" pitchFamily="34" charset="-122"/>
                <a:cs typeface="Montserrat" pitchFamily="34" charset="-120"/>
              </a:rPr>
              <a:t>+ New Request</a:t>
            </a:r>
            <a:endParaRPr lang="en-US" sz="700" dirty="0"/>
          </a:p>
        </p:txBody>
      </p:sp>
      <p:sp>
        <p:nvSpPr>
          <p:cNvPr id="43" name="Shape 40"/>
          <p:cNvSpPr/>
          <p:nvPr/>
        </p:nvSpPr>
        <p:spPr>
          <a:xfrm>
            <a:off x="8509406" y="2724912"/>
            <a:ext cx="2893162" cy="310896"/>
          </a:xfrm>
          <a:prstGeom prst="rect">
            <a:avLst/>
          </a:prstGeom>
          <a:solidFill>
            <a:srgbClr val="F8FAFC"/>
          </a:solidFill>
          <a:ln w="12700">
            <a:solidFill>
              <a:srgbClr val="E2E8F0"/>
            </a:solidFill>
            <a:prstDash val="solid"/>
          </a:ln>
        </p:spPr>
      </p:sp>
      <p:sp>
        <p:nvSpPr>
          <p:cNvPr id="44" name="Text 41"/>
          <p:cNvSpPr/>
          <p:nvPr/>
        </p:nvSpPr>
        <p:spPr>
          <a:xfrm>
            <a:off x="8600846" y="272491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Open 4 · In progress 2 · Resolved 18</a:t>
            </a:r>
            <a:endParaRPr lang="en-US" sz="800" dirty="0"/>
          </a:p>
        </p:txBody>
      </p:sp>
      <p:sp>
        <p:nvSpPr>
          <p:cNvPr id="45" name="Shape 42"/>
          <p:cNvSpPr/>
          <p:nvPr/>
        </p:nvSpPr>
        <p:spPr>
          <a:xfrm>
            <a:off x="8509406" y="3090672"/>
            <a:ext cx="2893162" cy="310896"/>
          </a:xfrm>
          <a:prstGeom prst="rect">
            <a:avLst/>
          </a:prstGeom>
          <a:solidFill>
            <a:srgbClr val="FFFFFF"/>
          </a:solidFill>
          <a:ln w="12700">
            <a:solidFill>
              <a:srgbClr val="E2E8F0"/>
            </a:solidFill>
            <a:prstDash val="solid"/>
          </a:ln>
        </p:spPr>
      </p:sp>
      <p:sp>
        <p:nvSpPr>
          <p:cNvPr id="46" name="Text 43"/>
          <p:cNvSpPr/>
          <p:nvPr/>
        </p:nvSpPr>
        <p:spPr>
          <a:xfrm>
            <a:off x="8600846" y="309067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Plumbing / Leak · Bathroom · Urgent</a:t>
            </a:r>
            <a:endParaRPr lang="en-US" sz="800" dirty="0"/>
          </a:p>
        </p:txBody>
      </p:sp>
      <p:sp>
        <p:nvSpPr>
          <p:cNvPr id="47" name="Shape 44"/>
          <p:cNvSpPr/>
          <p:nvPr/>
        </p:nvSpPr>
        <p:spPr>
          <a:xfrm>
            <a:off x="8509406" y="3456432"/>
            <a:ext cx="2893162" cy="310896"/>
          </a:xfrm>
          <a:prstGeom prst="rect">
            <a:avLst/>
          </a:prstGeom>
          <a:solidFill>
            <a:srgbClr val="F8FAFC"/>
          </a:solidFill>
          <a:ln w="12700">
            <a:solidFill>
              <a:srgbClr val="E2E8F0"/>
            </a:solidFill>
            <a:prstDash val="solid"/>
          </a:ln>
        </p:spPr>
      </p:sp>
      <p:sp>
        <p:nvSpPr>
          <p:cNvPr id="48" name="Text 45"/>
          <p:cNvSpPr/>
          <p:nvPr/>
        </p:nvSpPr>
        <p:spPr>
          <a:xfrm>
            <a:off x="8600846" y="345643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Lockout · Unit Key · ✓ Entrata notes</a:t>
            </a:r>
            <a:endParaRPr lang="en-US" sz="800" dirty="0"/>
          </a:p>
        </p:txBody>
      </p:sp>
      <p:sp>
        <p:nvSpPr>
          <p:cNvPr id="49" name="Shape 46"/>
          <p:cNvSpPr/>
          <p:nvPr/>
        </p:nvSpPr>
        <p:spPr>
          <a:xfrm>
            <a:off x="8509406" y="3822192"/>
            <a:ext cx="2893162" cy="310896"/>
          </a:xfrm>
          <a:prstGeom prst="rect">
            <a:avLst/>
          </a:prstGeom>
          <a:solidFill>
            <a:srgbClr val="FFFFFF"/>
          </a:solidFill>
          <a:ln w="12700">
            <a:solidFill>
              <a:srgbClr val="E2E8F0"/>
            </a:solidFill>
            <a:prstDash val="solid"/>
          </a:ln>
        </p:spPr>
      </p:sp>
      <p:sp>
        <p:nvSpPr>
          <p:cNvPr id="50" name="Text 47"/>
          <p:cNvSpPr/>
          <p:nvPr/>
        </p:nvSpPr>
        <p:spPr>
          <a:xfrm>
            <a:off x="8600846" y="382219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Light out · Hallway · ✗ Work order</a:t>
            </a:r>
            <a:endParaRPr lang="en-US" sz="800" dirty="0"/>
          </a:p>
        </p:txBody>
      </p:sp>
      <p:sp>
        <p:nvSpPr>
          <p:cNvPr id="51" name="Shape 48"/>
          <p:cNvSpPr/>
          <p:nvPr/>
        </p:nvSpPr>
        <p:spPr>
          <a:xfrm>
            <a:off x="7178040" y="4983480"/>
            <a:ext cx="4480560" cy="822960"/>
          </a:xfrm>
          <a:prstGeom prst="roundRect">
            <a:avLst>
              <a:gd name="adj" fmla="val 8889"/>
            </a:avLst>
          </a:prstGeom>
          <a:solidFill>
            <a:srgbClr val="FFF7ED"/>
          </a:solidFill>
          <a:ln w="12700">
            <a:solidFill>
              <a:srgbClr val="FED7AA"/>
            </a:solidFill>
            <a:prstDash val="solid"/>
          </a:ln>
        </p:spPr>
      </p:sp>
      <p:sp>
        <p:nvSpPr>
          <p:cNvPr id="52" name="Shape 49"/>
          <p:cNvSpPr/>
          <p:nvPr/>
        </p:nvSpPr>
        <p:spPr>
          <a:xfrm>
            <a:off x="7178040" y="4983480"/>
            <a:ext cx="73152" cy="822960"/>
          </a:xfrm>
          <a:prstGeom prst="rect">
            <a:avLst/>
          </a:prstGeom>
          <a:solidFill>
            <a:srgbClr val="F99239"/>
          </a:solidFill>
          <a:ln w="12700">
            <a:solidFill>
              <a:srgbClr val="F99239"/>
            </a:solidFill>
            <a:prstDash val="solid"/>
          </a:ln>
        </p:spPr>
      </p:sp>
      <p:sp>
        <p:nvSpPr>
          <p:cNvPr id="53" name="Text 50"/>
          <p:cNvSpPr/>
          <p:nvPr/>
        </p:nvSpPr>
        <p:spPr>
          <a:xfrm>
            <a:off x="7360920" y="4983480"/>
            <a:ext cx="4206240" cy="82296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Always document in </a:t>
            </a:r>
            <a:pPr indent="0" marL="0">
              <a:buNone/>
            </a:pPr>
            <a:r>
              <a:rPr lang="en-US" sz="1100" b="1" dirty="0">
                <a:solidFill>
                  <a:srgbClr val="002D6A"/>
                </a:solidFill>
                <a:latin typeface="Montserrat" pitchFamily="34" charset="0"/>
                <a:ea typeface="Montserrat" pitchFamily="34" charset="-122"/>
                <a:cs typeface="Montserrat" pitchFamily="34" charset="-120"/>
              </a:rPr>
              <a:t>Entrata</a:t>
            </a:r>
            <a:pPr indent="0" marL="0">
              <a:buNone/>
            </a:pPr>
            <a:r>
              <a:rPr lang="en-US" sz="1100" dirty="0">
                <a:solidFill>
                  <a:srgbClr val="14213D"/>
                </a:solidFill>
                <a:latin typeface="Montserrat" pitchFamily="34" charset="0"/>
                <a:ea typeface="Montserrat" pitchFamily="34" charset="-122"/>
                <a:cs typeface="Montserrat" pitchFamily="34" charset="-120"/>
              </a:rPr>
              <a:t> too. RECs mark requests in progress or resolved.</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ON DUTY</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Key &amp; maintenance SOPs (shown beside the form)</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5440680" cy="3566160"/>
          </a:xfrm>
          <a:prstGeom prst="roundRect">
            <a:avLst>
              <a:gd name="adj" fmla="val 205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566160"/>
          </a:xfrm>
          <a:prstGeom prst="rect">
            <a:avLst/>
          </a:prstGeom>
          <a:solidFill>
            <a:srgbClr val="002D6A"/>
          </a:solidFill>
          <a:ln w="12700">
            <a:solidFill>
              <a:srgbClr val="002D6A"/>
            </a:solidFill>
            <a:prstDash val="solid"/>
          </a:ln>
        </p:spPr>
      </p:sp>
      <p:sp>
        <p:nvSpPr>
          <p:cNvPr id="7" name="Text 5"/>
          <p:cNvSpPr/>
          <p:nvPr/>
        </p:nvSpPr>
        <p:spPr>
          <a:xfrm>
            <a:off x="749808" y="1874520"/>
            <a:ext cx="51206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Key / Lock SOP</a:t>
            </a:r>
            <a:endParaRPr lang="en-US" sz="1300" dirty="0"/>
          </a:p>
        </p:txBody>
      </p:sp>
      <p:sp>
        <p:nvSpPr>
          <p:cNvPr id="8" name="Text 6"/>
          <p:cNvSpPr/>
          <p:nvPr/>
        </p:nvSpPr>
        <p:spPr>
          <a:xfrm>
            <a:off x="685800" y="2240280"/>
            <a:ext cx="5166360" cy="3017520"/>
          </a:xfrm>
          <a:prstGeom prst="rect">
            <a:avLst/>
          </a:prstGeom>
          <a:noFill/>
          <a:ln/>
        </p:spPr>
        <p:txBody>
          <a:bodyPr wrap="square" rtlCol="0" anchor="t"/>
          <a:lstStyle/>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Verify photo ID</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matches the resident on file</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Never admit</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anyone not on the License Agreement</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Log the lockout and any charge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Lost fob: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deactivate</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and request a lock change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Record key/fob numbers and get the resident’s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signature</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Never lend</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master or staff keys</a:t>
            </a:r>
            <a:endParaRPr lang="en-US" sz="1200" dirty="0"/>
          </a:p>
        </p:txBody>
      </p:sp>
      <p:sp>
        <p:nvSpPr>
          <p:cNvPr id="9" name="Shape 7"/>
          <p:cNvSpPr/>
          <p:nvPr/>
        </p:nvSpPr>
        <p:spPr>
          <a:xfrm>
            <a:off x="6217920" y="1783080"/>
            <a:ext cx="5440680" cy="3566160"/>
          </a:xfrm>
          <a:prstGeom prst="roundRect">
            <a:avLst>
              <a:gd name="adj" fmla="val 205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217920" y="1783080"/>
            <a:ext cx="73152" cy="3566160"/>
          </a:xfrm>
          <a:prstGeom prst="rect">
            <a:avLst/>
          </a:prstGeom>
          <a:solidFill>
            <a:srgbClr val="F99239"/>
          </a:solidFill>
          <a:ln w="12700">
            <a:solidFill>
              <a:srgbClr val="F99239"/>
            </a:solidFill>
            <a:prstDash val="solid"/>
          </a:ln>
        </p:spPr>
      </p:sp>
      <p:sp>
        <p:nvSpPr>
          <p:cNvPr id="11" name="Text 9"/>
          <p:cNvSpPr/>
          <p:nvPr/>
        </p:nvSpPr>
        <p:spPr>
          <a:xfrm>
            <a:off x="6419088" y="1874520"/>
            <a:ext cx="51206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Maintenance SOP</a:t>
            </a:r>
            <a:endParaRPr lang="en-US" sz="1300" dirty="0"/>
          </a:p>
        </p:txBody>
      </p:sp>
      <p:sp>
        <p:nvSpPr>
          <p:cNvPr id="12" name="Text 10"/>
          <p:cNvSpPr/>
          <p:nvPr/>
        </p:nvSpPr>
        <p:spPr>
          <a:xfrm>
            <a:off x="6355080" y="2240280"/>
            <a:ext cx="5166360" cy="3017520"/>
          </a:xfrm>
          <a:prstGeom prst="rect">
            <a:avLst/>
          </a:prstGeom>
          <a:noFill/>
          <a:ln/>
        </p:spPr>
        <p:txBody>
          <a:bodyPr wrap="square" rtlCol="0" anchor="t"/>
          <a:lstStyle/>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Emergency</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(flood, no heat in winter, gas smell, fire/life safety): call on-call maintenance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immediately</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then log</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Urgent</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(no water, toilet, no power): notify REC + on-call maintenance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same shift</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Normal:</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submit here; remind resident to submit a portal work order</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Ask about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permission to enter</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and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pets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Photograph damage ·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follow up within 48 hours</a:t>
            </a:r>
            <a:endParaRPr lang="en-US" sz="12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2D6A"/>
        </a:solidFill>
      </p:bgPr>
    </p:bg>
    <p:spTree>
      <p:nvGrpSpPr>
        <p:cNvPr id="1" name=""/>
        <p:cNvGrpSpPr/>
        <p:nvPr/>
      </p:nvGrpSpPr>
      <p:grpSpPr>
        <a:xfrm>
          <a:off x="0" y="0"/>
          <a:ext cx="0" cy="0"/>
          <a:chOff x="0" y="0"/>
          <a:chExt cx="0" cy="0"/>
        </a:xfrm>
      </p:grpSpPr>
      <p:pic>
        <p:nvPicPr>
          <p:cNvPr id="2" name="Image 0" descr="C:\Users\brian\AppData\Local\Temp\kilo\ppt\img\occ-campus-student-studying.jpg">    </p:cNvPr>
          <p:cNvPicPr>
            <a:picLocks noChangeAspect="1"/>
          </p:cNvPicPr>
          <p:nvPr/>
        </p:nvPicPr>
        <p:blipFill>
          <a:blip r:embed="rId1"/>
          <a:srcRect l="0" r="0" t="0" b="0"/>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02D6A">
              <a:alpha val="45000"/>
            </a:srgbClr>
          </a:solidFill>
          <a:ln w="12700">
            <a:solidFill>
              <a:srgbClr val="002D6A">
                <a:alpha val="0"/>
              </a:srgbClr>
            </a:solidFill>
            <a:prstDash val="solid"/>
          </a:ln>
        </p:spPr>
      </p:sp>
      <p:sp>
        <p:nvSpPr>
          <p:cNvPr id="4" name="Shape 1"/>
          <p:cNvSpPr/>
          <p:nvPr/>
        </p:nvSpPr>
        <p:spPr>
          <a:xfrm>
            <a:off x="6876288" y="0"/>
            <a:ext cx="73152" cy="6858000"/>
          </a:xfrm>
          <a:prstGeom prst="rect">
            <a:avLst/>
          </a:prstGeom>
          <a:solidFill>
            <a:srgbClr val="F99239"/>
          </a:solidFill>
          <a:ln w="12700">
            <a:solidFill>
              <a:srgbClr val="F99239"/>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640080" y="548640"/>
            <a:ext cx="1828800" cy="722376"/>
          </a:xfrm>
          <a:prstGeom prst="rect">
            <a:avLst/>
          </a:prstGeom>
        </p:spPr>
      </p:pic>
      <p:sp>
        <p:nvSpPr>
          <p:cNvPr id="6" name="Text 2"/>
          <p:cNvSpPr/>
          <p:nvPr/>
        </p:nvSpPr>
        <p:spPr>
          <a:xfrm>
            <a:off x="640080" y="2011680"/>
            <a:ext cx="2743200" cy="1097280"/>
          </a:xfrm>
          <a:prstGeom prst="rect">
            <a:avLst/>
          </a:prstGeom>
          <a:noFill/>
          <a:ln/>
        </p:spPr>
        <p:txBody>
          <a:bodyPr wrap="square" rtlCol="0" anchor="ctr"/>
          <a:lstStyle/>
          <a:p>
            <a:pPr indent="0" marL="0">
              <a:buNone/>
            </a:pPr>
            <a:r>
              <a:rPr lang="en-US" sz="7200" b="1" dirty="0">
                <a:solidFill>
                  <a:srgbClr val="F99239"/>
                </a:solidFill>
                <a:latin typeface="Montserrat" pitchFamily="34" charset="0"/>
                <a:ea typeface="Montserrat" pitchFamily="34" charset="-122"/>
                <a:cs typeface="Montserrat" pitchFamily="34" charset="-120"/>
              </a:rPr>
              <a:t>06</a:t>
            </a:r>
            <a:endParaRPr lang="en-US" sz="7200" dirty="0"/>
          </a:p>
        </p:txBody>
      </p:sp>
      <p:sp>
        <p:nvSpPr>
          <p:cNvPr id="7" name="Text 3"/>
          <p:cNvSpPr/>
          <p:nvPr/>
        </p:nvSpPr>
        <p:spPr>
          <a:xfrm>
            <a:off x="640080" y="3154680"/>
            <a:ext cx="6035040" cy="100584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Reference Tools</a:t>
            </a:r>
            <a:endParaRPr lang="en-US" sz="3600" dirty="0"/>
          </a:p>
        </p:txBody>
      </p:sp>
      <p:sp>
        <p:nvSpPr>
          <p:cNvPr id="8" name="Text 4"/>
          <p:cNvSpPr/>
          <p:nvPr/>
        </p:nvSpPr>
        <p:spPr>
          <a:xfrm>
            <a:off x="640080" y="4206240"/>
            <a:ext cx="5852160" cy="1097280"/>
          </a:xfrm>
          <a:prstGeom prst="rect">
            <a:avLst/>
          </a:prstGeom>
          <a:noFill/>
          <a:ln/>
        </p:spPr>
        <p:txBody>
          <a:bodyPr wrap="square" rtlCol="0" anchor="t"/>
          <a:lstStyle/>
          <a:p>
            <a:pPr indent="0" marL="0">
              <a:buNone/>
            </a:pPr>
            <a:r>
              <a:rPr lang="en-US" sz="1500" dirty="0">
                <a:solidFill>
                  <a:srgbClr val="DCEBF7"/>
                </a:solidFill>
                <a:latin typeface="Montserrat" pitchFamily="34" charset="0"/>
                <a:ea typeface="Montserrat" pitchFamily="34" charset="-122"/>
                <a:cs typeface="Montserrat" pitchFamily="34" charset="-120"/>
              </a:rPr>
              <a:t>Resident Directory, Campus Contacts, Curriculum, SOPs, Resources and Training.</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REFERENCE</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Resident Directory</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Search by </a:t>
            </a:r>
            <a:pPr indent="0" marL="0">
              <a:buNone/>
            </a:pPr>
            <a:r>
              <a:rPr lang="en-US" sz="1300" b="1" dirty="0">
                <a:solidFill>
                  <a:srgbClr val="002D6A"/>
                </a:solidFill>
                <a:latin typeface="Montserrat" pitchFamily="34" charset="0"/>
                <a:ea typeface="Montserrat" pitchFamily="34" charset="-122"/>
                <a:cs typeface="Montserrat" pitchFamily="34" charset="-120"/>
              </a:rPr>
              <a:t>name, unit or email</a:t>
            </a:r>
            <a:pPr indent="0" marL="0">
              <a:buNone/>
            </a:pPr>
            <a:r>
              <a:rPr lang="en-US" sz="1300" dirty="0">
                <a:solidFill>
                  <a:srgbClr val="14213D"/>
                </a:solidFill>
                <a:latin typeface="Montserrat" pitchFamily="34" charset="0"/>
                <a:ea typeface="Montserrat" pitchFamily="34" charset="-122"/>
                <a:cs typeface="Montserrat" pitchFamily="34" charset="-120"/>
              </a:rPr>
              <a:t>; filter by building, floor, tag or RA (</a:t>
            </a:r>
            <a:pPr indent="0" marL="0">
              <a:buNone/>
            </a:pPr>
            <a:r>
              <a:rPr lang="en-US" sz="1300" b="1" dirty="0">
                <a:solidFill>
                  <a:srgbClr val="002D6A"/>
                </a:solidFill>
                <a:latin typeface="Montserrat" pitchFamily="34" charset="0"/>
                <a:ea typeface="Montserrat" pitchFamily="34" charset="-122"/>
                <a:cs typeface="Montserrat" pitchFamily="34" charset="-120"/>
              </a:rPr>
              <a:t>Clear filters</a:t>
            </a:r>
            <a:pPr indent="0" marL="0">
              <a:buNone/>
            </a:pPr>
            <a:r>
              <a:rPr lang="en-US" sz="1300" dirty="0">
                <a:solidFill>
                  <a:srgbClr val="14213D"/>
                </a:solidFill>
                <a:latin typeface="Montserrat" pitchFamily="34" charset="0"/>
                <a:ea typeface="Montserrat" pitchFamily="34" charset="-122"/>
                <a:cs typeface="Montserrat" pitchFamily="34" charset="-120"/>
              </a:rPr>
              <a:t> resets).</a:t>
            </a:r>
            <a:endParaRPr lang="en-US" sz="1300" dirty="0"/>
          </a:p>
        </p:txBody>
      </p:sp>
      <p:sp>
        <p:nvSpPr>
          <p:cNvPr id="8" name="Shape 6"/>
          <p:cNvSpPr/>
          <p:nvPr/>
        </p:nvSpPr>
        <p:spPr>
          <a:xfrm>
            <a:off x="548640" y="2514600"/>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14600"/>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459736"/>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 resident to open their </a:t>
            </a:r>
            <a:pPr indent="0" marL="0">
              <a:buNone/>
            </a:pPr>
            <a:r>
              <a:rPr lang="en-US" sz="1300" b="1" dirty="0">
                <a:solidFill>
                  <a:srgbClr val="002D6A"/>
                </a:solidFill>
                <a:latin typeface="Montserrat" pitchFamily="34" charset="0"/>
                <a:ea typeface="Montserrat" pitchFamily="34" charset="-122"/>
                <a:cs typeface="Montserrat" pitchFamily="34" charset="-120"/>
              </a:rPr>
              <a:t>profile</a:t>
            </a:r>
            <a:pPr indent="0" marL="0">
              <a:buNone/>
            </a:pPr>
            <a:r>
              <a:rPr lang="en-US" sz="1300" dirty="0">
                <a:solidFill>
                  <a:srgbClr val="14213D"/>
                </a:solidFill>
                <a:latin typeface="Montserrat" pitchFamily="34" charset="0"/>
                <a:ea typeface="Montserrat" pitchFamily="34" charset="-122"/>
                <a:cs typeface="Montserrat" pitchFamily="34" charset="-120"/>
              </a:rPr>
              <a:t>: unit, bed, building/floor, roommates, email and phone.</a:t>
            </a:r>
            <a:endParaRPr lang="en-US" sz="1300" dirty="0"/>
          </a:p>
        </p:txBody>
      </p:sp>
      <p:sp>
        <p:nvSpPr>
          <p:cNvPr id="11" name="Shape 9"/>
          <p:cNvSpPr/>
          <p:nvPr/>
        </p:nvSpPr>
        <p:spPr>
          <a:xfrm>
            <a:off x="548640" y="3227832"/>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227832"/>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172968"/>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Profile tabs: </a:t>
            </a:r>
            <a:pPr indent="0" marL="0">
              <a:buNone/>
            </a:pPr>
            <a:r>
              <a:rPr lang="en-US" sz="1300" b="1" dirty="0">
                <a:solidFill>
                  <a:srgbClr val="002D6A"/>
                </a:solidFill>
                <a:latin typeface="Montserrat" pitchFamily="34" charset="0"/>
                <a:ea typeface="Montserrat" pitchFamily="34" charset="-122"/>
                <a:cs typeface="Montserrat" pitchFamily="34" charset="-120"/>
              </a:rPr>
              <a:t>Overview, Incidents, Violations, Duty Log, Guests, Keys / Locks, Maintenance</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4" name="Shape 12"/>
          <p:cNvSpPr/>
          <p:nvPr/>
        </p:nvSpPr>
        <p:spPr>
          <a:xfrm>
            <a:off x="548640" y="3941064"/>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941064"/>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886200"/>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On </a:t>
            </a:r>
            <a:pPr indent="0" marL="0">
              <a:buNone/>
            </a:pPr>
            <a:r>
              <a:rPr lang="en-US" sz="1300" b="1" dirty="0">
                <a:solidFill>
                  <a:srgbClr val="002D6A"/>
                </a:solidFill>
                <a:latin typeface="Montserrat" pitchFamily="34" charset="0"/>
                <a:ea typeface="Montserrat" pitchFamily="34" charset="-122"/>
                <a:cs typeface="Montserrat" pitchFamily="34" charset="-120"/>
              </a:rPr>
              <a:t>Keys / Locks</a:t>
            </a:r>
            <a:pPr indent="0" marL="0">
              <a:buNone/>
            </a:pPr>
            <a:r>
              <a:rPr lang="en-US" sz="1300" dirty="0">
                <a:solidFill>
                  <a:srgbClr val="14213D"/>
                </a:solidFill>
                <a:latin typeface="Montserrat" pitchFamily="34" charset="0"/>
                <a:ea typeface="Montserrat" pitchFamily="34" charset="-122"/>
                <a:cs typeface="Montserrat" pitchFamily="34" charset="-120"/>
              </a:rPr>
              <a:t> you can add an entry: type + details → </a:t>
            </a:r>
            <a:pPr indent="0" marL="0">
              <a:buNone/>
            </a:pPr>
            <a:r>
              <a:rPr lang="en-US" sz="1300" b="1" dirty="0">
                <a:solidFill>
                  <a:srgbClr val="002D6A"/>
                </a:solidFill>
                <a:latin typeface="Montserrat" pitchFamily="34" charset="0"/>
                <a:ea typeface="Montserrat" pitchFamily="34" charset="-122"/>
                <a:cs typeface="Montserrat" pitchFamily="34" charset="-120"/>
              </a:rPr>
              <a:t>Add Entry</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654296"/>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654296"/>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599432"/>
            <a:ext cx="5943600" cy="713232"/>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 roommate to jump to their profile. </a:t>
            </a:r>
            <a:pPr indent="0" marL="0">
              <a:buNone/>
            </a:pPr>
            <a:r>
              <a:rPr lang="en-US" sz="1300" b="1" dirty="0">
                <a:solidFill>
                  <a:srgbClr val="002D6A"/>
                </a:solidFill>
                <a:latin typeface="Montserrat" pitchFamily="34" charset="0"/>
                <a:ea typeface="Montserrat" pitchFamily="34" charset="-122"/>
                <a:cs typeface="Montserrat" pitchFamily="34" charset="-120"/>
              </a:rPr>
              <a:t>Backspace</a:t>
            </a:r>
            <a:pPr indent="0" marL="0">
              <a:buNone/>
            </a:pPr>
            <a:r>
              <a:rPr lang="en-US" sz="1300" dirty="0">
                <a:solidFill>
                  <a:srgbClr val="14213D"/>
                </a:solidFill>
                <a:latin typeface="Montserrat" pitchFamily="34" charset="0"/>
                <a:ea typeface="Montserrat" pitchFamily="34" charset="-122"/>
                <a:cs typeface="Montserrat" pitchFamily="34" charset="-120"/>
              </a:rPr>
              <a:t> goes back, </a:t>
            </a:r>
            <a:pPr indent="0" marL="0">
              <a:buNone/>
            </a:pPr>
            <a:r>
              <a:rPr lang="en-US" sz="1300" b="1" dirty="0">
                <a:solidFill>
                  <a:srgbClr val="002D6A"/>
                </a:solidFill>
                <a:latin typeface="Montserrat" pitchFamily="34" charset="0"/>
                <a:ea typeface="Montserrat" pitchFamily="34" charset="-122"/>
                <a:cs typeface="Montserrat" pitchFamily="34" charset="-120"/>
              </a:rPr>
              <a:t>Esc</a:t>
            </a:r>
            <a:pPr indent="0" marL="0">
              <a:buNone/>
            </a:pPr>
            <a:r>
              <a:rPr lang="en-US" sz="1300" dirty="0">
                <a:solidFill>
                  <a:srgbClr val="14213D"/>
                </a:solidFill>
                <a:latin typeface="Montserrat" pitchFamily="34" charset="0"/>
                <a:ea typeface="Montserrat" pitchFamily="34" charset="-122"/>
                <a:cs typeface="Montserrat" pitchFamily="34" charset="-120"/>
              </a:rPr>
              <a:t> closes.</a:t>
            </a:r>
            <a:endParaRPr lang="en-US" sz="1300" dirty="0"/>
          </a:p>
        </p:txBody>
      </p:sp>
      <p:sp>
        <p:nvSpPr>
          <p:cNvPr id="20" name="Shape 18"/>
          <p:cNvSpPr/>
          <p:nvPr/>
        </p:nvSpPr>
        <p:spPr>
          <a:xfrm>
            <a:off x="7178040" y="1783080"/>
            <a:ext cx="4480560" cy="1417320"/>
          </a:xfrm>
          <a:prstGeom prst="roundRect">
            <a:avLst>
              <a:gd name="adj" fmla="val 5161"/>
            </a:avLst>
          </a:prstGeom>
          <a:solidFill>
            <a:srgbClr val="FFF7ED"/>
          </a:solidFill>
          <a:ln w="12700">
            <a:solidFill>
              <a:srgbClr val="FED7AA"/>
            </a:solidFill>
            <a:prstDash val="solid"/>
          </a:ln>
        </p:spPr>
      </p:sp>
      <p:sp>
        <p:nvSpPr>
          <p:cNvPr id="21" name="Shape 19"/>
          <p:cNvSpPr/>
          <p:nvPr/>
        </p:nvSpPr>
        <p:spPr>
          <a:xfrm>
            <a:off x="7178040" y="1783080"/>
            <a:ext cx="73152" cy="1417320"/>
          </a:xfrm>
          <a:prstGeom prst="rect">
            <a:avLst/>
          </a:prstGeom>
          <a:solidFill>
            <a:srgbClr val="F99239"/>
          </a:solidFill>
          <a:ln w="12700">
            <a:solidFill>
              <a:srgbClr val="F99239"/>
            </a:solidFill>
            <a:prstDash val="solid"/>
          </a:ln>
        </p:spPr>
      </p:sp>
      <p:sp>
        <p:nvSpPr>
          <p:cNvPr id="22" name="Text 20"/>
          <p:cNvSpPr/>
          <p:nvPr/>
        </p:nvSpPr>
        <p:spPr>
          <a:xfrm>
            <a:off x="7360920" y="1783080"/>
            <a:ext cx="4206240" cy="141732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b="1" dirty="0">
                <a:solidFill>
                  <a:srgbClr val="002D6A"/>
                </a:solidFill>
                <a:latin typeface="Montserrat" pitchFamily="34" charset="0"/>
                <a:ea typeface="Montserrat" pitchFamily="34" charset="-122"/>
                <a:cs typeface="Montserrat" pitchFamily="34" charset="-120"/>
              </a:rPr>
              <a:t>Non-Leasing Occupant (minor)</a:t>
            </a:r>
            <a:pPr indent="0" marL="0">
              <a:buNone/>
            </a:pPr>
            <a:r>
              <a:rPr lang="en-US" sz="1100" dirty="0">
                <a:solidFill>
                  <a:srgbClr val="14213D"/>
                </a:solidFill>
                <a:latin typeface="Montserrat" pitchFamily="34" charset="0"/>
                <a:ea typeface="Montserrat" pitchFamily="34" charset="-122"/>
                <a:cs typeface="Montserrat" pitchFamily="34" charset="-120"/>
              </a:rPr>
              <a:t> notice: they are not on the License Agreement — contact the </a:t>
            </a:r>
            <a:pPr indent="0" marL="0">
              <a:buNone/>
            </a:pPr>
            <a:r>
              <a:rPr lang="en-US" sz="1100" b="1" dirty="0">
                <a:solidFill>
                  <a:srgbClr val="002D6A"/>
                </a:solidFill>
                <a:latin typeface="Montserrat" pitchFamily="34" charset="0"/>
                <a:ea typeface="Montserrat" pitchFamily="34" charset="-122"/>
                <a:cs typeface="Montserrat" pitchFamily="34" charset="-120"/>
              </a:rPr>
              <a:t>primary resident</a:t>
            </a:r>
            <a:pPr indent="0" marL="0">
              <a:buNone/>
            </a:pPr>
            <a:r>
              <a:rPr lang="en-US" sz="1100" dirty="0">
                <a:solidFill>
                  <a:srgbClr val="14213D"/>
                </a:solidFill>
                <a:latin typeface="Montserrat" pitchFamily="34" charset="0"/>
                <a:ea typeface="Montserrat" pitchFamily="34" charset="-122"/>
                <a:cs typeface="Montserrat" pitchFamily="34" charset="-120"/>
              </a:rPr>
              <a:t> about anything involving them.</a:t>
            </a:r>
            <a:endParaRPr lang="en-US" sz="1100" dirty="0"/>
          </a:p>
        </p:txBody>
      </p:sp>
      <p:sp>
        <p:nvSpPr>
          <p:cNvPr id="23" name="Shape 21"/>
          <p:cNvSpPr/>
          <p:nvPr/>
        </p:nvSpPr>
        <p:spPr>
          <a:xfrm>
            <a:off x="7178040" y="3383280"/>
            <a:ext cx="4480560" cy="1188720"/>
          </a:xfrm>
          <a:prstGeom prst="roundRect">
            <a:avLst>
              <a:gd name="adj" fmla="val 6154"/>
            </a:avLst>
          </a:prstGeom>
          <a:solidFill>
            <a:srgbClr val="FFF7ED"/>
          </a:solidFill>
          <a:ln w="12700">
            <a:solidFill>
              <a:srgbClr val="FED7AA"/>
            </a:solidFill>
            <a:prstDash val="solid"/>
          </a:ln>
        </p:spPr>
      </p:sp>
      <p:sp>
        <p:nvSpPr>
          <p:cNvPr id="24" name="Shape 22"/>
          <p:cNvSpPr/>
          <p:nvPr/>
        </p:nvSpPr>
        <p:spPr>
          <a:xfrm>
            <a:off x="7178040" y="3383280"/>
            <a:ext cx="73152" cy="1188720"/>
          </a:xfrm>
          <a:prstGeom prst="rect">
            <a:avLst/>
          </a:prstGeom>
          <a:solidFill>
            <a:srgbClr val="F99239"/>
          </a:solidFill>
          <a:ln w="12700">
            <a:solidFill>
              <a:srgbClr val="F99239"/>
            </a:solidFill>
            <a:prstDash val="solid"/>
          </a:ln>
        </p:spPr>
      </p:sp>
      <p:sp>
        <p:nvSpPr>
          <p:cNvPr id="25" name="Text 23"/>
          <p:cNvSpPr/>
          <p:nvPr/>
        </p:nvSpPr>
        <p:spPr>
          <a:xfrm>
            <a:off x="7360920" y="3383280"/>
            <a:ext cx="4206240" cy="118872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PRIVACY  </a:t>
            </a:r>
            <a:pPr indent="0" marL="0">
              <a:buNone/>
            </a:pPr>
            <a:r>
              <a:rPr lang="en-US" sz="1100" dirty="0">
                <a:solidFill>
                  <a:srgbClr val="14213D"/>
                </a:solidFill>
                <a:latin typeface="Montserrat" pitchFamily="34" charset="0"/>
                <a:ea typeface="Montserrat" pitchFamily="34" charset="-122"/>
                <a:cs typeface="Montserrat" pitchFamily="34" charset="-120"/>
              </a:rPr>
              <a:t>Resident information is confidential. Only use it for your RA duties, and never share it with other residents.</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REFERENCE</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Campus Contacts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77724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Search by name, department, email or category (Academic, Safety, Financial, Health &amp; Wellness, Student Organizations).</a:t>
            </a:r>
            <a:endParaRPr lang="en-US" sz="1300" dirty="0"/>
          </a:p>
        </p:txBody>
      </p:sp>
      <p:sp>
        <p:nvSpPr>
          <p:cNvPr id="8" name="Shape 6"/>
          <p:cNvSpPr/>
          <p:nvPr/>
        </p:nvSpPr>
        <p:spPr>
          <a:xfrm>
            <a:off x="548640" y="2578608"/>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7860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523744"/>
            <a:ext cx="5943600" cy="77724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 card to see </a:t>
            </a:r>
            <a:pPr indent="0" marL="0">
              <a:buNone/>
            </a:pPr>
            <a:r>
              <a:rPr lang="en-US" sz="1300" b="1" dirty="0">
                <a:solidFill>
                  <a:srgbClr val="002D6A"/>
                </a:solidFill>
                <a:latin typeface="Montserrat" pitchFamily="34" charset="0"/>
                <a:ea typeface="Montserrat" pitchFamily="34" charset="-122"/>
                <a:cs typeface="Montserrat" pitchFamily="34" charset="-120"/>
              </a:rPr>
              <a:t>Why Contact Them</a:t>
            </a:r>
            <a:pPr indent="0" marL="0">
              <a:buNone/>
            </a:pPr>
            <a:r>
              <a:rPr lang="en-US" sz="1300" dirty="0">
                <a:solidFill>
                  <a:srgbClr val="14213D"/>
                </a:solidFill>
                <a:latin typeface="Montserrat" pitchFamily="34" charset="0"/>
                <a:ea typeface="Montserrat" pitchFamily="34" charset="-122"/>
                <a:cs typeface="Montserrat" pitchFamily="34" charset="-120"/>
              </a:rPr>
              <a:t>, </a:t>
            </a:r>
            <a:pPr indent="0" marL="0">
              <a:buNone/>
            </a:pPr>
            <a:r>
              <a:rPr lang="en-US" sz="1300" b="1" dirty="0">
                <a:solidFill>
                  <a:srgbClr val="002D6A"/>
                </a:solidFill>
                <a:latin typeface="Montserrat" pitchFamily="34" charset="0"/>
                <a:ea typeface="Montserrat" pitchFamily="34" charset="-122"/>
                <a:cs typeface="Montserrat" pitchFamily="34" charset="-120"/>
              </a:rPr>
              <a:t>Capstone Contacts to Include</a:t>
            </a:r>
            <a:pPr indent="0" marL="0">
              <a:buNone/>
            </a:pPr>
            <a:r>
              <a:rPr lang="en-US" sz="1300" dirty="0">
                <a:solidFill>
                  <a:srgbClr val="14213D"/>
                </a:solidFill>
                <a:latin typeface="Montserrat" pitchFamily="34" charset="0"/>
                <a:ea typeface="Montserrat" pitchFamily="34" charset="-122"/>
                <a:cs typeface="Montserrat" pitchFamily="34" charset="-120"/>
              </a:rPr>
              <a:t> and notes.</a:t>
            </a:r>
            <a:endParaRPr lang="en-US" sz="1300" dirty="0"/>
          </a:p>
        </p:txBody>
      </p:sp>
      <p:sp>
        <p:nvSpPr>
          <p:cNvPr id="11" name="Shape 9"/>
          <p:cNvSpPr/>
          <p:nvPr/>
        </p:nvSpPr>
        <p:spPr>
          <a:xfrm>
            <a:off x="548640" y="3355848"/>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35584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300984"/>
            <a:ext cx="5943600" cy="77724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 Email This Contact</a:t>
            </a:r>
            <a:pPr indent="0" marL="0">
              <a:buNone/>
            </a:pPr>
            <a:r>
              <a:rPr lang="en-US" sz="1300" dirty="0">
                <a:solidFill>
                  <a:srgbClr val="14213D"/>
                </a:solidFill>
                <a:latin typeface="Montserrat" pitchFamily="34" charset="0"/>
                <a:ea typeface="Montserrat" pitchFamily="34" charset="-122"/>
                <a:cs typeface="Montserrat" pitchFamily="34" charset="-120"/>
              </a:rPr>
              <a:t> — listed Capstone staff are copied automatically.</a:t>
            </a:r>
            <a:endParaRPr lang="en-US" sz="1300" dirty="0"/>
          </a:p>
        </p:txBody>
      </p:sp>
      <p:sp>
        <p:nvSpPr>
          <p:cNvPr id="14" name="Shape 12"/>
          <p:cNvSpPr/>
          <p:nvPr/>
        </p:nvSpPr>
        <p:spPr>
          <a:xfrm>
            <a:off x="548640" y="4133088"/>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41330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4078224"/>
            <a:ext cx="5943600" cy="77724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Need several? </a:t>
            </a:r>
            <a:pPr indent="0" marL="0">
              <a:buNone/>
            </a:pPr>
            <a:r>
              <a:rPr lang="en-US" sz="1300" b="1" dirty="0">
                <a:solidFill>
                  <a:srgbClr val="002D6A"/>
                </a:solidFill>
                <a:latin typeface="Montserrat" pitchFamily="34" charset="0"/>
                <a:ea typeface="Montserrat" pitchFamily="34" charset="-122"/>
                <a:cs typeface="Montserrat" pitchFamily="34" charset="-120"/>
              </a:rPr>
              <a:t>✉ Email Multiple Contacts</a:t>
            </a:r>
            <a:pPr indent="0" marL="0">
              <a:buNone/>
            </a:pPr>
            <a:r>
              <a:rPr lang="en-US" sz="1300" dirty="0">
                <a:solidFill>
                  <a:srgbClr val="14213D"/>
                </a:solidFill>
                <a:latin typeface="Montserrat" pitchFamily="34" charset="0"/>
                <a:ea typeface="Montserrat" pitchFamily="34" charset="-122"/>
                <a:cs typeface="Montserrat" pitchFamily="34" charset="-120"/>
              </a:rPr>
              <a:t> → tick contacts or </a:t>
            </a:r>
            <a:pPr indent="0" marL="0">
              <a:buNone/>
            </a:pPr>
            <a:r>
              <a:rPr lang="en-US" sz="1300" b="1" dirty="0">
                <a:solidFill>
                  <a:srgbClr val="002D6A"/>
                </a:solidFill>
                <a:latin typeface="Montserrat" pitchFamily="34" charset="0"/>
                <a:ea typeface="Montserrat" pitchFamily="34" charset="-122"/>
                <a:cs typeface="Montserrat" pitchFamily="34" charset="-120"/>
              </a:rPr>
              <a:t>Select All</a:t>
            </a:r>
            <a:pPr indent="0" marL="0">
              <a:buNone/>
            </a:pPr>
            <a:r>
              <a:rPr lang="en-US" sz="1300" dirty="0">
                <a:solidFill>
                  <a:srgbClr val="14213D"/>
                </a:solidFill>
                <a:latin typeface="Montserrat" pitchFamily="34" charset="0"/>
                <a:ea typeface="Montserrat" pitchFamily="34" charset="-122"/>
                <a:cs typeface="Montserrat" pitchFamily="34" charset="-120"/>
              </a:rPr>
              <a:t> → </a:t>
            </a:r>
            <a:pPr indent="0" marL="0">
              <a:buNone/>
            </a:pPr>
            <a:r>
              <a:rPr lang="en-US" sz="1300" b="1" dirty="0">
                <a:solidFill>
                  <a:srgbClr val="002D6A"/>
                </a:solidFill>
                <a:latin typeface="Montserrat" pitchFamily="34" charset="0"/>
                <a:ea typeface="Montserrat" pitchFamily="34" charset="-122"/>
                <a:cs typeface="Montserrat" pitchFamily="34" charset="-120"/>
              </a:rPr>
              <a:t>✉ Open Email</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7178040" y="1783080"/>
            <a:ext cx="4480560" cy="3017520"/>
          </a:xfrm>
          <a:prstGeom prst="roundRect">
            <a:avLst>
              <a:gd name="adj" fmla="val 1818"/>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18" name="Shape 16"/>
          <p:cNvSpPr/>
          <p:nvPr/>
        </p:nvSpPr>
        <p:spPr>
          <a:xfrm>
            <a:off x="7178040" y="1783080"/>
            <a:ext cx="1075334" cy="3017520"/>
          </a:xfrm>
          <a:prstGeom prst="rect">
            <a:avLst/>
          </a:prstGeom>
          <a:solidFill>
            <a:srgbClr val="002D6A"/>
          </a:solidFill>
          <a:ln w="12700">
            <a:solidFill>
              <a:srgbClr val="002D6A"/>
            </a:solidFill>
            <a:prstDash val="solid"/>
          </a:ln>
        </p:spPr>
      </p:sp>
      <p:pic>
        <p:nvPicPr>
          <p:cNvPr id="19" name="Image 0" descr="C:\Users\brian\AppData\Local\Temp\kilo\ppt\img\logo-white.png">    </p:cNvPr>
          <p:cNvPicPr>
            <a:picLocks noChangeAspect="1"/>
          </p:cNvPicPr>
          <p:nvPr/>
        </p:nvPicPr>
        <p:blipFill>
          <a:blip r:embed="rId1"/>
          <a:stretch>
            <a:fillRect/>
          </a:stretch>
        </p:blipFill>
        <p:spPr>
          <a:xfrm>
            <a:off x="7287768" y="1892808"/>
            <a:ext cx="855878" cy="333793"/>
          </a:xfrm>
          <a:prstGeom prst="rect">
            <a:avLst/>
          </a:prstGeom>
        </p:spPr>
      </p:pic>
      <p:sp>
        <p:nvSpPr>
          <p:cNvPr id="20" name="Text 17"/>
          <p:cNvSpPr/>
          <p:nvPr/>
        </p:nvSpPr>
        <p:spPr>
          <a:xfrm>
            <a:off x="7287768" y="235915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Program Proposals</a:t>
            </a:r>
            <a:endParaRPr lang="en-US" sz="750" dirty="0"/>
          </a:p>
        </p:txBody>
      </p:sp>
      <p:sp>
        <p:nvSpPr>
          <p:cNvPr id="21" name="Text 18"/>
          <p:cNvSpPr/>
          <p:nvPr/>
        </p:nvSpPr>
        <p:spPr>
          <a:xfrm>
            <a:off x="7287768" y="260604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Committees</a:t>
            </a:r>
            <a:endParaRPr lang="en-US" sz="750" dirty="0"/>
          </a:p>
        </p:txBody>
      </p:sp>
      <p:sp>
        <p:nvSpPr>
          <p:cNvPr id="22" name="Text 19"/>
          <p:cNvSpPr/>
          <p:nvPr/>
        </p:nvSpPr>
        <p:spPr>
          <a:xfrm>
            <a:off x="7287768" y="2852928"/>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Schedule &amp; On-Call</a:t>
            </a:r>
            <a:endParaRPr lang="en-US" sz="750" dirty="0"/>
          </a:p>
        </p:txBody>
      </p:sp>
      <p:sp>
        <p:nvSpPr>
          <p:cNvPr id="23" name="Text 20"/>
          <p:cNvSpPr/>
          <p:nvPr/>
        </p:nvSpPr>
        <p:spPr>
          <a:xfrm>
            <a:off x="7287768" y="3099816"/>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Duty Log</a:t>
            </a:r>
            <a:endParaRPr lang="en-US" sz="750" dirty="0"/>
          </a:p>
        </p:txBody>
      </p:sp>
      <p:sp>
        <p:nvSpPr>
          <p:cNvPr id="24" name="Text 21"/>
          <p:cNvSpPr/>
          <p:nvPr/>
        </p:nvSpPr>
        <p:spPr>
          <a:xfrm>
            <a:off x="7287768" y="3346704"/>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25" name="Text 22"/>
          <p:cNvSpPr/>
          <p:nvPr/>
        </p:nvSpPr>
        <p:spPr>
          <a:xfrm>
            <a:off x="7287768" y="359359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26" name="Text 23"/>
          <p:cNvSpPr/>
          <p:nvPr/>
        </p:nvSpPr>
        <p:spPr>
          <a:xfrm>
            <a:off x="7287768" y="384048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27" name="Text 24"/>
          <p:cNvSpPr/>
          <p:nvPr/>
        </p:nvSpPr>
        <p:spPr>
          <a:xfrm>
            <a:off x="7287768" y="4087368"/>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Resident Directory</a:t>
            </a:r>
            <a:endParaRPr lang="en-US" sz="750" dirty="0"/>
          </a:p>
        </p:txBody>
      </p:sp>
      <p:sp>
        <p:nvSpPr>
          <p:cNvPr id="28" name="Shape 25"/>
          <p:cNvSpPr/>
          <p:nvPr/>
        </p:nvSpPr>
        <p:spPr>
          <a:xfrm>
            <a:off x="7178040" y="4334256"/>
            <a:ext cx="1075334" cy="237744"/>
          </a:xfrm>
          <a:prstGeom prst="rect">
            <a:avLst/>
          </a:prstGeom>
          <a:solidFill>
            <a:srgbClr val="F99239"/>
          </a:solidFill>
          <a:ln w="12700">
            <a:solidFill>
              <a:srgbClr val="F99239"/>
            </a:solidFill>
            <a:prstDash val="solid"/>
          </a:ln>
        </p:spPr>
      </p:sp>
      <p:sp>
        <p:nvSpPr>
          <p:cNvPr id="29" name="Text 26"/>
          <p:cNvSpPr/>
          <p:nvPr/>
        </p:nvSpPr>
        <p:spPr>
          <a:xfrm>
            <a:off x="7287768" y="4334256"/>
            <a:ext cx="938174"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Campus Contacts</a:t>
            </a:r>
            <a:endParaRPr lang="en-US" sz="750" dirty="0"/>
          </a:p>
        </p:txBody>
      </p:sp>
      <p:sp>
        <p:nvSpPr>
          <p:cNvPr id="30" name="Shape 27"/>
          <p:cNvSpPr/>
          <p:nvPr/>
        </p:nvSpPr>
        <p:spPr>
          <a:xfrm>
            <a:off x="8253374" y="1783080"/>
            <a:ext cx="3405226" cy="347472"/>
          </a:xfrm>
          <a:prstGeom prst="rect">
            <a:avLst/>
          </a:prstGeom>
          <a:solidFill>
            <a:srgbClr val="FFFFFF"/>
          </a:solidFill>
          <a:ln w="12700">
            <a:solidFill>
              <a:srgbClr val="E2E8F0"/>
            </a:solidFill>
            <a:prstDash val="solid"/>
          </a:ln>
        </p:spPr>
      </p:sp>
      <p:sp>
        <p:nvSpPr>
          <p:cNvPr id="31" name="Text 28"/>
          <p:cNvSpPr/>
          <p:nvPr/>
        </p:nvSpPr>
        <p:spPr>
          <a:xfrm>
            <a:off x="8390534"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32" name="Text 29"/>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33" name="Shape 30"/>
          <p:cNvSpPr/>
          <p:nvPr/>
        </p:nvSpPr>
        <p:spPr>
          <a:xfrm>
            <a:off x="8417966" y="2286000"/>
            <a:ext cx="3076042" cy="2331720"/>
          </a:xfrm>
          <a:prstGeom prst="rect">
            <a:avLst/>
          </a:prstGeom>
          <a:solidFill>
            <a:srgbClr val="FFFFFF"/>
          </a:solidFill>
          <a:ln w="12700">
            <a:solidFill>
              <a:srgbClr val="E2E8F0"/>
            </a:solidFill>
            <a:prstDash val="solid"/>
          </a:ln>
        </p:spPr>
      </p:sp>
      <p:sp>
        <p:nvSpPr>
          <p:cNvPr id="34" name="Text 31"/>
          <p:cNvSpPr/>
          <p:nvPr/>
        </p:nvSpPr>
        <p:spPr>
          <a:xfrm>
            <a:off x="8527694" y="2331720"/>
            <a:ext cx="1613002"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CAMPUS PARTNER CONTACTS</a:t>
            </a:r>
            <a:endParaRPr lang="en-US" sz="900" dirty="0"/>
          </a:p>
        </p:txBody>
      </p:sp>
      <p:sp>
        <p:nvSpPr>
          <p:cNvPr id="35" name="Shape 32"/>
          <p:cNvSpPr/>
          <p:nvPr/>
        </p:nvSpPr>
        <p:spPr>
          <a:xfrm>
            <a:off x="8509406" y="2724912"/>
            <a:ext cx="2893162" cy="310896"/>
          </a:xfrm>
          <a:prstGeom prst="rect">
            <a:avLst/>
          </a:prstGeom>
          <a:solidFill>
            <a:srgbClr val="F8FAFC"/>
          </a:solidFill>
          <a:ln w="12700">
            <a:solidFill>
              <a:srgbClr val="E2E8F0"/>
            </a:solidFill>
            <a:prstDash val="solid"/>
          </a:ln>
        </p:spPr>
      </p:sp>
      <p:sp>
        <p:nvSpPr>
          <p:cNvPr id="36" name="Text 33"/>
          <p:cNvSpPr/>
          <p:nvPr/>
        </p:nvSpPr>
        <p:spPr>
          <a:xfrm>
            <a:off x="8600846" y="272491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Campus Safety · Safety · ✉ Email</a:t>
            </a:r>
            <a:endParaRPr lang="en-US" sz="800" dirty="0"/>
          </a:p>
        </p:txBody>
      </p:sp>
      <p:sp>
        <p:nvSpPr>
          <p:cNvPr id="37" name="Shape 34"/>
          <p:cNvSpPr/>
          <p:nvPr/>
        </p:nvSpPr>
        <p:spPr>
          <a:xfrm>
            <a:off x="8509406" y="3090672"/>
            <a:ext cx="2893162" cy="310896"/>
          </a:xfrm>
          <a:prstGeom prst="rect">
            <a:avLst/>
          </a:prstGeom>
          <a:solidFill>
            <a:srgbClr val="FFFFFF"/>
          </a:solidFill>
          <a:ln w="12700">
            <a:solidFill>
              <a:srgbClr val="E2E8F0"/>
            </a:solidFill>
            <a:prstDash val="solid"/>
          </a:ln>
        </p:spPr>
      </p:sp>
      <p:sp>
        <p:nvSpPr>
          <p:cNvPr id="38" name="Text 35"/>
          <p:cNvSpPr/>
          <p:nvPr/>
        </p:nvSpPr>
        <p:spPr>
          <a:xfrm>
            <a:off x="8600846" y="309067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Student Health Center · Health &amp; Wellness</a:t>
            </a:r>
            <a:endParaRPr lang="en-US" sz="800" dirty="0"/>
          </a:p>
        </p:txBody>
      </p:sp>
      <p:sp>
        <p:nvSpPr>
          <p:cNvPr id="39" name="Shape 36"/>
          <p:cNvSpPr/>
          <p:nvPr/>
        </p:nvSpPr>
        <p:spPr>
          <a:xfrm>
            <a:off x="8509406" y="3456432"/>
            <a:ext cx="2893162" cy="310896"/>
          </a:xfrm>
          <a:prstGeom prst="rect">
            <a:avLst/>
          </a:prstGeom>
          <a:solidFill>
            <a:srgbClr val="F8FAFC"/>
          </a:solidFill>
          <a:ln w="12700">
            <a:solidFill>
              <a:srgbClr val="E2E8F0"/>
            </a:solidFill>
            <a:prstDash val="solid"/>
          </a:ln>
        </p:spPr>
      </p:sp>
      <p:sp>
        <p:nvSpPr>
          <p:cNvPr id="40" name="Text 37"/>
          <p:cNvSpPr/>
          <p:nvPr/>
        </p:nvSpPr>
        <p:spPr>
          <a:xfrm>
            <a:off x="8600846" y="345643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Financial Aid · Financial</a:t>
            </a:r>
            <a:endParaRPr lang="en-US" sz="800" dirty="0"/>
          </a:p>
        </p:txBody>
      </p:sp>
      <p:sp>
        <p:nvSpPr>
          <p:cNvPr id="41" name="Shape 38"/>
          <p:cNvSpPr/>
          <p:nvPr/>
        </p:nvSpPr>
        <p:spPr>
          <a:xfrm>
            <a:off x="8509406" y="3822192"/>
            <a:ext cx="2893162" cy="310896"/>
          </a:xfrm>
          <a:prstGeom prst="rect">
            <a:avLst/>
          </a:prstGeom>
          <a:solidFill>
            <a:srgbClr val="FFFFFF"/>
          </a:solidFill>
          <a:ln w="12700">
            <a:solidFill>
              <a:srgbClr val="E2E8F0"/>
            </a:solidFill>
            <a:prstDash val="solid"/>
          </a:ln>
        </p:spPr>
      </p:sp>
      <p:sp>
        <p:nvSpPr>
          <p:cNvPr id="42" name="Text 39"/>
          <p:cNvSpPr/>
          <p:nvPr/>
        </p:nvSpPr>
        <p:spPr>
          <a:xfrm>
            <a:off x="8600846" y="382219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Student Life · Student Organizations</a:t>
            </a:r>
            <a:endParaRPr lang="en-US" sz="8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REFERENCE</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Curriculum, SOP Library &amp; Resources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3611880" cy="3383280"/>
          </a:xfrm>
          <a:prstGeom prst="roundRect">
            <a:avLst>
              <a:gd name="adj" fmla="val 216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383280"/>
          </a:xfrm>
          <a:prstGeom prst="rect">
            <a:avLst/>
          </a:prstGeom>
          <a:solidFill>
            <a:srgbClr val="F99239"/>
          </a:solidFill>
          <a:ln w="12700">
            <a:solidFill>
              <a:srgbClr val="F99239"/>
            </a:solidFill>
            <a:prstDash val="solid"/>
          </a:ln>
        </p:spPr>
      </p:sp>
      <p:sp>
        <p:nvSpPr>
          <p:cNvPr id="7" name="Text 5"/>
          <p:cNvSpPr/>
          <p:nvPr/>
        </p:nvSpPr>
        <p:spPr>
          <a:xfrm>
            <a:off x="749808" y="1874520"/>
            <a:ext cx="32918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Curriculum Tracker</a:t>
            </a:r>
            <a:endParaRPr lang="en-US" sz="1300" dirty="0"/>
          </a:p>
        </p:txBody>
      </p:sp>
      <p:sp>
        <p:nvSpPr>
          <p:cNvPr id="8" name="Text 6"/>
          <p:cNvSpPr/>
          <p:nvPr/>
        </p:nvSpPr>
        <p:spPr>
          <a:xfrm>
            <a:off x="685800" y="2240280"/>
            <a:ext cx="3337560" cy="283464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Pick a semester to see the grid of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requirements and due dates</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by RA</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Read-only — your REC marks completions</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Open Curriculum Management →</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for the full view</a:t>
            </a:r>
            <a:endParaRPr lang="en-US" sz="1200" dirty="0"/>
          </a:p>
        </p:txBody>
      </p:sp>
      <p:sp>
        <p:nvSpPr>
          <p:cNvPr id="9" name="Shape 7"/>
          <p:cNvSpPr/>
          <p:nvPr/>
        </p:nvSpPr>
        <p:spPr>
          <a:xfrm>
            <a:off x="4297680" y="1783080"/>
            <a:ext cx="3611880" cy="3383280"/>
          </a:xfrm>
          <a:prstGeom prst="roundRect">
            <a:avLst>
              <a:gd name="adj" fmla="val 216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4297680" y="1783080"/>
            <a:ext cx="73152" cy="3383280"/>
          </a:xfrm>
          <a:prstGeom prst="rect">
            <a:avLst/>
          </a:prstGeom>
          <a:solidFill>
            <a:srgbClr val="002D6A"/>
          </a:solidFill>
          <a:ln w="12700">
            <a:solidFill>
              <a:srgbClr val="002D6A"/>
            </a:solidFill>
            <a:prstDash val="solid"/>
          </a:ln>
        </p:spPr>
      </p:sp>
      <p:sp>
        <p:nvSpPr>
          <p:cNvPr id="11" name="Text 9"/>
          <p:cNvSpPr/>
          <p:nvPr/>
        </p:nvSpPr>
        <p:spPr>
          <a:xfrm>
            <a:off x="4498848" y="1874520"/>
            <a:ext cx="32918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SOP Library</a:t>
            </a:r>
            <a:endParaRPr lang="en-US" sz="1300" dirty="0"/>
          </a:p>
        </p:txBody>
      </p:sp>
      <p:sp>
        <p:nvSpPr>
          <p:cNvPr id="12" name="Text 10"/>
          <p:cNvSpPr/>
          <p:nvPr/>
        </p:nvSpPr>
        <p:spPr>
          <a:xfrm>
            <a:off x="4434840" y="2240280"/>
            <a:ext cx="3337560" cy="283464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Opens the property’s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written procedures</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in its own page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Search, read and follow the steps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Acknowledge SOPs when asked</a:t>
            </a:r>
            <a:endParaRPr lang="en-US" sz="1200" dirty="0"/>
          </a:p>
        </p:txBody>
      </p:sp>
      <p:sp>
        <p:nvSpPr>
          <p:cNvPr id="13" name="Shape 11"/>
          <p:cNvSpPr/>
          <p:nvPr/>
        </p:nvSpPr>
        <p:spPr>
          <a:xfrm>
            <a:off x="8046720" y="1783080"/>
            <a:ext cx="3611880" cy="3383280"/>
          </a:xfrm>
          <a:prstGeom prst="roundRect">
            <a:avLst>
              <a:gd name="adj" fmla="val 2162"/>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8046720" y="1783080"/>
            <a:ext cx="73152" cy="3383280"/>
          </a:xfrm>
          <a:prstGeom prst="rect">
            <a:avLst/>
          </a:prstGeom>
          <a:solidFill>
            <a:srgbClr val="1F5FA8"/>
          </a:solidFill>
          <a:ln w="12700">
            <a:solidFill>
              <a:srgbClr val="1F5FA8"/>
            </a:solidFill>
            <a:prstDash val="solid"/>
          </a:ln>
        </p:spPr>
      </p:sp>
      <p:sp>
        <p:nvSpPr>
          <p:cNvPr id="15" name="Text 13"/>
          <p:cNvSpPr/>
          <p:nvPr/>
        </p:nvSpPr>
        <p:spPr>
          <a:xfrm>
            <a:off x="8247888" y="1874520"/>
            <a:ext cx="3291840" cy="347472"/>
          </a:xfrm>
          <a:prstGeom prst="rect">
            <a:avLst/>
          </a:prstGeom>
          <a:noFill/>
          <a:ln/>
        </p:spPr>
        <p:txBody>
          <a:bodyPr wrap="square" rtlCol="0" anchor="ctr"/>
          <a:lstStyle/>
          <a:p>
            <a:pPr indent="0" marL="0">
              <a:buNone/>
            </a:pPr>
            <a:r>
              <a:rPr lang="en-US" sz="1300" b="1" dirty="0">
                <a:solidFill>
                  <a:srgbClr val="1F5FA8"/>
                </a:solidFill>
                <a:latin typeface="Montserrat" pitchFamily="34" charset="0"/>
                <a:ea typeface="Montserrat" pitchFamily="34" charset="-122"/>
                <a:cs typeface="Montserrat" pitchFamily="34" charset="-120"/>
              </a:rPr>
              <a:t>🔗  Resources</a:t>
            </a:r>
            <a:endParaRPr lang="en-US" sz="1300" dirty="0"/>
          </a:p>
        </p:txBody>
      </p:sp>
      <p:sp>
        <p:nvSpPr>
          <p:cNvPr id="16" name="Text 14"/>
          <p:cNvSpPr/>
          <p:nvPr/>
        </p:nvSpPr>
        <p:spPr>
          <a:xfrm>
            <a:off x="8183880" y="2240280"/>
            <a:ext cx="3337560" cy="283464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Reference links grouped by category — click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Open</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Includes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The Harbour Information Library</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Search with “Search resources…”</a:t>
            </a:r>
            <a:endParaRPr lang="en-US" sz="1200" dirty="0"/>
          </a:p>
        </p:txBody>
      </p:sp>
      <p:sp>
        <p:nvSpPr>
          <p:cNvPr id="17" name="Shape 15"/>
          <p:cNvSpPr/>
          <p:nvPr/>
        </p:nvSpPr>
        <p:spPr>
          <a:xfrm>
            <a:off x="548640" y="5349240"/>
            <a:ext cx="11109960" cy="548640"/>
          </a:xfrm>
          <a:prstGeom prst="roundRect">
            <a:avLst>
              <a:gd name="adj" fmla="val 13333"/>
            </a:avLst>
          </a:prstGeom>
          <a:solidFill>
            <a:srgbClr val="FFF7ED"/>
          </a:solidFill>
          <a:ln w="12700">
            <a:solidFill>
              <a:srgbClr val="FED7AA"/>
            </a:solidFill>
            <a:prstDash val="solid"/>
          </a:ln>
        </p:spPr>
      </p:sp>
      <p:sp>
        <p:nvSpPr>
          <p:cNvPr id="18" name="Shape 16"/>
          <p:cNvSpPr/>
          <p:nvPr/>
        </p:nvSpPr>
        <p:spPr>
          <a:xfrm>
            <a:off x="548640" y="5349240"/>
            <a:ext cx="73152" cy="548640"/>
          </a:xfrm>
          <a:prstGeom prst="rect">
            <a:avLst/>
          </a:prstGeom>
          <a:solidFill>
            <a:srgbClr val="F99239"/>
          </a:solidFill>
          <a:ln w="12700">
            <a:solidFill>
              <a:srgbClr val="F99239"/>
            </a:solidFill>
            <a:prstDash val="solid"/>
          </a:ln>
        </p:spPr>
      </p:sp>
      <p:sp>
        <p:nvSpPr>
          <p:cNvPr id="19" name="Text 17"/>
          <p:cNvSpPr/>
          <p:nvPr/>
        </p:nvSpPr>
        <p:spPr>
          <a:xfrm>
            <a:off x="731520" y="5349240"/>
            <a:ext cx="10835640" cy="5486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When you are unsure how to handle something, check the </a:t>
            </a:r>
            <a:pPr indent="0" marL="0">
              <a:buNone/>
            </a:pPr>
            <a:r>
              <a:rPr lang="en-US" sz="1100" b="1" dirty="0">
                <a:solidFill>
                  <a:srgbClr val="002D6A"/>
                </a:solidFill>
                <a:latin typeface="Montserrat" pitchFamily="34" charset="0"/>
                <a:ea typeface="Montserrat" pitchFamily="34" charset="-122"/>
                <a:cs typeface="Montserrat" pitchFamily="34" charset="-120"/>
              </a:rPr>
              <a:t>SOP Library</a:t>
            </a:r>
            <a:pPr indent="0" marL="0">
              <a:buNone/>
            </a:pPr>
            <a:r>
              <a:rPr lang="en-US" sz="1100" dirty="0">
                <a:solidFill>
                  <a:srgbClr val="14213D"/>
                </a:solidFill>
                <a:latin typeface="Montserrat" pitchFamily="34" charset="0"/>
                <a:ea typeface="Montserrat" pitchFamily="34" charset="-122"/>
                <a:cs typeface="Montserrat" pitchFamily="34" charset="-120"/>
              </a:rPr>
              <a:t> first, then ask your REC.</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REFERENCE</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Training Modules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Open </a:t>
            </a:r>
            <a:pPr indent="0" marL="0">
              <a:buNone/>
            </a:pPr>
            <a:r>
              <a:rPr lang="en-US" sz="1300" b="1" dirty="0">
                <a:solidFill>
                  <a:srgbClr val="002D6A"/>
                </a:solidFill>
                <a:latin typeface="Montserrat" pitchFamily="34" charset="0"/>
                <a:ea typeface="Montserrat" pitchFamily="34" charset="-122"/>
                <a:cs typeface="Montserrat" pitchFamily="34" charset="-120"/>
              </a:rPr>
              <a:t>Training Modules</a:t>
            </a:r>
            <a:pPr indent="0" marL="0">
              <a:buNone/>
            </a:pPr>
            <a:r>
              <a:rPr lang="en-US" sz="1300" dirty="0">
                <a:solidFill>
                  <a:srgbClr val="14213D"/>
                </a:solidFill>
                <a:latin typeface="Montserrat" pitchFamily="34" charset="0"/>
                <a:ea typeface="Montserrat" pitchFamily="34" charset="-122"/>
                <a:cs typeface="Montserrat" pitchFamily="34" charset="-120"/>
              </a:rPr>
              <a:t> → each card shows the category, title, description and lesson.</a:t>
            </a:r>
            <a:endParaRPr lang="en-US" sz="1300" dirty="0"/>
          </a:p>
        </p:txBody>
      </p:sp>
      <p:sp>
        <p:nvSpPr>
          <p:cNvPr id="8" name="Shape 6"/>
          <p:cNvSpPr/>
          <p:nvPr/>
        </p:nvSpPr>
        <p:spPr>
          <a:xfrm>
            <a:off x="548640" y="2532888"/>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328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47802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Some modules link to </a:t>
            </a:r>
            <a:pPr indent="0" marL="0">
              <a:buNone/>
            </a:pPr>
            <a:r>
              <a:rPr lang="en-US" sz="1300" b="1" dirty="0">
                <a:solidFill>
                  <a:srgbClr val="002D6A"/>
                </a:solidFill>
                <a:latin typeface="Montserrat" pitchFamily="34" charset="0"/>
                <a:ea typeface="Montserrat" pitchFamily="34" charset="-122"/>
                <a:cs typeface="Montserrat" pitchFamily="34" charset="-120"/>
              </a:rPr>
              <a:t>Canvas / External Course</a:t>
            </a:r>
            <a:pPr indent="0" marL="0">
              <a:buNone/>
            </a:pPr>
            <a:r>
              <a:rPr lang="en-US" sz="1300" dirty="0">
                <a:solidFill>
                  <a:srgbClr val="14213D"/>
                </a:solidFill>
                <a:latin typeface="Montserrat" pitchFamily="34" charset="0"/>
                <a:ea typeface="Montserrat" pitchFamily="34" charset="-122"/>
                <a:cs typeface="Montserrat" pitchFamily="34" charset="-120"/>
              </a:rPr>
              <a:t> — complete that first.</a:t>
            </a:r>
            <a:endParaRPr lang="en-US" sz="1300" dirty="0"/>
          </a:p>
        </p:txBody>
      </p:sp>
      <p:sp>
        <p:nvSpPr>
          <p:cNvPr id="11" name="Shape 9"/>
          <p:cNvSpPr/>
          <p:nvPr/>
        </p:nvSpPr>
        <p:spPr>
          <a:xfrm>
            <a:off x="548640" y="3264408"/>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26440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20954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Take Quiz (N questions)</a:t>
            </a:r>
            <a:pPr indent="0" marL="0">
              <a:buNone/>
            </a:pPr>
            <a:r>
              <a:rPr lang="en-US" sz="1300" dirty="0">
                <a:solidFill>
                  <a:srgbClr val="14213D"/>
                </a:solidFill>
                <a:latin typeface="Montserrat" pitchFamily="34" charset="0"/>
                <a:ea typeface="Montserrat" pitchFamily="34" charset="-122"/>
                <a:cs typeface="Montserrat" pitchFamily="34" charset="-120"/>
              </a:rPr>
              <a:t> and answer every question.</a:t>
            </a:r>
            <a:endParaRPr lang="en-US" sz="1300" dirty="0"/>
          </a:p>
        </p:txBody>
      </p:sp>
      <p:sp>
        <p:nvSpPr>
          <p:cNvPr id="14" name="Shape 12"/>
          <p:cNvSpPr/>
          <p:nvPr/>
        </p:nvSpPr>
        <p:spPr>
          <a:xfrm>
            <a:off x="548640" y="3995928"/>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99592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94106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Click </a:t>
            </a:r>
            <a:pPr indent="0" marL="0">
              <a:buNone/>
            </a:pPr>
            <a:r>
              <a:rPr lang="en-US" sz="1300" b="1" dirty="0">
                <a:solidFill>
                  <a:srgbClr val="002D6A"/>
                </a:solidFill>
                <a:latin typeface="Montserrat" pitchFamily="34" charset="0"/>
                <a:ea typeface="Montserrat" pitchFamily="34" charset="-122"/>
                <a:cs typeface="Montserrat" pitchFamily="34" charset="-120"/>
              </a:rPr>
              <a:t>Submit Quiz</a:t>
            </a:r>
            <a:pPr indent="0" marL="0">
              <a:buNone/>
            </a:pPr>
            <a:r>
              <a:rPr lang="en-US" sz="1300" dirty="0">
                <a:solidFill>
                  <a:srgbClr val="14213D"/>
                </a:solidFill>
                <a:latin typeface="Montserrat" pitchFamily="34" charset="0"/>
                <a:ea typeface="Montserrat" pitchFamily="34" charset="-122"/>
                <a:cs typeface="Montserrat" pitchFamily="34" charset="-120"/>
              </a:rPr>
              <a:t> — you will see </a:t>
            </a:r>
            <a:pPr indent="0" marL="0">
              <a:buNone/>
            </a:pPr>
            <a:r>
              <a:rPr lang="en-US" sz="1300" b="1" dirty="0">
                <a:solidFill>
                  <a:srgbClr val="002D6A"/>
                </a:solidFill>
                <a:latin typeface="Montserrat" pitchFamily="34" charset="0"/>
                <a:ea typeface="Montserrat" pitchFamily="34" charset="-122"/>
                <a:cs typeface="Montserrat" pitchFamily="34" charset="-120"/>
              </a:rPr>
              <a:t>✔ Passed</a:t>
            </a:r>
            <a:pPr indent="0" marL="0">
              <a:buNone/>
            </a:pPr>
            <a:r>
              <a:rPr lang="en-US" sz="1300" dirty="0">
                <a:solidFill>
                  <a:srgbClr val="14213D"/>
                </a:solidFill>
                <a:latin typeface="Montserrat" pitchFamily="34" charset="0"/>
                <a:ea typeface="Montserrat" pitchFamily="34" charset="-122"/>
                <a:cs typeface="Montserrat" pitchFamily="34" charset="-120"/>
              </a:rPr>
              <a:t> or </a:t>
            </a:r>
            <a:pPr indent="0" marL="0">
              <a:buNone/>
            </a:pPr>
            <a:r>
              <a:rPr lang="en-US" sz="1300" b="1" dirty="0">
                <a:solidFill>
                  <a:srgbClr val="002D6A"/>
                </a:solidFill>
                <a:latin typeface="Montserrat" pitchFamily="34" charset="0"/>
                <a:ea typeface="Montserrat" pitchFamily="34" charset="-122"/>
                <a:cs typeface="Montserrat" pitchFamily="34" charset="-120"/>
              </a:rPr>
              <a:t>✘ Not Passed</a:t>
            </a:r>
            <a:pPr indent="0" marL="0">
              <a:buNone/>
            </a:pPr>
            <a:r>
              <a:rPr lang="en-US" sz="1300" dirty="0">
                <a:solidFill>
                  <a:srgbClr val="14213D"/>
                </a:solidFill>
                <a:latin typeface="Montserrat" pitchFamily="34" charset="0"/>
                <a:ea typeface="Montserrat" pitchFamily="34" charset="-122"/>
                <a:cs typeface="Montserrat" pitchFamily="34" charset="-120"/>
              </a:rPr>
              <a:t> with your score (pass mark usually </a:t>
            </a:r>
            <a:pPr indent="0" marL="0">
              <a:buNone/>
            </a:pPr>
            <a:r>
              <a:rPr lang="en-US" sz="1300" b="1" dirty="0">
                <a:solidFill>
                  <a:srgbClr val="002D6A"/>
                </a:solidFill>
                <a:latin typeface="Montserrat" pitchFamily="34" charset="0"/>
                <a:ea typeface="Montserrat" pitchFamily="34" charset="-122"/>
                <a:cs typeface="Montserrat" pitchFamily="34" charset="-120"/>
              </a:rPr>
              <a:t>80%</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727448"/>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72744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67258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Not passed? Review the lesson and click </a:t>
            </a:r>
            <a:pPr indent="0" marL="0">
              <a:buNone/>
            </a:pPr>
            <a:r>
              <a:rPr lang="en-US" sz="1300" b="1" dirty="0">
                <a:solidFill>
                  <a:srgbClr val="002D6A"/>
                </a:solidFill>
                <a:latin typeface="Montserrat" pitchFamily="34" charset="0"/>
                <a:ea typeface="Montserrat" pitchFamily="34" charset="-122"/>
                <a:cs typeface="Montserrat" pitchFamily="34" charset="-120"/>
              </a:rPr>
              <a:t>Retake Quiz</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20" name="Shape 18"/>
          <p:cNvSpPr/>
          <p:nvPr/>
        </p:nvSpPr>
        <p:spPr>
          <a:xfrm>
            <a:off x="7178040" y="1783080"/>
            <a:ext cx="4480560" cy="3017520"/>
          </a:xfrm>
          <a:prstGeom prst="roundRect">
            <a:avLst>
              <a:gd name="adj" fmla="val 1818"/>
            </a:avLst>
          </a:prstGeom>
          <a:solidFill>
            <a:srgbClr val="F3F5F8"/>
          </a:solidFill>
          <a:ln w="12700">
            <a:solidFill>
              <a:srgbClr val="CBD5E1"/>
            </a:solidFill>
            <a:prstDash val="solid"/>
          </a:ln>
          <a:effectLst>
            <a:outerShdw sx="100000" sy="100000" kx="0" ky="0" algn="bl" rotWithShape="0" blurRad="127000" dist="38100" dir="5400000">
              <a:srgbClr val="000000">
                <a:alpha val="15000"/>
              </a:srgbClr>
            </a:outerShdw>
          </a:effectLst>
        </p:spPr>
      </p:sp>
      <p:sp>
        <p:nvSpPr>
          <p:cNvPr id="21" name="Shape 19"/>
          <p:cNvSpPr/>
          <p:nvPr/>
        </p:nvSpPr>
        <p:spPr>
          <a:xfrm>
            <a:off x="7178040" y="1783080"/>
            <a:ext cx="1075334" cy="3017520"/>
          </a:xfrm>
          <a:prstGeom prst="rect">
            <a:avLst/>
          </a:prstGeom>
          <a:solidFill>
            <a:srgbClr val="002D6A"/>
          </a:solidFill>
          <a:ln w="12700">
            <a:solidFill>
              <a:srgbClr val="002D6A"/>
            </a:solidFill>
            <a:prstDash val="solid"/>
          </a:ln>
        </p:spPr>
      </p:sp>
      <p:pic>
        <p:nvPicPr>
          <p:cNvPr id="22" name="Image 0" descr="C:\Users\brian\AppData\Local\Temp\kilo\ppt\img\logo-white.png">    </p:cNvPr>
          <p:cNvPicPr>
            <a:picLocks noChangeAspect="1"/>
          </p:cNvPicPr>
          <p:nvPr/>
        </p:nvPicPr>
        <p:blipFill>
          <a:blip r:embed="rId1"/>
          <a:stretch>
            <a:fillRect/>
          </a:stretch>
        </p:blipFill>
        <p:spPr>
          <a:xfrm>
            <a:off x="7287768" y="1892808"/>
            <a:ext cx="855878" cy="333793"/>
          </a:xfrm>
          <a:prstGeom prst="rect">
            <a:avLst/>
          </a:prstGeom>
        </p:spPr>
      </p:pic>
      <p:sp>
        <p:nvSpPr>
          <p:cNvPr id="23" name="Text 20"/>
          <p:cNvSpPr/>
          <p:nvPr/>
        </p:nvSpPr>
        <p:spPr>
          <a:xfrm>
            <a:off x="7287768" y="235915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Guest Log</a:t>
            </a:r>
            <a:endParaRPr lang="en-US" sz="750" dirty="0"/>
          </a:p>
        </p:txBody>
      </p:sp>
      <p:sp>
        <p:nvSpPr>
          <p:cNvPr id="24" name="Text 21"/>
          <p:cNvSpPr/>
          <p:nvPr/>
        </p:nvSpPr>
        <p:spPr>
          <a:xfrm>
            <a:off x="7287768" y="260604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Incident Reports</a:t>
            </a:r>
            <a:endParaRPr lang="en-US" sz="750" dirty="0"/>
          </a:p>
        </p:txBody>
      </p:sp>
      <p:sp>
        <p:nvSpPr>
          <p:cNvPr id="25" name="Text 22"/>
          <p:cNvSpPr/>
          <p:nvPr/>
        </p:nvSpPr>
        <p:spPr>
          <a:xfrm>
            <a:off x="7287768" y="2852928"/>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Maintenance &amp; Keys</a:t>
            </a:r>
            <a:endParaRPr lang="en-US" sz="750" dirty="0"/>
          </a:p>
        </p:txBody>
      </p:sp>
      <p:sp>
        <p:nvSpPr>
          <p:cNvPr id="26" name="Text 23"/>
          <p:cNvSpPr/>
          <p:nvPr/>
        </p:nvSpPr>
        <p:spPr>
          <a:xfrm>
            <a:off x="7287768" y="3099816"/>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Resident Directory</a:t>
            </a:r>
            <a:endParaRPr lang="en-US" sz="750" dirty="0"/>
          </a:p>
        </p:txBody>
      </p:sp>
      <p:sp>
        <p:nvSpPr>
          <p:cNvPr id="27" name="Text 24"/>
          <p:cNvSpPr/>
          <p:nvPr/>
        </p:nvSpPr>
        <p:spPr>
          <a:xfrm>
            <a:off x="7287768" y="3346704"/>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Campus Contacts</a:t>
            </a:r>
            <a:endParaRPr lang="en-US" sz="750" dirty="0"/>
          </a:p>
        </p:txBody>
      </p:sp>
      <p:sp>
        <p:nvSpPr>
          <p:cNvPr id="28" name="Text 25"/>
          <p:cNvSpPr/>
          <p:nvPr/>
        </p:nvSpPr>
        <p:spPr>
          <a:xfrm>
            <a:off x="7287768" y="3593592"/>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Curriculum Tracker</a:t>
            </a:r>
            <a:endParaRPr lang="en-US" sz="750" dirty="0"/>
          </a:p>
        </p:txBody>
      </p:sp>
      <p:sp>
        <p:nvSpPr>
          <p:cNvPr id="29" name="Text 26"/>
          <p:cNvSpPr/>
          <p:nvPr/>
        </p:nvSpPr>
        <p:spPr>
          <a:xfrm>
            <a:off x="7287768" y="3840480"/>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SOP Library</a:t>
            </a:r>
            <a:endParaRPr lang="en-US" sz="750" dirty="0"/>
          </a:p>
        </p:txBody>
      </p:sp>
      <p:sp>
        <p:nvSpPr>
          <p:cNvPr id="30" name="Text 27"/>
          <p:cNvSpPr/>
          <p:nvPr/>
        </p:nvSpPr>
        <p:spPr>
          <a:xfrm>
            <a:off x="7287768" y="4087368"/>
            <a:ext cx="938174" cy="237744"/>
          </a:xfrm>
          <a:prstGeom prst="rect">
            <a:avLst/>
          </a:prstGeom>
          <a:noFill/>
          <a:ln/>
        </p:spPr>
        <p:txBody>
          <a:bodyPr wrap="square" rtlCol="0" anchor="ctr"/>
          <a:lstStyle/>
          <a:p>
            <a:pPr indent="0" marL="0">
              <a:buNone/>
            </a:pPr>
            <a:r>
              <a:rPr lang="en-US" sz="750" dirty="0">
                <a:solidFill>
                  <a:srgbClr val="FFFFFF"/>
                </a:solidFill>
                <a:latin typeface="Montserrat" pitchFamily="34" charset="0"/>
                <a:ea typeface="Montserrat" pitchFamily="34" charset="-122"/>
                <a:cs typeface="Montserrat" pitchFamily="34" charset="-120"/>
              </a:rPr>
              <a:t>Resources</a:t>
            </a:r>
            <a:endParaRPr lang="en-US" sz="750" dirty="0"/>
          </a:p>
        </p:txBody>
      </p:sp>
      <p:sp>
        <p:nvSpPr>
          <p:cNvPr id="31" name="Shape 28"/>
          <p:cNvSpPr/>
          <p:nvPr/>
        </p:nvSpPr>
        <p:spPr>
          <a:xfrm>
            <a:off x="7178040" y="4334256"/>
            <a:ext cx="1075334" cy="237744"/>
          </a:xfrm>
          <a:prstGeom prst="rect">
            <a:avLst/>
          </a:prstGeom>
          <a:solidFill>
            <a:srgbClr val="F99239"/>
          </a:solidFill>
          <a:ln w="12700">
            <a:solidFill>
              <a:srgbClr val="F99239"/>
            </a:solidFill>
            <a:prstDash val="solid"/>
          </a:ln>
        </p:spPr>
      </p:sp>
      <p:sp>
        <p:nvSpPr>
          <p:cNvPr id="32" name="Text 29"/>
          <p:cNvSpPr/>
          <p:nvPr/>
        </p:nvSpPr>
        <p:spPr>
          <a:xfrm>
            <a:off x="7287768" y="4334256"/>
            <a:ext cx="938174" cy="237744"/>
          </a:xfrm>
          <a:prstGeom prst="rect">
            <a:avLst/>
          </a:prstGeom>
          <a:noFill/>
          <a:ln/>
        </p:spPr>
        <p:txBody>
          <a:bodyPr wrap="square" rtlCol="0" anchor="ctr"/>
          <a:lstStyle/>
          <a:p>
            <a:pPr indent="0" marL="0">
              <a:buNone/>
            </a:pPr>
            <a:r>
              <a:rPr lang="en-US" sz="750" b="1" dirty="0">
                <a:solidFill>
                  <a:srgbClr val="FFFFFF"/>
                </a:solidFill>
                <a:latin typeface="Montserrat" pitchFamily="34" charset="0"/>
                <a:ea typeface="Montserrat" pitchFamily="34" charset="-122"/>
                <a:cs typeface="Montserrat" pitchFamily="34" charset="-120"/>
              </a:rPr>
              <a:t>Training Modules</a:t>
            </a:r>
            <a:endParaRPr lang="en-US" sz="750" dirty="0"/>
          </a:p>
        </p:txBody>
      </p:sp>
      <p:sp>
        <p:nvSpPr>
          <p:cNvPr id="33" name="Shape 30"/>
          <p:cNvSpPr/>
          <p:nvPr/>
        </p:nvSpPr>
        <p:spPr>
          <a:xfrm>
            <a:off x="8253374" y="1783080"/>
            <a:ext cx="3405226" cy="347472"/>
          </a:xfrm>
          <a:prstGeom prst="rect">
            <a:avLst/>
          </a:prstGeom>
          <a:solidFill>
            <a:srgbClr val="FFFFFF"/>
          </a:solidFill>
          <a:ln w="12700">
            <a:solidFill>
              <a:srgbClr val="E2E8F0"/>
            </a:solidFill>
            <a:prstDash val="solid"/>
          </a:ln>
        </p:spPr>
      </p:sp>
      <p:sp>
        <p:nvSpPr>
          <p:cNvPr id="34" name="Text 31"/>
          <p:cNvSpPr/>
          <p:nvPr/>
        </p:nvSpPr>
        <p:spPr>
          <a:xfrm>
            <a:off x="8390534" y="1783080"/>
            <a:ext cx="2743200" cy="347472"/>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The Harbour at OCC</a:t>
            </a:r>
            <a:endParaRPr lang="en-US" sz="900" dirty="0"/>
          </a:p>
        </p:txBody>
      </p:sp>
      <p:sp>
        <p:nvSpPr>
          <p:cNvPr id="35" name="Text 32"/>
          <p:cNvSpPr/>
          <p:nvPr/>
        </p:nvSpPr>
        <p:spPr>
          <a:xfrm>
            <a:off x="9921240" y="1783080"/>
            <a:ext cx="1645920" cy="347472"/>
          </a:xfrm>
          <a:prstGeom prst="rect">
            <a:avLst/>
          </a:prstGeom>
          <a:noFill/>
          <a:ln/>
        </p:spPr>
        <p:txBody>
          <a:bodyPr wrap="square" rtlCol="0" anchor="ctr"/>
          <a:lstStyle/>
          <a:p>
            <a:pPr algn="r" indent="0" marL="0">
              <a:buNone/>
            </a:pPr>
            <a:r>
              <a:rPr lang="en-US" sz="800" dirty="0">
                <a:solidFill>
                  <a:srgbClr val="64748B"/>
                </a:solidFill>
                <a:latin typeface="Montserrat" pitchFamily="34" charset="0"/>
                <a:ea typeface="Montserrat" pitchFamily="34" charset="-122"/>
                <a:cs typeface="Montserrat" pitchFamily="34" charset="-120"/>
              </a:rPr>
              <a:t>🔔   RA   Log Out</a:t>
            </a:r>
            <a:endParaRPr lang="en-US" sz="800" dirty="0"/>
          </a:p>
        </p:txBody>
      </p:sp>
      <p:sp>
        <p:nvSpPr>
          <p:cNvPr id="36" name="Shape 33"/>
          <p:cNvSpPr/>
          <p:nvPr/>
        </p:nvSpPr>
        <p:spPr>
          <a:xfrm>
            <a:off x="8417966" y="2286000"/>
            <a:ext cx="3076042" cy="2331720"/>
          </a:xfrm>
          <a:prstGeom prst="rect">
            <a:avLst/>
          </a:prstGeom>
          <a:solidFill>
            <a:srgbClr val="FFFFFF"/>
          </a:solidFill>
          <a:ln w="12700">
            <a:solidFill>
              <a:srgbClr val="E2E8F0"/>
            </a:solidFill>
            <a:prstDash val="solid"/>
          </a:ln>
        </p:spPr>
      </p:sp>
      <p:sp>
        <p:nvSpPr>
          <p:cNvPr id="37" name="Text 34"/>
          <p:cNvSpPr/>
          <p:nvPr/>
        </p:nvSpPr>
        <p:spPr>
          <a:xfrm>
            <a:off x="8527694" y="2331720"/>
            <a:ext cx="1613002" cy="320040"/>
          </a:xfrm>
          <a:prstGeom prst="rect">
            <a:avLst/>
          </a:prstGeom>
          <a:noFill/>
          <a:ln/>
        </p:spPr>
        <p:txBody>
          <a:bodyPr wrap="square" rtlCol="0" anchor="ctr"/>
          <a:lstStyle/>
          <a:p>
            <a:pPr indent="0" marL="0">
              <a:buNone/>
            </a:pPr>
            <a:r>
              <a:rPr lang="en-US" sz="900" b="1" dirty="0">
                <a:solidFill>
                  <a:srgbClr val="002D6A"/>
                </a:solidFill>
                <a:latin typeface="Montserrat" pitchFamily="34" charset="0"/>
                <a:ea typeface="Montserrat" pitchFamily="34" charset="-122"/>
                <a:cs typeface="Montserrat" pitchFamily="34" charset="-120"/>
              </a:rPr>
              <a:t>TRAINING MODULES</a:t>
            </a:r>
            <a:endParaRPr lang="en-US" sz="900" dirty="0"/>
          </a:p>
        </p:txBody>
      </p:sp>
      <p:sp>
        <p:nvSpPr>
          <p:cNvPr id="38" name="Shape 35"/>
          <p:cNvSpPr/>
          <p:nvPr/>
        </p:nvSpPr>
        <p:spPr>
          <a:xfrm>
            <a:off x="8509406" y="2724912"/>
            <a:ext cx="2893162" cy="310896"/>
          </a:xfrm>
          <a:prstGeom prst="rect">
            <a:avLst/>
          </a:prstGeom>
          <a:solidFill>
            <a:srgbClr val="F8FAFC"/>
          </a:solidFill>
          <a:ln w="12700">
            <a:solidFill>
              <a:srgbClr val="E2E8F0"/>
            </a:solidFill>
            <a:prstDash val="solid"/>
          </a:ln>
        </p:spPr>
      </p:sp>
      <p:sp>
        <p:nvSpPr>
          <p:cNvPr id="39" name="Text 36"/>
          <p:cNvSpPr/>
          <p:nvPr/>
        </p:nvSpPr>
        <p:spPr>
          <a:xfrm>
            <a:off x="8600846" y="272491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Emergency Response · Passed · 90%</a:t>
            </a:r>
            <a:endParaRPr lang="en-US" sz="800" dirty="0"/>
          </a:p>
        </p:txBody>
      </p:sp>
      <p:sp>
        <p:nvSpPr>
          <p:cNvPr id="40" name="Shape 37"/>
          <p:cNvSpPr/>
          <p:nvPr/>
        </p:nvSpPr>
        <p:spPr>
          <a:xfrm>
            <a:off x="8509406" y="3090672"/>
            <a:ext cx="2893162" cy="310896"/>
          </a:xfrm>
          <a:prstGeom prst="rect">
            <a:avLst/>
          </a:prstGeom>
          <a:solidFill>
            <a:srgbClr val="FFFFFF"/>
          </a:solidFill>
          <a:ln w="12700">
            <a:solidFill>
              <a:srgbClr val="E2E8F0"/>
            </a:solidFill>
            <a:prstDash val="solid"/>
          </a:ln>
        </p:spPr>
      </p:sp>
      <p:sp>
        <p:nvSpPr>
          <p:cNvPr id="41" name="Text 38"/>
          <p:cNvSpPr/>
          <p:nvPr/>
        </p:nvSpPr>
        <p:spPr>
          <a:xfrm>
            <a:off x="8600846" y="309067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Guest Policy · Attempted · 70%  [Retake]</a:t>
            </a:r>
            <a:endParaRPr lang="en-US" sz="800" dirty="0"/>
          </a:p>
        </p:txBody>
      </p:sp>
      <p:sp>
        <p:nvSpPr>
          <p:cNvPr id="42" name="Shape 39"/>
          <p:cNvSpPr/>
          <p:nvPr/>
        </p:nvSpPr>
        <p:spPr>
          <a:xfrm>
            <a:off x="8509406" y="3456432"/>
            <a:ext cx="2893162" cy="310896"/>
          </a:xfrm>
          <a:prstGeom prst="rect">
            <a:avLst/>
          </a:prstGeom>
          <a:solidFill>
            <a:srgbClr val="F8FAFC"/>
          </a:solidFill>
          <a:ln w="12700">
            <a:solidFill>
              <a:srgbClr val="E2E8F0"/>
            </a:solidFill>
            <a:prstDash val="solid"/>
          </a:ln>
        </p:spPr>
      </p:sp>
      <p:sp>
        <p:nvSpPr>
          <p:cNvPr id="43" name="Text 40"/>
          <p:cNvSpPr/>
          <p:nvPr/>
        </p:nvSpPr>
        <p:spPr>
          <a:xfrm>
            <a:off x="8600846" y="345643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Duty Log Basics · [Take Quiz (8 questions)]</a:t>
            </a:r>
            <a:endParaRPr lang="en-US" sz="800" dirty="0"/>
          </a:p>
        </p:txBody>
      </p:sp>
      <p:sp>
        <p:nvSpPr>
          <p:cNvPr id="44" name="Shape 41"/>
          <p:cNvSpPr/>
          <p:nvPr/>
        </p:nvSpPr>
        <p:spPr>
          <a:xfrm>
            <a:off x="8509406" y="3822192"/>
            <a:ext cx="2893162" cy="310896"/>
          </a:xfrm>
          <a:prstGeom prst="rect">
            <a:avLst/>
          </a:prstGeom>
          <a:solidFill>
            <a:srgbClr val="FFFFFF"/>
          </a:solidFill>
          <a:ln w="12700">
            <a:solidFill>
              <a:srgbClr val="E2E8F0"/>
            </a:solidFill>
            <a:prstDash val="solid"/>
          </a:ln>
        </p:spPr>
      </p:sp>
      <p:sp>
        <p:nvSpPr>
          <p:cNvPr id="45" name="Text 42"/>
          <p:cNvSpPr/>
          <p:nvPr/>
        </p:nvSpPr>
        <p:spPr>
          <a:xfrm>
            <a:off x="8600846" y="3822192"/>
            <a:ext cx="2710282" cy="310896"/>
          </a:xfrm>
          <a:prstGeom prst="rect">
            <a:avLst/>
          </a:prstGeom>
          <a:noFill/>
          <a:ln/>
        </p:spPr>
        <p:txBody>
          <a:bodyPr wrap="square" rtlCol="0" anchor="ctr"/>
          <a:lstStyle/>
          <a:p>
            <a:pPr indent="0" marL="0">
              <a:buNone/>
            </a:pPr>
            <a:r>
              <a:rPr lang="en-US" sz="800" dirty="0">
                <a:solidFill>
                  <a:srgbClr val="14213D"/>
                </a:solidFill>
                <a:latin typeface="Montserrat" pitchFamily="34" charset="0"/>
                <a:ea typeface="Montserrat" pitchFamily="34" charset="-122"/>
                <a:cs typeface="Montserrat" pitchFamily="34" charset="-120"/>
              </a:rPr>
              <a:t>Title IX Awareness · Open in Canvas</a:t>
            </a:r>
            <a:endParaRPr lang="en-US" sz="8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2D6A"/>
        </a:solidFill>
      </p:bgPr>
    </p:bg>
    <p:spTree>
      <p:nvGrpSpPr>
        <p:cNvPr id="1" name=""/>
        <p:cNvGrpSpPr/>
        <p:nvPr/>
      </p:nvGrpSpPr>
      <p:grpSpPr>
        <a:xfrm>
          <a:off x="0" y="0"/>
          <a:ext cx="0" cy="0"/>
          <a:chOff x="0" y="0"/>
          <a:chExt cx="0" cy="0"/>
        </a:xfrm>
      </p:grpSpPr>
      <p:pic>
        <p:nvPicPr>
          <p:cNvPr id="2" name="Image 0" descr="C:\Users\brian\AppData\Local\Temp\kilo\ppt\img\living-room-0104.jpg">    </p:cNvPr>
          <p:cNvPicPr>
            <a:picLocks noChangeAspect="1"/>
          </p:cNvPicPr>
          <p:nvPr/>
        </p:nvPicPr>
        <p:blipFill>
          <a:blip r:embed="rId1"/>
          <a:srcRect l="0" r="0" t="0" b="0"/>
          <a:stretch/>
        </p:blipFill>
        <p:spPr>
          <a:xfrm>
            <a:off x="6949440" y="0"/>
            <a:ext cx="5239512" cy="6858000"/>
          </a:xfrm>
          <a:prstGeom prst="rect">
            <a:avLst/>
          </a:prstGeom>
        </p:spPr>
      </p:pic>
      <p:sp>
        <p:nvSpPr>
          <p:cNvPr id="3" name="Shape 0"/>
          <p:cNvSpPr/>
          <p:nvPr/>
        </p:nvSpPr>
        <p:spPr>
          <a:xfrm>
            <a:off x="6949440" y="0"/>
            <a:ext cx="5239512" cy="6858000"/>
          </a:xfrm>
          <a:prstGeom prst="rect">
            <a:avLst/>
          </a:prstGeom>
          <a:solidFill>
            <a:srgbClr val="002D6A">
              <a:alpha val="45000"/>
            </a:srgbClr>
          </a:solidFill>
          <a:ln w="12700">
            <a:solidFill>
              <a:srgbClr val="002D6A">
                <a:alpha val="0"/>
              </a:srgbClr>
            </a:solidFill>
            <a:prstDash val="solid"/>
          </a:ln>
        </p:spPr>
      </p:sp>
      <p:sp>
        <p:nvSpPr>
          <p:cNvPr id="4" name="Shape 1"/>
          <p:cNvSpPr/>
          <p:nvPr/>
        </p:nvSpPr>
        <p:spPr>
          <a:xfrm>
            <a:off x="6876288" y="0"/>
            <a:ext cx="73152" cy="6858000"/>
          </a:xfrm>
          <a:prstGeom prst="rect">
            <a:avLst/>
          </a:prstGeom>
          <a:solidFill>
            <a:srgbClr val="F99239"/>
          </a:solidFill>
          <a:ln w="12700">
            <a:solidFill>
              <a:srgbClr val="F99239"/>
            </a:solidFill>
            <a:prstDash val="solid"/>
          </a:ln>
        </p:spPr>
      </p:sp>
      <p:pic>
        <p:nvPicPr>
          <p:cNvPr id="5" name="Image 1" descr="C:\Users\brian\AppData\Local\Temp\kilo\ppt\img\logo-white.png">    </p:cNvPr>
          <p:cNvPicPr>
            <a:picLocks noChangeAspect="1"/>
          </p:cNvPicPr>
          <p:nvPr/>
        </p:nvPicPr>
        <p:blipFill>
          <a:blip r:embed="rId2"/>
          <a:stretch>
            <a:fillRect/>
          </a:stretch>
        </p:blipFill>
        <p:spPr>
          <a:xfrm>
            <a:off x="640080" y="548640"/>
            <a:ext cx="1828800" cy="722376"/>
          </a:xfrm>
          <a:prstGeom prst="rect">
            <a:avLst/>
          </a:prstGeom>
        </p:spPr>
      </p:pic>
      <p:sp>
        <p:nvSpPr>
          <p:cNvPr id="6" name="Text 2"/>
          <p:cNvSpPr/>
          <p:nvPr/>
        </p:nvSpPr>
        <p:spPr>
          <a:xfrm>
            <a:off x="640080" y="2011680"/>
            <a:ext cx="2743200" cy="1097280"/>
          </a:xfrm>
          <a:prstGeom prst="rect">
            <a:avLst/>
          </a:prstGeom>
          <a:noFill/>
          <a:ln/>
        </p:spPr>
        <p:txBody>
          <a:bodyPr wrap="square" rtlCol="0" anchor="ctr"/>
          <a:lstStyle/>
          <a:p>
            <a:pPr indent="0" marL="0">
              <a:buNone/>
            </a:pPr>
            <a:r>
              <a:rPr lang="en-US" sz="7200" b="1" dirty="0">
                <a:solidFill>
                  <a:srgbClr val="F99239"/>
                </a:solidFill>
                <a:latin typeface="Montserrat" pitchFamily="34" charset="0"/>
                <a:ea typeface="Montserrat" pitchFamily="34" charset="-122"/>
                <a:cs typeface="Montserrat" pitchFamily="34" charset="-120"/>
              </a:rPr>
              <a:t>07</a:t>
            </a:r>
            <a:endParaRPr lang="en-US" sz="7200" dirty="0"/>
          </a:p>
        </p:txBody>
      </p:sp>
      <p:sp>
        <p:nvSpPr>
          <p:cNvPr id="7" name="Text 3"/>
          <p:cNvSpPr/>
          <p:nvPr/>
        </p:nvSpPr>
        <p:spPr>
          <a:xfrm>
            <a:off x="640080" y="3154680"/>
            <a:ext cx="6035040" cy="100584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Creative Studio</a:t>
            </a:r>
            <a:endParaRPr lang="en-US" sz="3600" dirty="0"/>
          </a:p>
        </p:txBody>
      </p:sp>
      <p:sp>
        <p:nvSpPr>
          <p:cNvPr id="8" name="Text 4"/>
          <p:cNvSpPr/>
          <p:nvPr/>
        </p:nvSpPr>
        <p:spPr>
          <a:xfrm>
            <a:off x="640080" y="4206240"/>
            <a:ext cx="5852160" cy="1097280"/>
          </a:xfrm>
          <a:prstGeom prst="rect">
            <a:avLst/>
          </a:prstGeom>
          <a:noFill/>
          <a:ln/>
        </p:spPr>
        <p:txBody>
          <a:bodyPr wrap="square" rtlCol="0" anchor="t"/>
          <a:lstStyle/>
          <a:p>
            <a:pPr indent="0" marL="0">
              <a:buNone/>
            </a:pPr>
            <a:r>
              <a:rPr lang="en-US" sz="1500" dirty="0">
                <a:solidFill>
                  <a:srgbClr val="DCEBF7"/>
                </a:solidFill>
                <a:latin typeface="Montserrat" pitchFamily="34" charset="0"/>
                <a:ea typeface="Montserrat" pitchFamily="34" charset="-122"/>
                <a:cs typeface="Montserrat" pitchFamily="34" charset="-120"/>
              </a:rPr>
              <a:t>Create on-brand flyers, posts, signs, emails and campaigns — then submit for approval.</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CREATIVE STUDIO</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Creative Studio: getting there &amp; Home</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801368"/>
            <a:ext cx="347472" cy="347472"/>
          </a:xfrm>
          <a:prstGeom prst="ellipse">
            <a:avLst/>
          </a:prstGeom>
          <a:solidFill>
            <a:srgbClr val="F99239"/>
          </a:solidFill>
          <a:ln w="12700">
            <a:solidFill>
              <a:srgbClr val="FFFFFF"/>
            </a:solidFill>
            <a:prstDash val="solid"/>
          </a:ln>
        </p:spPr>
      </p:sp>
      <p:sp>
        <p:nvSpPr>
          <p:cNvPr id="6" name="Text 4"/>
          <p:cNvSpPr/>
          <p:nvPr/>
        </p:nvSpPr>
        <p:spPr>
          <a:xfrm>
            <a:off x="548640" y="180136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7" name="Text 5"/>
          <p:cNvSpPr/>
          <p:nvPr/>
        </p:nvSpPr>
        <p:spPr>
          <a:xfrm>
            <a:off x="1005840" y="174650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In the Hub sidebar click </a:t>
            </a:r>
            <a:pPr indent="0" marL="0">
              <a:buNone/>
            </a:pPr>
            <a:r>
              <a:rPr lang="en-US" sz="1300" b="1" dirty="0">
                <a:solidFill>
                  <a:srgbClr val="002D6A"/>
                </a:solidFill>
                <a:latin typeface="Montserrat" pitchFamily="34" charset="0"/>
                <a:ea typeface="Montserrat" pitchFamily="34" charset="-122"/>
                <a:cs typeface="Montserrat" pitchFamily="34" charset="-120"/>
              </a:rPr>
              <a:t>Creative Studio</a:t>
            </a:r>
            <a:pPr indent="0" marL="0">
              <a:buNone/>
            </a:pPr>
            <a:r>
              <a:rPr lang="en-US" sz="1300" dirty="0">
                <a:solidFill>
                  <a:srgbClr val="14213D"/>
                </a:solidFill>
                <a:latin typeface="Montserrat" pitchFamily="34" charset="0"/>
                <a:ea typeface="Montserrat" pitchFamily="34" charset="-122"/>
                <a:cs typeface="Montserrat" pitchFamily="34" charset="-120"/>
              </a:rPr>
              <a:t>. </a:t>
            </a:r>
            <a:pPr indent="0" marL="0">
              <a:buNone/>
            </a:pPr>
            <a:r>
              <a:rPr lang="en-US" sz="1300" b="1" dirty="0">
                <a:solidFill>
                  <a:srgbClr val="002D6A"/>
                </a:solidFill>
                <a:latin typeface="Montserrat" pitchFamily="34" charset="0"/>
                <a:ea typeface="Montserrat" pitchFamily="34" charset="-122"/>
                <a:cs typeface="Montserrat" pitchFamily="34" charset="-120"/>
              </a:rPr>
              <a:t>← Hub</a:t>
            </a:r>
            <a:pPr indent="0" marL="0">
              <a:buNone/>
            </a:pPr>
            <a:r>
              <a:rPr lang="en-US" sz="1300" dirty="0">
                <a:solidFill>
                  <a:srgbClr val="14213D"/>
                </a:solidFill>
                <a:latin typeface="Montserrat" pitchFamily="34" charset="0"/>
                <a:ea typeface="Montserrat" pitchFamily="34" charset="-122"/>
                <a:cs typeface="Montserrat" pitchFamily="34" charset="-120"/>
              </a:rPr>
              <a:t> brings you back.</a:t>
            </a:r>
            <a:endParaRPr lang="en-US" sz="1300" dirty="0"/>
          </a:p>
        </p:txBody>
      </p:sp>
      <p:sp>
        <p:nvSpPr>
          <p:cNvPr id="8" name="Shape 6"/>
          <p:cNvSpPr/>
          <p:nvPr/>
        </p:nvSpPr>
        <p:spPr>
          <a:xfrm>
            <a:off x="548640" y="2532888"/>
            <a:ext cx="347472" cy="347472"/>
          </a:xfrm>
          <a:prstGeom prst="ellipse">
            <a:avLst/>
          </a:prstGeom>
          <a:solidFill>
            <a:srgbClr val="002D6A"/>
          </a:solidFill>
          <a:ln w="12700">
            <a:solidFill>
              <a:srgbClr val="FFFFFF"/>
            </a:solidFill>
            <a:prstDash val="solid"/>
          </a:ln>
        </p:spPr>
      </p:sp>
      <p:sp>
        <p:nvSpPr>
          <p:cNvPr id="9" name="Text 7"/>
          <p:cNvSpPr/>
          <p:nvPr/>
        </p:nvSpPr>
        <p:spPr>
          <a:xfrm>
            <a:off x="548640" y="253288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0" name="Text 8"/>
          <p:cNvSpPr/>
          <p:nvPr/>
        </p:nvSpPr>
        <p:spPr>
          <a:xfrm>
            <a:off x="1005840" y="247802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Use </a:t>
            </a:r>
            <a:pPr indent="0" marL="0">
              <a:buNone/>
            </a:pPr>
            <a:r>
              <a:rPr lang="en-US" sz="1300" b="1" dirty="0">
                <a:solidFill>
                  <a:srgbClr val="002D6A"/>
                </a:solidFill>
                <a:latin typeface="Montserrat" pitchFamily="34" charset="0"/>
                <a:ea typeface="Montserrat" pitchFamily="34" charset="-122"/>
                <a:cs typeface="Montserrat" pitchFamily="34" charset="-120"/>
              </a:rPr>
              <a:t>quick buttons</a:t>
            </a:r>
            <a:pPr indent="0" marL="0">
              <a:buNone/>
            </a:pPr>
            <a:r>
              <a:rPr lang="en-US" sz="1300" dirty="0">
                <a:solidFill>
                  <a:srgbClr val="14213D"/>
                </a:solidFill>
                <a:latin typeface="Montserrat" pitchFamily="34" charset="0"/>
                <a:ea typeface="Montserrat" pitchFamily="34" charset="-122"/>
                <a:cs typeface="Montserrat" pitchFamily="34" charset="-120"/>
              </a:rPr>
              <a:t>: Create Event, Create Flyer, Send Resident Update, Create Social Post, Create Sign, Create Resource Guide.</a:t>
            </a:r>
            <a:endParaRPr lang="en-US" sz="1300" dirty="0"/>
          </a:p>
        </p:txBody>
      </p:sp>
      <p:sp>
        <p:nvSpPr>
          <p:cNvPr id="11" name="Shape 9"/>
          <p:cNvSpPr/>
          <p:nvPr/>
        </p:nvSpPr>
        <p:spPr>
          <a:xfrm>
            <a:off x="548640" y="3264408"/>
            <a:ext cx="347472" cy="347472"/>
          </a:xfrm>
          <a:prstGeom prst="ellipse">
            <a:avLst/>
          </a:prstGeom>
          <a:solidFill>
            <a:srgbClr val="F99239"/>
          </a:solidFill>
          <a:ln w="12700">
            <a:solidFill>
              <a:srgbClr val="FFFFFF"/>
            </a:solidFill>
            <a:prstDash val="solid"/>
          </a:ln>
        </p:spPr>
      </p:sp>
      <p:sp>
        <p:nvSpPr>
          <p:cNvPr id="12" name="Text 10"/>
          <p:cNvSpPr/>
          <p:nvPr/>
        </p:nvSpPr>
        <p:spPr>
          <a:xfrm>
            <a:off x="548640" y="326440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3" name="Text 11"/>
          <p:cNvSpPr/>
          <p:nvPr/>
        </p:nvSpPr>
        <p:spPr>
          <a:xfrm>
            <a:off x="1005840" y="320954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Or use the </a:t>
            </a:r>
            <a:pPr indent="0" marL="0">
              <a:buNone/>
            </a:pPr>
            <a:r>
              <a:rPr lang="en-US" sz="1300" b="1" dirty="0">
                <a:solidFill>
                  <a:srgbClr val="002D6A"/>
                </a:solidFill>
                <a:latin typeface="Montserrat" pitchFamily="34" charset="0"/>
                <a:ea typeface="Montserrat" pitchFamily="34" charset="-122"/>
                <a:cs typeface="Montserrat" pitchFamily="34" charset="-120"/>
              </a:rPr>
              <a:t>✦ AI Assistant</a:t>
            </a:r>
            <a:pPr indent="0" marL="0">
              <a:buNone/>
            </a:pPr>
            <a:r>
              <a:rPr lang="en-US" sz="1300" dirty="0">
                <a:solidFill>
                  <a:srgbClr val="14213D"/>
                </a:solidFill>
                <a:latin typeface="Montserrat" pitchFamily="34" charset="0"/>
                <a:ea typeface="Montserrat" pitchFamily="34" charset="-122"/>
                <a:cs typeface="Montserrat" pitchFamily="34" charset="-120"/>
              </a:rPr>
              <a:t>: describe it (e.g. “a flyer for a resident game night”), pick an audience, click </a:t>
            </a:r>
            <a:pPr indent="0" marL="0">
              <a:buNone/>
            </a:pPr>
            <a:r>
              <a:rPr lang="en-US" sz="1300" b="1" dirty="0">
                <a:solidFill>
                  <a:srgbClr val="002D6A"/>
                </a:solidFill>
                <a:latin typeface="Montserrat" pitchFamily="34" charset="0"/>
                <a:ea typeface="Montserrat" pitchFamily="34" charset="-122"/>
                <a:cs typeface="Montserrat" pitchFamily="34" charset="-120"/>
              </a:rPr>
              <a:t>Create</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4" name="Shape 12"/>
          <p:cNvSpPr/>
          <p:nvPr/>
        </p:nvSpPr>
        <p:spPr>
          <a:xfrm>
            <a:off x="548640" y="3995928"/>
            <a:ext cx="347472" cy="347472"/>
          </a:xfrm>
          <a:prstGeom prst="ellipse">
            <a:avLst/>
          </a:prstGeom>
          <a:solidFill>
            <a:srgbClr val="002D6A"/>
          </a:solidFill>
          <a:ln w="12700">
            <a:solidFill>
              <a:srgbClr val="FFFFFF"/>
            </a:solidFill>
            <a:prstDash val="solid"/>
          </a:ln>
        </p:spPr>
      </p:sp>
      <p:sp>
        <p:nvSpPr>
          <p:cNvPr id="15" name="Text 13"/>
          <p:cNvSpPr/>
          <p:nvPr/>
        </p:nvSpPr>
        <p:spPr>
          <a:xfrm>
            <a:off x="548640" y="399592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sp>
        <p:nvSpPr>
          <p:cNvPr id="16" name="Text 14"/>
          <p:cNvSpPr/>
          <p:nvPr/>
        </p:nvSpPr>
        <p:spPr>
          <a:xfrm>
            <a:off x="1005840" y="394106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Home also shows </a:t>
            </a:r>
            <a:pPr indent="0" marL="0">
              <a:buNone/>
            </a:pPr>
            <a:r>
              <a:rPr lang="en-US" sz="1300" b="1" dirty="0">
                <a:solidFill>
                  <a:srgbClr val="002D6A"/>
                </a:solidFill>
                <a:latin typeface="Montserrat" pitchFamily="34" charset="0"/>
                <a:ea typeface="Montserrat" pitchFamily="34" charset="-122"/>
                <a:cs typeface="Montserrat" pitchFamily="34" charset="-120"/>
              </a:rPr>
              <a:t>Favorites, Recommended, Recent Projects, Approved Examples</a:t>
            </a:r>
            <a:pPr indent="0" marL="0">
              <a:buNone/>
            </a:pPr>
            <a:r>
              <a:rPr lang="en-US" sz="1300" dirty="0">
                <a:solidFill>
                  <a:srgbClr val="14213D"/>
                </a:solidFill>
                <a:latin typeface="Montserrat" pitchFamily="34" charset="0"/>
                <a:ea typeface="Montserrat" pitchFamily="34" charset="-122"/>
                <a:cs typeface="Montserrat" pitchFamily="34" charset="-120"/>
              </a:rPr>
              <a:t> and the </a:t>
            </a:r>
            <a:pPr indent="0" marL="0">
              <a:buNone/>
            </a:pPr>
            <a:r>
              <a:rPr lang="en-US" sz="1300" b="1" dirty="0">
                <a:solidFill>
                  <a:srgbClr val="002D6A"/>
                </a:solidFill>
                <a:latin typeface="Montserrat" pitchFamily="34" charset="0"/>
                <a:ea typeface="Montserrat" pitchFamily="34" charset="-122"/>
                <a:cs typeface="Montserrat" pitchFamily="34" charset="-120"/>
              </a:rPr>
              <a:t>Brand Kit</a:t>
            </a:r>
            <a:pPr indent="0" marL="0">
              <a:buNone/>
            </a:pPr>
            <a:r>
              <a:rPr lang="en-US" sz="1300" dirty="0">
                <a:solidFill>
                  <a:srgbClr val="14213D"/>
                </a:solidFill>
                <a:latin typeface="Montserrat" pitchFamily="34" charset="0"/>
                <a:ea typeface="Montserrat" pitchFamily="34" charset="-122"/>
                <a:cs typeface="Montserrat" pitchFamily="34" charset="-120"/>
              </a:rPr>
              <a:t>.</a:t>
            </a:r>
            <a:endParaRPr lang="en-US" sz="1300" dirty="0"/>
          </a:p>
        </p:txBody>
      </p:sp>
      <p:sp>
        <p:nvSpPr>
          <p:cNvPr id="17" name="Shape 15"/>
          <p:cNvSpPr/>
          <p:nvPr/>
        </p:nvSpPr>
        <p:spPr>
          <a:xfrm>
            <a:off x="548640" y="4727448"/>
            <a:ext cx="347472" cy="347472"/>
          </a:xfrm>
          <a:prstGeom prst="ellipse">
            <a:avLst/>
          </a:prstGeom>
          <a:solidFill>
            <a:srgbClr val="F99239"/>
          </a:solidFill>
          <a:ln w="12700">
            <a:solidFill>
              <a:srgbClr val="FFFFFF"/>
            </a:solidFill>
            <a:prstDash val="solid"/>
          </a:ln>
        </p:spPr>
      </p:sp>
      <p:sp>
        <p:nvSpPr>
          <p:cNvPr id="18" name="Text 16"/>
          <p:cNvSpPr/>
          <p:nvPr/>
        </p:nvSpPr>
        <p:spPr>
          <a:xfrm>
            <a:off x="548640" y="4727448"/>
            <a:ext cx="347472" cy="347472"/>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sp>
        <p:nvSpPr>
          <p:cNvPr id="19" name="Text 17"/>
          <p:cNvSpPr/>
          <p:nvPr/>
        </p:nvSpPr>
        <p:spPr>
          <a:xfrm>
            <a:off x="1005840" y="4672584"/>
            <a:ext cx="5943600" cy="731520"/>
          </a:xfrm>
          <a:prstGeom prst="rect">
            <a:avLst/>
          </a:prstGeom>
          <a:noFill/>
          <a:ln/>
        </p:spPr>
        <p:txBody>
          <a:bodyPr wrap="square" rtlCol="0" anchor="t"/>
          <a:lstStyle/>
          <a:p>
            <a:pPr indent="0" marL="0">
              <a:buNone/>
            </a:pPr>
            <a:r>
              <a:rPr lang="en-US" sz="1300" dirty="0">
                <a:solidFill>
                  <a:srgbClr val="14213D"/>
                </a:solidFill>
                <a:latin typeface="Montserrat" pitchFamily="34" charset="0"/>
                <a:ea typeface="Montserrat" pitchFamily="34" charset="-122"/>
                <a:cs typeface="Montserrat" pitchFamily="34" charset="-120"/>
              </a:rPr>
              <a:t>Use the top </a:t>
            </a:r>
            <a:pPr indent="0" marL="0">
              <a:buNone/>
            </a:pPr>
            <a:r>
              <a:rPr lang="en-US" sz="1300" b="1" dirty="0">
                <a:solidFill>
                  <a:srgbClr val="002D6A"/>
                </a:solidFill>
                <a:latin typeface="Montserrat" pitchFamily="34" charset="0"/>
                <a:ea typeface="Montserrat" pitchFamily="34" charset="-122"/>
                <a:cs typeface="Montserrat" pitchFamily="34" charset="-120"/>
              </a:rPr>
              <a:t>search</a:t>
            </a:r>
            <a:pPr indent="0" marL="0">
              <a:buNone/>
            </a:pPr>
            <a:r>
              <a:rPr lang="en-US" sz="1300" dirty="0">
                <a:solidFill>
                  <a:srgbClr val="14213D"/>
                </a:solidFill>
                <a:latin typeface="Montserrat" pitchFamily="34" charset="0"/>
                <a:ea typeface="Montserrat" pitchFamily="34" charset="-122"/>
                <a:cs typeface="Montserrat" pitchFamily="34" charset="-120"/>
              </a:rPr>
              <a:t> to find templates, examples, resources and projects.</a:t>
            </a:r>
            <a:endParaRPr lang="en-US" sz="1300" dirty="0"/>
          </a:p>
        </p:txBody>
      </p:sp>
      <p:sp>
        <p:nvSpPr>
          <p:cNvPr id="20" name="Shape 18"/>
          <p:cNvSpPr/>
          <p:nvPr/>
        </p:nvSpPr>
        <p:spPr>
          <a:xfrm>
            <a:off x="7178040" y="1783080"/>
            <a:ext cx="4480560" cy="3017520"/>
          </a:xfrm>
          <a:prstGeom prst="roundRect">
            <a:avLst>
              <a:gd name="adj" fmla="val 2424"/>
            </a:avLst>
          </a:prstGeom>
          <a:solidFill>
            <a:srgbClr val="FBF3E8"/>
          </a:solidFill>
          <a:ln w="12700">
            <a:solidFill>
              <a:srgbClr val="E2E8F0"/>
            </a:solidFill>
            <a:prstDash val="solid"/>
          </a:ln>
        </p:spPr>
      </p:sp>
      <p:sp>
        <p:nvSpPr>
          <p:cNvPr id="21" name="Shape 19"/>
          <p:cNvSpPr/>
          <p:nvPr/>
        </p:nvSpPr>
        <p:spPr>
          <a:xfrm>
            <a:off x="7178040" y="1783080"/>
            <a:ext cx="4480560" cy="411480"/>
          </a:xfrm>
          <a:prstGeom prst="rect">
            <a:avLst/>
          </a:prstGeom>
          <a:solidFill>
            <a:srgbClr val="FFFFFF"/>
          </a:solidFill>
          <a:ln w="12700">
            <a:solidFill>
              <a:srgbClr val="E2E8F0"/>
            </a:solidFill>
            <a:prstDash val="solid"/>
          </a:ln>
        </p:spPr>
      </p:sp>
      <p:pic>
        <p:nvPicPr>
          <p:cNvPr id="22" name="Image 0" descr="C:\Users\brian\AppData\Local\Temp\kilo\ppt\img\harbour-logo-color.png">    </p:cNvPr>
          <p:cNvPicPr>
            <a:picLocks noChangeAspect="1"/>
          </p:cNvPicPr>
          <p:nvPr/>
        </p:nvPicPr>
        <p:blipFill>
          <a:blip r:embed="rId1"/>
          <a:stretch>
            <a:fillRect/>
          </a:stretch>
        </p:blipFill>
        <p:spPr>
          <a:xfrm>
            <a:off x="7315200" y="1828800"/>
            <a:ext cx="822960" cy="320040"/>
          </a:xfrm>
          <a:prstGeom prst="rect">
            <a:avLst/>
          </a:prstGeom>
        </p:spPr>
      </p:pic>
      <p:sp>
        <p:nvSpPr>
          <p:cNvPr id="23" name="Text 20"/>
          <p:cNvSpPr/>
          <p:nvPr/>
        </p:nvSpPr>
        <p:spPr>
          <a:xfrm>
            <a:off x="8229600" y="1783080"/>
            <a:ext cx="3291840" cy="411480"/>
          </a:xfrm>
          <a:prstGeom prst="rect">
            <a:avLst/>
          </a:prstGeom>
          <a:noFill/>
          <a:ln/>
        </p:spPr>
        <p:txBody>
          <a:bodyPr wrap="square" rtlCol="0" anchor="ctr"/>
          <a:lstStyle/>
          <a:p>
            <a:pPr algn="r" indent="0" marL="0">
              <a:buNone/>
            </a:pPr>
            <a:r>
              <a:rPr lang="en-US" sz="900" b="1" dirty="0">
                <a:solidFill>
                  <a:srgbClr val="002D6A"/>
                </a:solidFill>
                <a:latin typeface="Montserrat" pitchFamily="34" charset="0"/>
                <a:ea typeface="Montserrat" pitchFamily="34" charset="-122"/>
                <a:cs typeface="Montserrat" pitchFamily="34" charset="-120"/>
              </a:rPr>
              <a:t>Creative Studio      RA</a:t>
            </a:r>
            <a:endParaRPr lang="en-US" sz="900" dirty="0"/>
          </a:p>
        </p:txBody>
      </p:sp>
      <p:sp>
        <p:nvSpPr>
          <p:cNvPr id="24" name="Text 21"/>
          <p:cNvSpPr/>
          <p:nvPr/>
        </p:nvSpPr>
        <p:spPr>
          <a:xfrm>
            <a:off x="7360920" y="2286000"/>
            <a:ext cx="4114800" cy="457200"/>
          </a:xfrm>
          <a:prstGeom prst="rect">
            <a:avLst/>
          </a:prstGeom>
          <a:noFill/>
          <a:ln/>
        </p:spPr>
        <p:txBody>
          <a:bodyPr wrap="square" rtlCol="0" anchor="ctr"/>
          <a:lstStyle/>
          <a:p>
            <a:pPr indent="0" marL="0">
              <a:buNone/>
            </a:pPr>
            <a:r>
              <a:rPr lang="en-US" sz="1400" b="1" dirty="0">
                <a:solidFill>
                  <a:srgbClr val="002D6A"/>
                </a:solidFill>
                <a:latin typeface="Montserrat" pitchFamily="34" charset="0"/>
                <a:ea typeface="Montserrat" pitchFamily="34" charset="-122"/>
                <a:cs typeface="Montserrat" pitchFamily="34" charset="-120"/>
              </a:rPr>
              <a:t>Create something for your community.</a:t>
            </a:r>
            <a:endParaRPr lang="en-US" sz="1400" dirty="0"/>
          </a:p>
        </p:txBody>
      </p:sp>
      <p:sp>
        <p:nvSpPr>
          <p:cNvPr id="25" name="Shape 22"/>
          <p:cNvSpPr/>
          <p:nvPr/>
        </p:nvSpPr>
        <p:spPr>
          <a:xfrm>
            <a:off x="7360920" y="2788920"/>
            <a:ext cx="4114800" cy="411480"/>
          </a:xfrm>
          <a:prstGeom prst="roundRect">
            <a:avLst>
              <a:gd name="adj" fmla="val 13333"/>
            </a:avLst>
          </a:prstGeom>
          <a:solidFill>
            <a:srgbClr val="FFFFFF"/>
          </a:solidFill>
          <a:ln w="12700">
            <a:solidFill>
              <a:srgbClr val="F99239"/>
            </a:solidFill>
            <a:prstDash val="solid"/>
          </a:ln>
        </p:spPr>
      </p:sp>
      <p:sp>
        <p:nvSpPr>
          <p:cNvPr id="26" name="Text 23"/>
          <p:cNvSpPr/>
          <p:nvPr/>
        </p:nvSpPr>
        <p:spPr>
          <a:xfrm>
            <a:off x="7452360" y="2788920"/>
            <a:ext cx="3931920" cy="411480"/>
          </a:xfrm>
          <a:prstGeom prst="rect">
            <a:avLst/>
          </a:prstGeom>
          <a:noFill/>
          <a:ln/>
        </p:spPr>
        <p:txBody>
          <a:bodyPr wrap="square" rtlCol="0" anchor="ctr"/>
          <a:lstStyle/>
          <a:p>
            <a:pPr indent="0" marL="0">
              <a:buNone/>
            </a:pPr>
            <a:r>
              <a:rPr lang="en-US" sz="900" dirty="0">
                <a:solidFill>
                  <a:srgbClr val="64748B"/>
                </a:solidFill>
                <a:latin typeface="Montserrat" pitchFamily="34" charset="0"/>
                <a:ea typeface="Montserrat" pitchFamily="34" charset="-122"/>
                <a:cs typeface="Montserrat" pitchFamily="34" charset="-120"/>
              </a:rPr>
              <a:t>✦  Make me a flyer for a resident game night…   [Create]</a:t>
            </a:r>
            <a:endParaRPr lang="en-US" sz="900" dirty="0"/>
          </a:p>
        </p:txBody>
      </p:sp>
      <p:sp>
        <p:nvSpPr>
          <p:cNvPr id="27" name="Shape 24"/>
          <p:cNvSpPr/>
          <p:nvPr/>
        </p:nvSpPr>
        <p:spPr>
          <a:xfrm>
            <a:off x="7360920" y="3383280"/>
            <a:ext cx="950976" cy="1097280"/>
          </a:xfrm>
          <a:prstGeom prst="roundRect">
            <a:avLst>
              <a:gd name="adj" fmla="val 5769"/>
            </a:avLst>
          </a:prstGeom>
          <a:solidFill>
            <a:srgbClr val="F99239"/>
          </a:solidFill>
          <a:ln w="12700">
            <a:solidFill>
              <a:srgbClr val="FFFFFF"/>
            </a:solidFill>
            <a:prstDash val="solid"/>
          </a:ln>
        </p:spPr>
      </p:sp>
      <p:sp>
        <p:nvSpPr>
          <p:cNvPr id="28" name="Text 25"/>
          <p:cNvSpPr/>
          <p:nvPr/>
        </p:nvSpPr>
        <p:spPr>
          <a:xfrm>
            <a:off x="7360920" y="3383280"/>
            <a:ext cx="950976" cy="1097280"/>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Flyer</a:t>
            </a:r>
            <a:endParaRPr lang="en-US" sz="1000" dirty="0"/>
          </a:p>
        </p:txBody>
      </p:sp>
      <p:sp>
        <p:nvSpPr>
          <p:cNvPr id="29" name="Shape 26"/>
          <p:cNvSpPr/>
          <p:nvPr/>
        </p:nvSpPr>
        <p:spPr>
          <a:xfrm>
            <a:off x="8403336" y="3383280"/>
            <a:ext cx="950976" cy="1097280"/>
          </a:xfrm>
          <a:prstGeom prst="roundRect">
            <a:avLst>
              <a:gd name="adj" fmla="val 5769"/>
            </a:avLst>
          </a:prstGeom>
          <a:solidFill>
            <a:srgbClr val="002D6A"/>
          </a:solidFill>
          <a:ln w="12700">
            <a:solidFill>
              <a:srgbClr val="FFFFFF"/>
            </a:solidFill>
            <a:prstDash val="solid"/>
          </a:ln>
        </p:spPr>
      </p:sp>
      <p:sp>
        <p:nvSpPr>
          <p:cNvPr id="30" name="Text 27"/>
          <p:cNvSpPr/>
          <p:nvPr/>
        </p:nvSpPr>
        <p:spPr>
          <a:xfrm>
            <a:off x="8403336" y="3383280"/>
            <a:ext cx="950976" cy="1097280"/>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Social</a:t>
            </a:r>
            <a:endParaRPr lang="en-US" sz="1000" dirty="0"/>
          </a:p>
        </p:txBody>
      </p:sp>
      <p:sp>
        <p:nvSpPr>
          <p:cNvPr id="31" name="Shape 28"/>
          <p:cNvSpPr/>
          <p:nvPr/>
        </p:nvSpPr>
        <p:spPr>
          <a:xfrm>
            <a:off x="9445752" y="3383280"/>
            <a:ext cx="950976" cy="1097280"/>
          </a:xfrm>
          <a:prstGeom prst="roundRect">
            <a:avLst>
              <a:gd name="adj" fmla="val 5769"/>
            </a:avLst>
          </a:prstGeom>
          <a:solidFill>
            <a:srgbClr val="F99239"/>
          </a:solidFill>
          <a:ln w="12700">
            <a:solidFill>
              <a:srgbClr val="FFFFFF"/>
            </a:solidFill>
            <a:prstDash val="solid"/>
          </a:ln>
        </p:spPr>
      </p:sp>
      <p:sp>
        <p:nvSpPr>
          <p:cNvPr id="32" name="Text 29"/>
          <p:cNvSpPr/>
          <p:nvPr/>
        </p:nvSpPr>
        <p:spPr>
          <a:xfrm>
            <a:off x="9445752" y="3383280"/>
            <a:ext cx="950976" cy="1097280"/>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Event</a:t>
            </a:r>
            <a:endParaRPr lang="en-US" sz="1000" dirty="0"/>
          </a:p>
        </p:txBody>
      </p:sp>
      <p:sp>
        <p:nvSpPr>
          <p:cNvPr id="33" name="Shape 30"/>
          <p:cNvSpPr/>
          <p:nvPr/>
        </p:nvSpPr>
        <p:spPr>
          <a:xfrm>
            <a:off x="10488168" y="3383280"/>
            <a:ext cx="950976" cy="1097280"/>
          </a:xfrm>
          <a:prstGeom prst="roundRect">
            <a:avLst>
              <a:gd name="adj" fmla="val 5769"/>
            </a:avLst>
          </a:prstGeom>
          <a:solidFill>
            <a:srgbClr val="002D6A"/>
          </a:solidFill>
          <a:ln w="12700">
            <a:solidFill>
              <a:srgbClr val="FFFFFF"/>
            </a:solidFill>
            <a:prstDash val="solid"/>
          </a:ln>
        </p:spPr>
      </p:sp>
      <p:sp>
        <p:nvSpPr>
          <p:cNvPr id="34" name="Text 31"/>
          <p:cNvSpPr/>
          <p:nvPr/>
        </p:nvSpPr>
        <p:spPr>
          <a:xfrm>
            <a:off x="10488168" y="3383280"/>
            <a:ext cx="950976" cy="1097280"/>
          </a:xfrm>
          <a:prstGeom prst="rect">
            <a:avLst/>
          </a:prstGeom>
          <a:noFill/>
          <a:ln/>
        </p:spPr>
        <p:txBody>
          <a:bodyPr wrap="square"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Sign</a:t>
            </a:r>
            <a:endParaRPr lang="en-US" sz="10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CREATIVE STUDIO</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Templates &amp; the design editor</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3611880" cy="3429000"/>
          </a:xfrm>
          <a:prstGeom prst="roundRect">
            <a:avLst>
              <a:gd name="adj" fmla="val 2133"/>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429000"/>
          </a:xfrm>
          <a:prstGeom prst="rect">
            <a:avLst/>
          </a:prstGeom>
          <a:solidFill>
            <a:srgbClr val="F99239"/>
          </a:solidFill>
          <a:ln w="12700">
            <a:solidFill>
              <a:srgbClr val="F99239"/>
            </a:solidFill>
            <a:prstDash val="solid"/>
          </a:ln>
        </p:spPr>
      </p:sp>
      <p:sp>
        <p:nvSpPr>
          <p:cNvPr id="7" name="Text 5"/>
          <p:cNvSpPr/>
          <p:nvPr/>
        </p:nvSpPr>
        <p:spPr>
          <a:xfrm>
            <a:off x="749808" y="1874520"/>
            <a:ext cx="32918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1 · Pick a template</a:t>
            </a:r>
            <a:endParaRPr lang="en-US" sz="1300" dirty="0"/>
          </a:p>
        </p:txBody>
      </p:sp>
      <p:sp>
        <p:nvSpPr>
          <p:cNvPr id="8" name="Text 6"/>
          <p:cNvSpPr/>
          <p:nvPr/>
        </p:nvSpPr>
        <p:spPr>
          <a:xfrm>
            <a:off x="685800" y="2240280"/>
            <a:ext cx="3337560" cy="288036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Filter by group and format, or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 Favorites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Hover →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Preview</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or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Use Template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 to favorite templates you reuse</a:t>
            </a:r>
            <a:endParaRPr lang="en-US" sz="1200" dirty="0"/>
          </a:p>
        </p:txBody>
      </p:sp>
      <p:sp>
        <p:nvSpPr>
          <p:cNvPr id="9" name="Shape 7"/>
          <p:cNvSpPr/>
          <p:nvPr/>
        </p:nvSpPr>
        <p:spPr>
          <a:xfrm>
            <a:off x="4297680" y="1783080"/>
            <a:ext cx="3611880" cy="3429000"/>
          </a:xfrm>
          <a:prstGeom prst="roundRect">
            <a:avLst>
              <a:gd name="adj" fmla="val 2133"/>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4297680" y="1783080"/>
            <a:ext cx="73152" cy="3429000"/>
          </a:xfrm>
          <a:prstGeom prst="rect">
            <a:avLst/>
          </a:prstGeom>
          <a:solidFill>
            <a:srgbClr val="002D6A"/>
          </a:solidFill>
          <a:ln w="12700">
            <a:solidFill>
              <a:srgbClr val="002D6A"/>
            </a:solidFill>
            <a:prstDash val="solid"/>
          </a:ln>
        </p:spPr>
      </p:sp>
      <p:sp>
        <p:nvSpPr>
          <p:cNvPr id="11" name="Text 9"/>
          <p:cNvSpPr/>
          <p:nvPr/>
        </p:nvSpPr>
        <p:spPr>
          <a:xfrm>
            <a:off x="4498848" y="1874520"/>
            <a:ext cx="32918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2 · Edit</a:t>
            </a:r>
            <a:endParaRPr lang="en-US" sz="1300" dirty="0"/>
          </a:p>
        </p:txBody>
      </p:sp>
      <p:sp>
        <p:nvSpPr>
          <p:cNvPr id="12" name="Text 10"/>
          <p:cNvSpPr/>
          <p:nvPr/>
        </p:nvSpPr>
        <p:spPr>
          <a:xfrm>
            <a:off x="4434840" y="2240280"/>
            <a:ext cx="3337560" cy="2880360"/>
          </a:xfrm>
          <a:prstGeom prst="rect">
            <a:avLst/>
          </a:prstGeom>
          <a:noFill/>
          <a:ln/>
        </p:spPr>
        <p:txBody>
          <a:bodyPr wrap="square" rtlCol="0" anchor="t"/>
          <a:lstStyle/>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Content: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headline, date, time, location, call to action, QR link, contact</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AI:</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Write, Make Shorter, Friendlier, Fix Grammar, Social Caption, SMS / Email version</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Images:</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Photo Library or an Entrata Media Library link</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Layout: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Letter, Notice, Post, Story, Sign</a:t>
            </a:r>
            <a:endParaRPr lang="en-US" sz="1100" dirty="0"/>
          </a:p>
        </p:txBody>
      </p:sp>
      <p:sp>
        <p:nvSpPr>
          <p:cNvPr id="13" name="Shape 11"/>
          <p:cNvSpPr/>
          <p:nvPr/>
        </p:nvSpPr>
        <p:spPr>
          <a:xfrm>
            <a:off x="8046720" y="1783080"/>
            <a:ext cx="3611880" cy="3429000"/>
          </a:xfrm>
          <a:prstGeom prst="roundRect">
            <a:avLst>
              <a:gd name="adj" fmla="val 2133"/>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8046720" y="1783080"/>
            <a:ext cx="73152" cy="3429000"/>
          </a:xfrm>
          <a:prstGeom prst="rect">
            <a:avLst/>
          </a:prstGeom>
          <a:solidFill>
            <a:srgbClr val="1F5FA8"/>
          </a:solidFill>
          <a:ln w="12700">
            <a:solidFill>
              <a:srgbClr val="1F5FA8"/>
            </a:solidFill>
            <a:prstDash val="solid"/>
          </a:ln>
        </p:spPr>
      </p:sp>
      <p:sp>
        <p:nvSpPr>
          <p:cNvPr id="15" name="Text 13"/>
          <p:cNvSpPr/>
          <p:nvPr/>
        </p:nvSpPr>
        <p:spPr>
          <a:xfrm>
            <a:off x="8247888" y="1874520"/>
            <a:ext cx="3291840" cy="347472"/>
          </a:xfrm>
          <a:prstGeom prst="rect">
            <a:avLst/>
          </a:prstGeom>
          <a:noFill/>
          <a:ln/>
        </p:spPr>
        <p:txBody>
          <a:bodyPr wrap="square" rtlCol="0" anchor="ctr"/>
          <a:lstStyle/>
          <a:p>
            <a:pPr indent="0" marL="0">
              <a:buNone/>
            </a:pPr>
            <a:r>
              <a:rPr lang="en-US" sz="1300" b="1" dirty="0">
                <a:solidFill>
                  <a:srgbClr val="1F5FA8"/>
                </a:solidFill>
                <a:latin typeface="Montserrat" pitchFamily="34" charset="0"/>
                <a:ea typeface="Montserrat" pitchFamily="34" charset="-122"/>
                <a:cs typeface="Montserrat" pitchFamily="34" charset="-120"/>
              </a:rPr>
              <a:t>3 · Check &amp; save</a:t>
            </a:r>
            <a:endParaRPr lang="en-US" sz="1300" dirty="0"/>
          </a:p>
        </p:txBody>
      </p:sp>
      <p:sp>
        <p:nvSpPr>
          <p:cNvPr id="16" name="Text 14"/>
          <p:cNvSpPr/>
          <p:nvPr/>
        </p:nvSpPr>
        <p:spPr>
          <a:xfrm>
            <a:off x="8183880" y="2240280"/>
            <a:ext cx="3337560" cy="2880360"/>
          </a:xfrm>
          <a:prstGeom prst="rect">
            <a:avLst/>
          </a:prstGeom>
          <a:noFill/>
          <a:ln/>
        </p:spPr>
        <p:txBody>
          <a:bodyPr wrap="square" rtlCol="0" anchor="t"/>
          <a:lstStyle/>
          <a:p>
            <a:pPr marL="342900" indent="-342900">
              <a:lnSpc>
                <a:spcPct val="105000"/>
              </a:lnSpc>
              <a:spcAft>
                <a:spcPts val="700"/>
              </a:spcAft>
              <a:buSzPct val="100000"/>
              <a:buChar char="●"/>
            </a:pPr>
            <a:r>
              <a:rPr lang="en-US" sz="1100" dirty="0">
                <a:solidFill>
                  <a:srgbClr val="14213D"/>
                </a:solidFill>
                <a:latin typeface="Montserrat" pitchFamily="34" charset="0"/>
                <a:ea typeface="Montserrat" pitchFamily="34" charset="-122"/>
                <a:cs typeface="Montserrat" pitchFamily="34" charset="-120"/>
              </a:rPr>
              <a:t>Brand check: </a:t>
            </a:r>
            <a:pPr indent="0" marL="0">
              <a:lnSpc>
                <a:spcPct val="105000"/>
              </a:lnSpc>
              <a:spcAft>
                <a:spcPts val="700"/>
              </a:spcAft>
              <a:buNone/>
            </a:pPr>
            <a:r>
              <a:rPr lang="en-US" sz="1100" b="1" dirty="0">
                <a:solidFill>
                  <a:srgbClr val="002D6A"/>
                </a:solidFill>
                <a:latin typeface="Montserrat" pitchFamily="34" charset="0"/>
                <a:ea typeface="Montserrat" pitchFamily="34" charset="-122"/>
                <a:cs typeface="Montserrat" pitchFamily="34" charset="-120"/>
              </a:rPr>
              <a:t>“Looks on-brand and ready to export”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or warnings to fix</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Save Draft</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anytime</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Submit for Approval</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when ready</a:t>
            </a:r>
            <a:endParaRPr lang="en-US" sz="1100" dirty="0"/>
          </a:p>
          <a:p>
            <a:pPr marL="342900" indent="-342900">
              <a:lnSpc>
                <a:spcPct val="105000"/>
              </a:lnSpc>
              <a:spcAft>
                <a:spcPts val="700"/>
              </a:spcAft>
              <a:buSzPct val="100000"/>
              <a:buChar char="●"/>
            </a:pPr>
            <a:r>
              <a:rPr lang="en-US" sz="1100" b="1" dirty="0">
                <a:solidFill>
                  <a:srgbClr val="002D6A"/>
                </a:solidFill>
                <a:latin typeface="Montserrat" pitchFamily="34" charset="0"/>
                <a:ea typeface="Montserrat" pitchFamily="34" charset="-122"/>
                <a:cs typeface="Montserrat" pitchFamily="34" charset="-120"/>
              </a:rPr>
              <a:t>Download ▾</a:t>
            </a:r>
            <a:pPr indent="0" marL="0">
              <a:lnSpc>
                <a:spcPct val="105000"/>
              </a:lnSpc>
              <a:spcAft>
                <a:spcPts val="700"/>
              </a:spcAft>
              <a:buNone/>
            </a:pPr>
            <a:r>
              <a:rPr lang="en-US" sz="1100" dirty="0">
                <a:solidFill>
                  <a:srgbClr val="14213D"/>
                </a:solidFill>
                <a:latin typeface="Montserrat" pitchFamily="34" charset="0"/>
                <a:ea typeface="Montserrat" pitchFamily="34" charset="-122"/>
                <a:cs typeface="Montserrat" pitchFamily="34" charset="-120"/>
              </a:rPr>
              <a:t> PNG / PDF / Print PDF (300 dpi)</a:t>
            </a:r>
            <a:endParaRPr lang="en-US" sz="1100" dirty="0"/>
          </a:p>
        </p:txBody>
      </p:sp>
      <p:sp>
        <p:nvSpPr>
          <p:cNvPr id="17" name="Shape 15"/>
          <p:cNvSpPr/>
          <p:nvPr/>
        </p:nvSpPr>
        <p:spPr>
          <a:xfrm>
            <a:off x="548640" y="5394960"/>
            <a:ext cx="11109960" cy="548640"/>
          </a:xfrm>
          <a:prstGeom prst="roundRect">
            <a:avLst>
              <a:gd name="adj" fmla="val 13333"/>
            </a:avLst>
          </a:prstGeom>
          <a:solidFill>
            <a:srgbClr val="FFF7ED"/>
          </a:solidFill>
          <a:ln w="12700">
            <a:solidFill>
              <a:srgbClr val="FED7AA"/>
            </a:solidFill>
            <a:prstDash val="solid"/>
          </a:ln>
        </p:spPr>
      </p:sp>
      <p:sp>
        <p:nvSpPr>
          <p:cNvPr id="18" name="Shape 16"/>
          <p:cNvSpPr/>
          <p:nvPr/>
        </p:nvSpPr>
        <p:spPr>
          <a:xfrm>
            <a:off x="548640" y="5394960"/>
            <a:ext cx="73152" cy="548640"/>
          </a:xfrm>
          <a:prstGeom prst="rect">
            <a:avLst/>
          </a:prstGeom>
          <a:solidFill>
            <a:srgbClr val="F99239"/>
          </a:solidFill>
          <a:ln w="12700">
            <a:solidFill>
              <a:srgbClr val="F99239"/>
            </a:solidFill>
            <a:prstDash val="solid"/>
          </a:ln>
        </p:spPr>
      </p:sp>
      <p:sp>
        <p:nvSpPr>
          <p:cNvPr id="19" name="Text 17"/>
          <p:cNvSpPr/>
          <p:nvPr/>
        </p:nvSpPr>
        <p:spPr>
          <a:xfrm>
            <a:off x="731520" y="5394960"/>
            <a:ext cx="10835640" cy="5486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Brand colors, fonts and logos are </a:t>
            </a:r>
            <a:pPr indent="0" marL="0">
              <a:buNone/>
            </a:pPr>
            <a:r>
              <a:rPr lang="en-US" sz="1100" b="1" dirty="0">
                <a:solidFill>
                  <a:srgbClr val="002D6A"/>
                </a:solidFill>
                <a:latin typeface="Montserrat" pitchFamily="34" charset="0"/>
                <a:ea typeface="Montserrat" pitchFamily="34" charset="-122"/>
                <a:cs typeface="Montserrat" pitchFamily="34" charset="-120"/>
              </a:rPr>
              <a:t>locked</a:t>
            </a:r>
            <a:pPr indent="0" marL="0">
              <a:buNone/>
            </a:pPr>
            <a:r>
              <a:rPr lang="en-US" sz="1100" dirty="0">
                <a:solidFill>
                  <a:srgbClr val="14213D"/>
                </a:solidFill>
                <a:latin typeface="Montserrat" pitchFamily="34" charset="0"/>
                <a:ea typeface="Montserrat" pitchFamily="34" charset="-122"/>
                <a:cs typeface="Montserrat" pitchFamily="34" charset="-120"/>
              </a:rPr>
              <a:t>. Always proofread dates, times and locations — AI drafts must be reviewed.</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CREATIVE STUDIO</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Campaigns &amp; Communications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5440680" cy="3429000"/>
          </a:xfrm>
          <a:prstGeom prst="roundRect">
            <a:avLst>
              <a:gd name="adj" fmla="val 2133"/>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429000"/>
          </a:xfrm>
          <a:prstGeom prst="rect">
            <a:avLst/>
          </a:prstGeom>
          <a:solidFill>
            <a:srgbClr val="F99239"/>
          </a:solidFill>
          <a:ln w="12700">
            <a:solidFill>
              <a:srgbClr val="F99239"/>
            </a:solidFill>
            <a:prstDash val="solid"/>
          </a:ln>
        </p:spPr>
      </p:sp>
      <p:sp>
        <p:nvSpPr>
          <p:cNvPr id="7" name="Text 5"/>
          <p:cNvSpPr/>
          <p:nvPr/>
        </p:nvSpPr>
        <p:spPr>
          <a:xfrm>
            <a:off x="749808" y="1874520"/>
            <a:ext cx="51206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Campaigns — one event, every format</a:t>
            </a:r>
            <a:endParaRPr lang="en-US" sz="1300" dirty="0"/>
          </a:p>
        </p:txBody>
      </p:sp>
      <p:sp>
        <p:nvSpPr>
          <p:cNvPr id="8" name="Text 6"/>
          <p:cNvSpPr/>
          <p:nvPr/>
        </p:nvSpPr>
        <p:spPr>
          <a:xfrm>
            <a:off x="685800" y="2240280"/>
            <a:ext cx="5166360" cy="288036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Enter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Event name, Date, Time, Location, Description, Photo, Audience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Click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Generate Campaign</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Get an 8.5×11 flyer, Instagram post &amp; story, digital sign, resident email, SMS reminder and caption</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Save all to My Projects</a:t>
            </a:r>
            <a:endParaRPr lang="en-US" sz="1200" dirty="0"/>
          </a:p>
        </p:txBody>
      </p:sp>
      <p:sp>
        <p:nvSpPr>
          <p:cNvPr id="9" name="Shape 7"/>
          <p:cNvSpPr/>
          <p:nvPr/>
        </p:nvSpPr>
        <p:spPr>
          <a:xfrm>
            <a:off x="6217920" y="1783080"/>
            <a:ext cx="5440680" cy="3429000"/>
          </a:xfrm>
          <a:prstGeom prst="roundRect">
            <a:avLst>
              <a:gd name="adj" fmla="val 2133"/>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217920" y="1783080"/>
            <a:ext cx="73152" cy="3429000"/>
          </a:xfrm>
          <a:prstGeom prst="rect">
            <a:avLst/>
          </a:prstGeom>
          <a:solidFill>
            <a:srgbClr val="002D6A"/>
          </a:solidFill>
          <a:ln w="12700">
            <a:solidFill>
              <a:srgbClr val="002D6A"/>
            </a:solidFill>
            <a:prstDash val="solid"/>
          </a:ln>
        </p:spPr>
      </p:sp>
      <p:sp>
        <p:nvSpPr>
          <p:cNvPr id="11" name="Text 9"/>
          <p:cNvSpPr/>
          <p:nvPr/>
        </p:nvSpPr>
        <p:spPr>
          <a:xfrm>
            <a:off x="6419088" y="1874520"/>
            <a:ext cx="51206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Communications — approved copy</a:t>
            </a:r>
            <a:endParaRPr lang="en-US" sz="1300" dirty="0"/>
          </a:p>
        </p:txBody>
      </p:sp>
      <p:sp>
        <p:nvSpPr>
          <p:cNvPr id="12" name="Text 10"/>
          <p:cNvSpPr/>
          <p:nvPr/>
        </p:nvSpPr>
        <p:spPr>
          <a:xfrm>
            <a:off x="6355080" y="2240280"/>
            <a:ext cx="5166360" cy="288036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Browse approved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email, text and social</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templates by channel &amp; category</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Use This Template</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or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Copy</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AI rewrites,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SMS counter</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(160 characters per segment) and wording check</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Turn into a flyer</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Save to My Projects</a:t>
            </a:r>
            <a:endParaRPr lang="en-US" sz="1200" dirty="0"/>
          </a:p>
        </p:txBody>
      </p:sp>
      <p:sp>
        <p:nvSpPr>
          <p:cNvPr id="13" name="Shape 11"/>
          <p:cNvSpPr/>
          <p:nvPr/>
        </p:nvSpPr>
        <p:spPr>
          <a:xfrm>
            <a:off x="548640" y="5394960"/>
            <a:ext cx="11109960" cy="548640"/>
          </a:xfrm>
          <a:prstGeom prst="roundRect">
            <a:avLst>
              <a:gd name="adj" fmla="val 13333"/>
            </a:avLst>
          </a:prstGeom>
          <a:solidFill>
            <a:srgbClr val="FFF7ED"/>
          </a:solidFill>
          <a:ln w="12700">
            <a:solidFill>
              <a:srgbClr val="FED7AA"/>
            </a:solidFill>
            <a:prstDash val="solid"/>
          </a:ln>
        </p:spPr>
      </p:sp>
      <p:sp>
        <p:nvSpPr>
          <p:cNvPr id="14" name="Shape 12"/>
          <p:cNvSpPr/>
          <p:nvPr/>
        </p:nvSpPr>
        <p:spPr>
          <a:xfrm>
            <a:off x="548640" y="5394960"/>
            <a:ext cx="73152" cy="548640"/>
          </a:xfrm>
          <a:prstGeom prst="rect">
            <a:avLst/>
          </a:prstGeom>
          <a:solidFill>
            <a:srgbClr val="F99239"/>
          </a:solidFill>
          <a:ln w="12700">
            <a:solidFill>
              <a:srgbClr val="F99239"/>
            </a:solidFill>
            <a:prstDash val="solid"/>
          </a:ln>
        </p:spPr>
      </p:sp>
      <p:sp>
        <p:nvSpPr>
          <p:cNvPr id="15" name="Text 13"/>
          <p:cNvSpPr/>
          <p:nvPr/>
        </p:nvSpPr>
        <p:spPr>
          <a:xfrm>
            <a:off x="731520" y="5394960"/>
            <a:ext cx="10835640" cy="54864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IMPORTANT  </a:t>
            </a:r>
            <a:pPr indent="0" marL="0">
              <a:buNone/>
            </a:pPr>
            <a:r>
              <a:rPr lang="en-US" sz="1100" dirty="0">
                <a:solidFill>
                  <a:srgbClr val="14213D"/>
                </a:solidFill>
                <a:latin typeface="Montserrat" pitchFamily="34" charset="0"/>
                <a:ea typeface="Montserrat" pitchFamily="34" charset="-122"/>
                <a:cs typeface="Montserrat" pitchFamily="34" charset="-120"/>
              </a:rPr>
              <a:t>Emergency templates: </a:t>
            </a:r>
            <a:pPr indent="0" marL="0">
              <a:buNone/>
            </a:pPr>
            <a:r>
              <a:rPr lang="en-US" sz="1100" b="1" dirty="0">
                <a:solidFill>
                  <a:srgbClr val="002D6A"/>
                </a:solidFill>
                <a:latin typeface="Montserrat" pitchFamily="34" charset="0"/>
                <a:ea typeface="Montserrat" pitchFamily="34" charset="-122"/>
                <a:cs typeface="Montserrat" pitchFamily="34" charset="-120"/>
              </a:rPr>
              <a:t>verify every detail with your supervisor before sending.</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CREATIVE STUDIO</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Newsletter, Entrata HTML, Brand Kit &amp; Photos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544068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1600200"/>
          </a:xfrm>
          <a:prstGeom prst="rect">
            <a:avLst/>
          </a:prstGeom>
          <a:solidFill>
            <a:srgbClr val="F99239"/>
          </a:solidFill>
          <a:ln w="12700">
            <a:solidFill>
              <a:srgbClr val="F99239"/>
            </a:solidFill>
            <a:prstDash val="solid"/>
          </a:ln>
        </p:spPr>
      </p:sp>
      <p:sp>
        <p:nvSpPr>
          <p:cNvPr id="7" name="Text 5"/>
          <p:cNvSpPr/>
          <p:nvPr/>
        </p:nvSpPr>
        <p:spPr>
          <a:xfrm>
            <a:off x="749808" y="1874520"/>
            <a:ext cx="51206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Monthly Newsletter</a:t>
            </a:r>
            <a:endParaRPr lang="en-US" sz="1300" dirty="0"/>
          </a:p>
        </p:txBody>
      </p:sp>
      <p:sp>
        <p:nvSpPr>
          <p:cNvPr id="8" name="Text 6"/>
          <p:cNvSpPr/>
          <p:nvPr/>
        </p:nvSpPr>
        <p:spPr>
          <a:xfrm>
            <a:off x="749808" y="2240280"/>
            <a:ext cx="5074920" cy="1051560"/>
          </a:xfrm>
          <a:prstGeom prst="rect">
            <a:avLst/>
          </a:prstGeom>
          <a:noFill/>
          <a:ln/>
        </p:spPr>
        <p:txBody>
          <a:bodyPr wrap="square" rtlCol="0" anchor="t"/>
          <a:lstStyle/>
          <a:p>
            <a:pPr indent="0" marL="0">
              <a:buNone/>
            </a:pPr>
            <a:r>
              <a:rPr lang="en-US" sz="1200" dirty="0">
                <a:solidFill>
                  <a:srgbClr val="14213D"/>
                </a:solidFill>
                <a:latin typeface="Montserrat" pitchFamily="34" charset="0"/>
                <a:ea typeface="Montserrat" pitchFamily="34" charset="-122"/>
                <a:cs typeface="Montserrat" pitchFamily="34" charset="-120"/>
              </a:rPr>
              <a:t>Build with blocks, </a:t>
            </a:r>
            <a:pPr indent="0" marL="0">
              <a:buNone/>
            </a:pPr>
            <a:r>
              <a:rPr lang="en-US" sz="1200" b="1" dirty="0">
                <a:solidFill>
                  <a:srgbClr val="002D6A"/>
                </a:solidFill>
                <a:latin typeface="Montserrat" pitchFamily="34" charset="0"/>
                <a:ea typeface="Montserrat" pitchFamily="34" charset="-122"/>
                <a:cs typeface="Montserrat" pitchFamily="34" charset="-120"/>
              </a:rPr>
              <a:t>Preview</a:t>
            </a:r>
            <a:pPr indent="0" marL="0">
              <a:buNone/>
            </a:pPr>
            <a:r>
              <a:rPr lang="en-US" sz="1200" dirty="0">
                <a:solidFill>
                  <a:srgbClr val="14213D"/>
                </a:solidFill>
                <a:latin typeface="Montserrat" pitchFamily="34" charset="0"/>
                <a:ea typeface="Montserrat" pitchFamily="34" charset="-122"/>
                <a:cs typeface="Montserrat" pitchFamily="34" charset="-120"/>
              </a:rPr>
              <a:t>, </a:t>
            </a:r>
            <a:pPr indent="0" marL="0">
              <a:buNone/>
            </a:pPr>
            <a:r>
              <a:rPr lang="en-US" sz="1200" b="1" dirty="0">
                <a:solidFill>
                  <a:srgbClr val="002D6A"/>
                </a:solidFill>
                <a:latin typeface="Montserrat" pitchFamily="34" charset="0"/>
                <a:ea typeface="Montserrat" pitchFamily="34" charset="-122"/>
                <a:cs typeface="Montserrat" pitchFamily="34" charset="-120"/>
              </a:rPr>
              <a:t>Validate</a:t>
            </a:r>
            <a:pPr indent="0" marL="0">
              <a:buNone/>
            </a:pPr>
            <a:r>
              <a:rPr lang="en-US" sz="1200" dirty="0">
                <a:solidFill>
                  <a:srgbClr val="14213D"/>
                </a:solidFill>
                <a:latin typeface="Montserrat" pitchFamily="34" charset="0"/>
                <a:ea typeface="Montserrat" pitchFamily="34" charset="-122"/>
                <a:cs typeface="Montserrat" pitchFamily="34" charset="-120"/>
              </a:rPr>
              <a:t>, </a:t>
            </a:r>
            <a:pPr indent="0" marL="0">
              <a:buNone/>
            </a:pPr>
            <a:r>
              <a:rPr lang="en-US" sz="1200" b="1" dirty="0">
                <a:solidFill>
                  <a:srgbClr val="002D6A"/>
                </a:solidFill>
                <a:latin typeface="Montserrat" pitchFamily="34" charset="0"/>
                <a:ea typeface="Montserrat" pitchFamily="34" charset="-122"/>
                <a:cs typeface="Montserrat" pitchFamily="34" charset="-120"/>
              </a:rPr>
              <a:t>Send Test</a:t>
            </a:r>
            <a:pPr indent="0" marL="0">
              <a:buNone/>
            </a:pPr>
            <a:r>
              <a:rPr lang="en-US" sz="1200" dirty="0">
                <a:solidFill>
                  <a:srgbClr val="14213D"/>
                </a:solidFill>
                <a:latin typeface="Montserrat" pitchFamily="34" charset="0"/>
                <a:ea typeface="Montserrat" pitchFamily="34" charset="-122"/>
                <a:cs typeface="Montserrat" pitchFamily="34" charset="-120"/>
              </a:rPr>
              <a:t>, </a:t>
            </a:r>
            <a:pPr indent="0" marL="0">
              <a:buNone/>
            </a:pPr>
            <a:r>
              <a:rPr lang="en-US" sz="1200" b="1" dirty="0">
                <a:solidFill>
                  <a:srgbClr val="002D6A"/>
                </a:solidFill>
                <a:latin typeface="Montserrat" pitchFamily="34" charset="0"/>
                <a:ea typeface="Montserrat" pitchFamily="34" charset="-122"/>
                <a:cs typeface="Montserrat" pitchFamily="34" charset="-120"/>
              </a:rPr>
              <a:t>Save Draft</a:t>
            </a:r>
            <a:pPr indent="0" marL="0">
              <a:buNone/>
            </a:pPr>
            <a:r>
              <a:rPr lang="en-US" sz="1200" dirty="0">
                <a:solidFill>
                  <a:srgbClr val="14213D"/>
                </a:solidFill>
                <a:latin typeface="Montserrat" pitchFamily="34" charset="0"/>
                <a:ea typeface="Montserrat" pitchFamily="34" charset="-122"/>
                <a:cs typeface="Montserrat" pitchFamily="34" charset="-120"/>
              </a:rPr>
              <a:t>, </a:t>
            </a:r>
            <a:pPr indent="0" marL="0">
              <a:buNone/>
            </a:pPr>
            <a:r>
              <a:rPr lang="en-US" sz="1200" b="1" dirty="0">
                <a:solidFill>
                  <a:srgbClr val="002D6A"/>
                </a:solidFill>
                <a:latin typeface="Montserrat" pitchFamily="34" charset="0"/>
                <a:ea typeface="Montserrat" pitchFamily="34" charset="-122"/>
                <a:cs typeface="Montserrat" pitchFamily="34" charset="-120"/>
              </a:rPr>
              <a:t>Copy Entrata HTML</a:t>
            </a:r>
            <a:pPr indent="0" marL="0">
              <a:buNone/>
            </a:pPr>
            <a:r>
              <a:rPr lang="en-US" sz="1200" dirty="0">
                <a:solidFill>
                  <a:srgbClr val="14213D"/>
                </a:solidFill>
                <a:latin typeface="Montserrat" pitchFamily="34" charset="0"/>
                <a:ea typeface="Montserrat" pitchFamily="34" charset="-122"/>
                <a:cs typeface="Montserrat" pitchFamily="34" charset="-120"/>
              </a:rPr>
              <a:t>. Approval is done by RECs/Admins.</a:t>
            </a:r>
            <a:endParaRPr lang="en-US" sz="1200" dirty="0"/>
          </a:p>
        </p:txBody>
      </p:sp>
      <p:sp>
        <p:nvSpPr>
          <p:cNvPr id="9" name="Shape 7"/>
          <p:cNvSpPr/>
          <p:nvPr/>
        </p:nvSpPr>
        <p:spPr>
          <a:xfrm>
            <a:off x="6126480" y="1783080"/>
            <a:ext cx="544068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126480" y="1783080"/>
            <a:ext cx="73152" cy="1600200"/>
          </a:xfrm>
          <a:prstGeom prst="rect">
            <a:avLst/>
          </a:prstGeom>
          <a:solidFill>
            <a:srgbClr val="002D6A"/>
          </a:solidFill>
          <a:ln w="12700">
            <a:solidFill>
              <a:srgbClr val="002D6A"/>
            </a:solidFill>
            <a:prstDash val="solid"/>
          </a:ln>
        </p:spPr>
      </p:sp>
      <p:sp>
        <p:nvSpPr>
          <p:cNvPr id="11" name="Text 9"/>
          <p:cNvSpPr/>
          <p:nvPr/>
        </p:nvSpPr>
        <p:spPr>
          <a:xfrm>
            <a:off x="6327648" y="1874520"/>
            <a:ext cx="51206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HTML – Entrata</a:t>
            </a:r>
            <a:endParaRPr lang="en-US" sz="1300" dirty="0"/>
          </a:p>
        </p:txBody>
      </p:sp>
      <p:sp>
        <p:nvSpPr>
          <p:cNvPr id="12" name="Text 10"/>
          <p:cNvSpPr/>
          <p:nvPr/>
        </p:nvSpPr>
        <p:spPr>
          <a:xfrm>
            <a:off x="6327648" y="2240280"/>
            <a:ext cx="5074920" cy="1051560"/>
          </a:xfrm>
          <a:prstGeom prst="rect">
            <a:avLst/>
          </a:prstGeom>
          <a:noFill/>
          <a:ln/>
        </p:spPr>
        <p:txBody>
          <a:bodyPr wrap="square" rtlCol="0" anchor="t"/>
          <a:lstStyle/>
          <a:p>
            <a:pPr indent="0" marL="0">
              <a:buNone/>
            </a:pPr>
            <a:r>
              <a:rPr lang="en-US" sz="1200" dirty="0">
                <a:solidFill>
                  <a:srgbClr val="14213D"/>
                </a:solidFill>
                <a:latin typeface="Montserrat" pitchFamily="34" charset="0"/>
                <a:ea typeface="Montserrat" pitchFamily="34" charset="-122"/>
                <a:cs typeface="Montserrat" pitchFamily="34" charset="-120"/>
              </a:rPr>
              <a:t>Paste or upload Entrata HTML and edit </a:t>
            </a:r>
            <a:pPr indent="0" marL="0">
              <a:buNone/>
            </a:pPr>
            <a:r>
              <a:rPr lang="en-US" sz="1200" b="1" dirty="0">
                <a:solidFill>
                  <a:srgbClr val="002D6A"/>
                </a:solidFill>
                <a:latin typeface="Montserrat" pitchFamily="34" charset="0"/>
                <a:ea typeface="Montserrat" pitchFamily="34" charset="-122"/>
                <a:cs typeface="Montserrat" pitchFamily="34" charset="-120"/>
              </a:rPr>
              <a:t>text only</a:t>
            </a:r>
            <a:pPr indent="0" marL="0">
              <a:buNone/>
            </a:pPr>
            <a:r>
              <a:rPr lang="en-US" sz="1200" dirty="0">
                <a:solidFill>
                  <a:srgbClr val="14213D"/>
                </a:solidFill>
                <a:latin typeface="Montserrat" pitchFamily="34" charset="0"/>
                <a:ea typeface="Montserrat" pitchFamily="34" charset="-122"/>
                <a:cs typeface="Montserrat" pitchFamily="34" charset="-120"/>
              </a:rPr>
              <a:t> — layout, styles, links and images stay locked.</a:t>
            </a:r>
            <a:endParaRPr lang="en-US" sz="1200" dirty="0"/>
          </a:p>
        </p:txBody>
      </p:sp>
      <p:sp>
        <p:nvSpPr>
          <p:cNvPr id="13" name="Shape 11"/>
          <p:cNvSpPr/>
          <p:nvPr/>
        </p:nvSpPr>
        <p:spPr>
          <a:xfrm>
            <a:off x="548640" y="3566160"/>
            <a:ext cx="544068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4" name="Shape 12"/>
          <p:cNvSpPr/>
          <p:nvPr/>
        </p:nvSpPr>
        <p:spPr>
          <a:xfrm>
            <a:off x="548640" y="3566160"/>
            <a:ext cx="73152" cy="1600200"/>
          </a:xfrm>
          <a:prstGeom prst="rect">
            <a:avLst/>
          </a:prstGeom>
          <a:solidFill>
            <a:srgbClr val="1F5FA8"/>
          </a:solidFill>
          <a:ln w="12700">
            <a:solidFill>
              <a:srgbClr val="1F5FA8"/>
            </a:solidFill>
            <a:prstDash val="solid"/>
          </a:ln>
        </p:spPr>
      </p:sp>
      <p:sp>
        <p:nvSpPr>
          <p:cNvPr id="15" name="Text 13"/>
          <p:cNvSpPr/>
          <p:nvPr/>
        </p:nvSpPr>
        <p:spPr>
          <a:xfrm>
            <a:off x="749808" y="3657600"/>
            <a:ext cx="5120640" cy="347472"/>
          </a:xfrm>
          <a:prstGeom prst="rect">
            <a:avLst/>
          </a:prstGeom>
          <a:noFill/>
          <a:ln/>
        </p:spPr>
        <p:txBody>
          <a:bodyPr wrap="square" rtlCol="0" anchor="ctr"/>
          <a:lstStyle/>
          <a:p>
            <a:pPr indent="0" marL="0">
              <a:buNone/>
            </a:pPr>
            <a:r>
              <a:rPr lang="en-US" sz="1300" b="1" dirty="0">
                <a:solidFill>
                  <a:srgbClr val="1F5FA8"/>
                </a:solidFill>
                <a:latin typeface="Montserrat" pitchFamily="34" charset="0"/>
                <a:ea typeface="Montserrat" pitchFamily="34" charset="-122"/>
                <a:cs typeface="Montserrat" pitchFamily="34" charset="-120"/>
              </a:rPr>
              <a:t>🎨  Brand Kit</a:t>
            </a:r>
            <a:endParaRPr lang="en-US" sz="1300" dirty="0"/>
          </a:p>
        </p:txBody>
      </p:sp>
      <p:sp>
        <p:nvSpPr>
          <p:cNvPr id="16" name="Text 14"/>
          <p:cNvSpPr/>
          <p:nvPr/>
        </p:nvSpPr>
        <p:spPr>
          <a:xfrm>
            <a:off x="749808" y="4023360"/>
            <a:ext cx="5074920" cy="1051560"/>
          </a:xfrm>
          <a:prstGeom prst="rect">
            <a:avLst/>
          </a:prstGeom>
          <a:noFill/>
          <a:ln/>
        </p:spPr>
        <p:txBody>
          <a:bodyPr wrap="square" rtlCol="0" anchor="t"/>
          <a:lstStyle/>
          <a:p>
            <a:pPr indent="0" marL="0">
              <a:buNone/>
            </a:pPr>
            <a:r>
              <a:rPr lang="en-US" sz="1200" dirty="0">
                <a:solidFill>
                  <a:srgbClr val="14213D"/>
                </a:solidFill>
                <a:latin typeface="Montserrat" pitchFamily="34" charset="0"/>
                <a:ea typeface="Montserrat" pitchFamily="34" charset="-122"/>
                <a:cs typeface="Montserrat" pitchFamily="34" charset="-120"/>
              </a:rPr>
              <a:t>Logos, logo rules, colors (click to copy), typography, graphics and brand voice.</a:t>
            </a:r>
            <a:endParaRPr lang="en-US" sz="1200" dirty="0"/>
          </a:p>
        </p:txBody>
      </p:sp>
      <p:sp>
        <p:nvSpPr>
          <p:cNvPr id="17" name="Shape 15"/>
          <p:cNvSpPr/>
          <p:nvPr/>
        </p:nvSpPr>
        <p:spPr>
          <a:xfrm>
            <a:off x="6126480" y="3566160"/>
            <a:ext cx="5440680"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8" name="Shape 16"/>
          <p:cNvSpPr/>
          <p:nvPr/>
        </p:nvSpPr>
        <p:spPr>
          <a:xfrm>
            <a:off x="6126480" y="3566160"/>
            <a:ext cx="73152" cy="1600200"/>
          </a:xfrm>
          <a:prstGeom prst="rect">
            <a:avLst/>
          </a:prstGeom>
          <a:solidFill>
            <a:srgbClr val="F99239"/>
          </a:solidFill>
          <a:ln w="12700">
            <a:solidFill>
              <a:srgbClr val="F99239"/>
            </a:solidFill>
            <a:prstDash val="solid"/>
          </a:ln>
        </p:spPr>
      </p:sp>
      <p:sp>
        <p:nvSpPr>
          <p:cNvPr id="19" name="Text 17"/>
          <p:cNvSpPr/>
          <p:nvPr/>
        </p:nvSpPr>
        <p:spPr>
          <a:xfrm>
            <a:off x="6327648" y="3657600"/>
            <a:ext cx="51206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Photos</a:t>
            </a:r>
            <a:endParaRPr lang="en-US" sz="1300" dirty="0"/>
          </a:p>
        </p:txBody>
      </p:sp>
      <p:sp>
        <p:nvSpPr>
          <p:cNvPr id="20" name="Text 18"/>
          <p:cNvSpPr/>
          <p:nvPr/>
        </p:nvSpPr>
        <p:spPr>
          <a:xfrm>
            <a:off x="6327648" y="4023360"/>
            <a:ext cx="5074920" cy="1051560"/>
          </a:xfrm>
          <a:prstGeom prst="rect">
            <a:avLst/>
          </a:prstGeom>
          <a:noFill/>
          <a:ln/>
        </p:spPr>
        <p:txBody>
          <a:bodyPr wrap="square" rtlCol="0" anchor="t"/>
          <a:lstStyle/>
          <a:p>
            <a:pPr indent="0" marL="0">
              <a:buNone/>
            </a:pPr>
            <a:r>
              <a:rPr lang="en-US" sz="1200" dirty="0">
                <a:solidFill>
                  <a:srgbClr val="14213D"/>
                </a:solidFill>
                <a:latin typeface="Montserrat" pitchFamily="34" charset="0"/>
                <a:ea typeface="Montserrat" pitchFamily="34" charset="-122"/>
                <a:cs typeface="Montserrat" pitchFamily="34" charset="-120"/>
              </a:rPr>
              <a:t>Browse approved photos and copy links. Need a new image? </a:t>
            </a:r>
            <a:pPr indent="0" marL="0">
              <a:buNone/>
            </a:pPr>
            <a:r>
              <a:rPr lang="en-US" sz="1200" b="1" dirty="0">
                <a:solidFill>
                  <a:srgbClr val="002D6A"/>
                </a:solidFill>
                <a:latin typeface="Montserrat" pitchFamily="34" charset="0"/>
                <a:ea typeface="Montserrat" pitchFamily="34" charset="-122"/>
                <a:cs typeface="Montserrat" pitchFamily="34" charset="-120"/>
              </a:rPr>
              <a:t>Ask an REC or Admin to add it.</a:t>
            </a:r>
            <a:endParaRPr lang="en-US" sz="1200" dirty="0"/>
          </a:p>
        </p:txBody>
      </p:sp>
      <p:sp>
        <p:nvSpPr>
          <p:cNvPr id="21" name="Text 19"/>
          <p:cNvSpPr/>
          <p:nvPr/>
        </p:nvSpPr>
        <p:spPr>
          <a:xfrm>
            <a:off x="548640" y="5440680"/>
            <a:ext cx="11109960" cy="411480"/>
          </a:xfrm>
          <a:prstGeom prst="rect">
            <a:avLst/>
          </a:prstGeom>
          <a:noFill/>
          <a:ln/>
        </p:spPr>
        <p:txBody>
          <a:bodyPr wrap="square" rtlCol="0" anchor="ctr"/>
          <a:lstStyle/>
          <a:p>
            <a:pPr indent="0" marL="0">
              <a:buNone/>
            </a:pPr>
            <a:r>
              <a:rPr lang="en-US" sz="1200" b="1" dirty="0">
                <a:solidFill>
                  <a:srgbClr val="002D6A"/>
                </a:solidFill>
                <a:latin typeface="Montserrat" pitchFamily="34" charset="0"/>
                <a:ea typeface="Montserrat" pitchFamily="34" charset="-122"/>
                <a:cs typeface="Montserrat" pitchFamily="34" charset="-120"/>
              </a:rPr>
              <a:t>Brand words: </a:t>
            </a:r>
            <a:pPr indent="0" marL="0">
              <a:buNone/>
            </a:pPr>
            <a:r>
              <a:rPr lang="en-US" sz="1200" dirty="0">
                <a:solidFill>
                  <a:srgbClr val="14213D"/>
                </a:solidFill>
                <a:latin typeface="Montserrat" pitchFamily="34" charset="0"/>
                <a:ea typeface="Montserrat" pitchFamily="34" charset="-122"/>
                <a:cs typeface="Montserrat" pitchFamily="34" charset="-120"/>
              </a:rPr>
              <a:t>“License Agreement” (not lease) · “Resident” (not tenant) · “The Harbour” (not Harbor) · “Guarantor” (not cosigner)</a:t>
            </a:r>
            <a:endParaRPr lang="en-US" sz="12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CREATIVE STUDIO</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My Projects, Creative Library &amp; approval</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2560320" cy="1143000"/>
          </a:xfrm>
          <a:prstGeom prst="roundRect">
            <a:avLst>
              <a:gd name="adj" fmla="val 6400"/>
            </a:avLst>
          </a:prstGeom>
          <a:solidFill>
            <a:srgbClr val="F8FAFC"/>
          </a:solidFill>
          <a:ln w="12700">
            <a:solidFill>
              <a:srgbClr val="002D6A"/>
            </a:solidFill>
            <a:prstDash val="solid"/>
          </a:ln>
        </p:spPr>
      </p:sp>
      <p:sp>
        <p:nvSpPr>
          <p:cNvPr id="6" name="Text 4"/>
          <p:cNvSpPr/>
          <p:nvPr/>
        </p:nvSpPr>
        <p:spPr>
          <a:xfrm>
            <a:off x="640080" y="1783080"/>
            <a:ext cx="2377440" cy="1143000"/>
          </a:xfrm>
          <a:prstGeom prst="rect">
            <a:avLst/>
          </a:prstGeom>
          <a:noFill/>
          <a:ln/>
        </p:spPr>
        <p:txBody>
          <a:bodyPr wrap="square" rtlCol="0" anchor="ctr"/>
          <a:lstStyle/>
          <a:p>
            <a:pPr algn="ctr" indent="0" marL="0">
              <a:buNone/>
            </a:pPr>
            <a:r>
              <a:rPr lang="en-US" sz="1400" b="1" dirty="0">
                <a:solidFill>
                  <a:srgbClr val="002D6A"/>
                </a:solidFill>
                <a:latin typeface="Montserrat" pitchFamily="34" charset="0"/>
                <a:ea typeface="Montserrat" pitchFamily="34" charset="-122"/>
                <a:cs typeface="Montserrat" pitchFamily="34" charset="-120"/>
              </a:rPr>
              <a:t>Draft</a:t>
            </a:r>
            <a:endParaRPr lang="en-US" sz="1400" dirty="0"/>
          </a:p>
          <a:p>
            <a:pPr algn="ctr" indent="0" marL="0">
              <a:buNone/>
            </a:pPr>
            <a:r>
              <a:rPr lang="en-US" sz="1050" dirty="0">
                <a:solidFill>
                  <a:srgbClr val="14213D"/>
                </a:solidFill>
                <a:latin typeface="Montserrat" pitchFamily="34" charset="0"/>
                <a:ea typeface="Montserrat" pitchFamily="34" charset="-122"/>
                <a:cs typeface="Montserrat" pitchFamily="34" charset="-120"/>
              </a:rPr>
              <a:t>Save Draft anytime</a:t>
            </a:r>
            <a:endParaRPr lang="en-US" sz="1400" dirty="0"/>
          </a:p>
        </p:txBody>
      </p:sp>
      <p:sp>
        <p:nvSpPr>
          <p:cNvPr id="7" name="Text 5"/>
          <p:cNvSpPr/>
          <p:nvPr/>
        </p:nvSpPr>
        <p:spPr>
          <a:xfrm>
            <a:off x="3108960" y="2103120"/>
            <a:ext cx="274320" cy="457200"/>
          </a:xfrm>
          <a:prstGeom prst="rect">
            <a:avLst/>
          </a:prstGeom>
          <a:noFill/>
          <a:ln/>
        </p:spPr>
        <p:txBody>
          <a:bodyPr wrap="square" rtlCol="0" anchor="ctr"/>
          <a:lstStyle/>
          <a:p>
            <a:pPr algn="ctr" indent="0" marL="0">
              <a:buNone/>
            </a:pPr>
            <a:r>
              <a:rPr lang="en-US" sz="1800" dirty="0">
                <a:solidFill>
                  <a:srgbClr val="F99239"/>
                </a:solidFill>
              </a:rPr>
              <a:t>➜</a:t>
            </a:r>
            <a:endParaRPr lang="en-US" sz="1800" dirty="0"/>
          </a:p>
        </p:txBody>
      </p:sp>
      <p:sp>
        <p:nvSpPr>
          <p:cNvPr id="8" name="Shape 6"/>
          <p:cNvSpPr/>
          <p:nvPr/>
        </p:nvSpPr>
        <p:spPr>
          <a:xfrm>
            <a:off x="3383280" y="1783080"/>
            <a:ext cx="2560320" cy="1143000"/>
          </a:xfrm>
          <a:prstGeom prst="roundRect">
            <a:avLst>
              <a:gd name="adj" fmla="val 6400"/>
            </a:avLst>
          </a:prstGeom>
          <a:solidFill>
            <a:srgbClr val="FFF7ED"/>
          </a:solidFill>
          <a:ln w="12700">
            <a:solidFill>
              <a:srgbClr val="C2410C"/>
            </a:solidFill>
            <a:prstDash val="solid"/>
          </a:ln>
        </p:spPr>
      </p:sp>
      <p:sp>
        <p:nvSpPr>
          <p:cNvPr id="9" name="Text 7"/>
          <p:cNvSpPr/>
          <p:nvPr/>
        </p:nvSpPr>
        <p:spPr>
          <a:xfrm>
            <a:off x="3474720" y="1783080"/>
            <a:ext cx="2377440" cy="1143000"/>
          </a:xfrm>
          <a:prstGeom prst="rect">
            <a:avLst/>
          </a:prstGeom>
          <a:noFill/>
          <a:ln/>
        </p:spPr>
        <p:txBody>
          <a:bodyPr wrap="square" rtlCol="0" anchor="ctr"/>
          <a:lstStyle/>
          <a:p>
            <a:pPr algn="ctr" indent="0" marL="0">
              <a:buNone/>
            </a:pPr>
            <a:r>
              <a:rPr lang="en-US" sz="1400" b="1" dirty="0">
                <a:solidFill>
                  <a:srgbClr val="C2410C"/>
                </a:solidFill>
                <a:latin typeface="Montserrat" pitchFamily="34" charset="0"/>
                <a:ea typeface="Montserrat" pitchFamily="34" charset="-122"/>
                <a:cs typeface="Montserrat" pitchFamily="34" charset="-120"/>
              </a:rPr>
              <a:t>Pending approval</a:t>
            </a:r>
            <a:endParaRPr lang="en-US" sz="1400" dirty="0"/>
          </a:p>
          <a:p>
            <a:pPr algn="ctr" indent="0" marL="0">
              <a:buNone/>
            </a:pPr>
            <a:r>
              <a:rPr lang="en-US" sz="1050" dirty="0">
                <a:solidFill>
                  <a:srgbClr val="14213D"/>
                </a:solidFill>
                <a:latin typeface="Montserrat" pitchFamily="34" charset="0"/>
                <a:ea typeface="Montserrat" pitchFamily="34" charset="-122"/>
                <a:cs typeface="Montserrat" pitchFamily="34" charset="-120"/>
              </a:rPr>
              <a:t>You click Submit for Approval</a:t>
            </a:r>
            <a:endParaRPr lang="en-US" sz="1400" dirty="0"/>
          </a:p>
        </p:txBody>
      </p:sp>
      <p:sp>
        <p:nvSpPr>
          <p:cNvPr id="10" name="Text 8"/>
          <p:cNvSpPr/>
          <p:nvPr/>
        </p:nvSpPr>
        <p:spPr>
          <a:xfrm>
            <a:off x="5943600" y="2103120"/>
            <a:ext cx="274320" cy="457200"/>
          </a:xfrm>
          <a:prstGeom prst="rect">
            <a:avLst/>
          </a:prstGeom>
          <a:noFill/>
          <a:ln/>
        </p:spPr>
        <p:txBody>
          <a:bodyPr wrap="square" rtlCol="0" anchor="ctr"/>
          <a:lstStyle/>
          <a:p>
            <a:pPr algn="ctr" indent="0" marL="0">
              <a:buNone/>
            </a:pPr>
            <a:r>
              <a:rPr lang="en-US" sz="1800" dirty="0">
                <a:solidFill>
                  <a:srgbClr val="F99239"/>
                </a:solidFill>
              </a:rPr>
              <a:t>➜</a:t>
            </a:r>
            <a:endParaRPr lang="en-US" sz="1800" dirty="0"/>
          </a:p>
        </p:txBody>
      </p:sp>
      <p:sp>
        <p:nvSpPr>
          <p:cNvPr id="11" name="Shape 9"/>
          <p:cNvSpPr/>
          <p:nvPr/>
        </p:nvSpPr>
        <p:spPr>
          <a:xfrm>
            <a:off x="6217920" y="1783080"/>
            <a:ext cx="2560320" cy="1143000"/>
          </a:xfrm>
          <a:prstGeom prst="roundRect">
            <a:avLst>
              <a:gd name="adj" fmla="val 6400"/>
            </a:avLst>
          </a:prstGeom>
          <a:solidFill>
            <a:srgbClr val="F0FDF4"/>
          </a:solidFill>
          <a:ln w="12700">
            <a:solidFill>
              <a:srgbClr val="166534"/>
            </a:solidFill>
            <a:prstDash val="solid"/>
          </a:ln>
        </p:spPr>
      </p:sp>
      <p:sp>
        <p:nvSpPr>
          <p:cNvPr id="12" name="Text 10"/>
          <p:cNvSpPr/>
          <p:nvPr/>
        </p:nvSpPr>
        <p:spPr>
          <a:xfrm>
            <a:off x="6309360" y="1783080"/>
            <a:ext cx="2377440" cy="1143000"/>
          </a:xfrm>
          <a:prstGeom prst="rect">
            <a:avLst/>
          </a:prstGeom>
          <a:noFill/>
          <a:ln/>
        </p:spPr>
        <p:txBody>
          <a:bodyPr wrap="square" rtlCol="0" anchor="ctr"/>
          <a:lstStyle/>
          <a:p>
            <a:pPr algn="ctr" indent="0" marL="0">
              <a:buNone/>
            </a:pPr>
            <a:r>
              <a:rPr lang="en-US" sz="1400" b="1" dirty="0">
                <a:solidFill>
                  <a:srgbClr val="166534"/>
                </a:solidFill>
                <a:latin typeface="Montserrat" pitchFamily="34" charset="0"/>
                <a:ea typeface="Montserrat" pitchFamily="34" charset="-122"/>
                <a:cs typeface="Montserrat" pitchFamily="34" charset="-120"/>
              </a:rPr>
              <a:t>Approved</a:t>
            </a:r>
            <a:endParaRPr lang="en-US" sz="1400" dirty="0"/>
          </a:p>
          <a:p>
            <a:pPr algn="ctr" indent="0" marL="0">
              <a:buNone/>
            </a:pPr>
            <a:r>
              <a:rPr lang="en-US" sz="1050" dirty="0">
                <a:solidFill>
                  <a:srgbClr val="14213D"/>
                </a:solidFill>
                <a:latin typeface="Montserrat" pitchFamily="34" charset="0"/>
                <a:ea typeface="Montserrat" pitchFamily="34" charset="-122"/>
                <a:cs typeface="Montserrat" pitchFamily="34" charset="-120"/>
              </a:rPr>
              <a:t>REC/Admin approves — 🔔 you’re notified</a:t>
            </a:r>
            <a:endParaRPr lang="en-US" sz="1400" dirty="0"/>
          </a:p>
        </p:txBody>
      </p:sp>
      <p:sp>
        <p:nvSpPr>
          <p:cNvPr id="13" name="Text 11"/>
          <p:cNvSpPr/>
          <p:nvPr/>
        </p:nvSpPr>
        <p:spPr>
          <a:xfrm>
            <a:off x="8778240" y="2103120"/>
            <a:ext cx="274320" cy="457200"/>
          </a:xfrm>
          <a:prstGeom prst="rect">
            <a:avLst/>
          </a:prstGeom>
          <a:noFill/>
          <a:ln/>
        </p:spPr>
        <p:txBody>
          <a:bodyPr wrap="square" rtlCol="0" anchor="ctr"/>
          <a:lstStyle/>
          <a:p>
            <a:pPr algn="ctr" indent="0" marL="0">
              <a:buNone/>
            </a:pPr>
            <a:r>
              <a:rPr lang="en-US" sz="1800" dirty="0">
                <a:solidFill>
                  <a:srgbClr val="F99239"/>
                </a:solidFill>
              </a:rPr>
              <a:t>➜</a:t>
            </a:r>
            <a:endParaRPr lang="en-US" sz="1800" dirty="0"/>
          </a:p>
        </p:txBody>
      </p:sp>
      <p:sp>
        <p:nvSpPr>
          <p:cNvPr id="14" name="Shape 12"/>
          <p:cNvSpPr/>
          <p:nvPr/>
        </p:nvSpPr>
        <p:spPr>
          <a:xfrm>
            <a:off x="9052560" y="1783080"/>
            <a:ext cx="2560320" cy="1143000"/>
          </a:xfrm>
          <a:prstGeom prst="roundRect">
            <a:avLst>
              <a:gd name="adj" fmla="val 6400"/>
            </a:avLst>
          </a:prstGeom>
          <a:solidFill>
            <a:srgbClr val="FEF2F2"/>
          </a:solidFill>
          <a:ln w="12700">
            <a:solidFill>
              <a:srgbClr val="B91C1C"/>
            </a:solidFill>
            <a:prstDash val="solid"/>
          </a:ln>
        </p:spPr>
      </p:sp>
      <p:sp>
        <p:nvSpPr>
          <p:cNvPr id="15" name="Text 13"/>
          <p:cNvSpPr/>
          <p:nvPr/>
        </p:nvSpPr>
        <p:spPr>
          <a:xfrm>
            <a:off x="9144000" y="1783080"/>
            <a:ext cx="2377440" cy="1143000"/>
          </a:xfrm>
          <a:prstGeom prst="rect">
            <a:avLst/>
          </a:prstGeom>
          <a:noFill/>
          <a:ln/>
        </p:spPr>
        <p:txBody>
          <a:bodyPr wrap="square" rtlCol="0" anchor="ctr"/>
          <a:lstStyle/>
          <a:p>
            <a:pPr algn="ctr" indent="0" marL="0">
              <a:buNone/>
            </a:pPr>
            <a:r>
              <a:rPr lang="en-US" sz="1400" b="1" dirty="0">
                <a:solidFill>
                  <a:srgbClr val="B91C1C"/>
                </a:solidFill>
                <a:latin typeface="Montserrat" pitchFamily="34" charset="0"/>
                <a:ea typeface="Montserrat" pitchFamily="34" charset="-122"/>
                <a:cs typeface="Montserrat" pitchFamily="34" charset="-120"/>
              </a:rPr>
              <a:t>Sent back</a:t>
            </a:r>
            <a:endParaRPr lang="en-US" sz="1400" dirty="0"/>
          </a:p>
          <a:p>
            <a:pPr algn="ctr" indent="0" marL="0">
              <a:buNone/>
            </a:pPr>
            <a:r>
              <a:rPr lang="en-US" sz="1050" dirty="0">
                <a:solidFill>
                  <a:srgbClr val="14213D"/>
                </a:solidFill>
                <a:latin typeface="Montserrat" pitchFamily="34" charset="0"/>
                <a:ea typeface="Montserrat" pitchFamily="34" charset="-122"/>
                <a:cs typeface="Montserrat" pitchFamily="34" charset="-120"/>
              </a:rPr>
              <a:t>Fix using the reviewer’s note, resubmit</a:t>
            </a:r>
            <a:endParaRPr lang="en-US" sz="1400" dirty="0"/>
          </a:p>
        </p:txBody>
      </p:sp>
      <p:sp>
        <p:nvSpPr>
          <p:cNvPr id="16" name="Shape 14"/>
          <p:cNvSpPr/>
          <p:nvPr/>
        </p:nvSpPr>
        <p:spPr>
          <a:xfrm>
            <a:off x="548640" y="3200400"/>
            <a:ext cx="544068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7" name="Shape 15"/>
          <p:cNvSpPr/>
          <p:nvPr/>
        </p:nvSpPr>
        <p:spPr>
          <a:xfrm>
            <a:off x="548640" y="3200400"/>
            <a:ext cx="73152" cy="2103120"/>
          </a:xfrm>
          <a:prstGeom prst="rect">
            <a:avLst/>
          </a:prstGeom>
          <a:solidFill>
            <a:srgbClr val="002D6A"/>
          </a:solidFill>
          <a:ln w="12700">
            <a:solidFill>
              <a:srgbClr val="002D6A"/>
            </a:solidFill>
            <a:prstDash val="solid"/>
          </a:ln>
        </p:spPr>
      </p:sp>
      <p:sp>
        <p:nvSpPr>
          <p:cNvPr id="18" name="Text 16"/>
          <p:cNvSpPr/>
          <p:nvPr/>
        </p:nvSpPr>
        <p:spPr>
          <a:xfrm>
            <a:off x="749808" y="3291840"/>
            <a:ext cx="51206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My Projects</a:t>
            </a:r>
            <a:endParaRPr lang="en-US" sz="1300" dirty="0"/>
          </a:p>
        </p:txBody>
      </p:sp>
      <p:sp>
        <p:nvSpPr>
          <p:cNvPr id="19" name="Text 17"/>
          <p:cNvSpPr/>
          <p:nvPr/>
        </p:nvSpPr>
        <p:spPr>
          <a:xfrm>
            <a:off x="685800" y="3657600"/>
            <a:ext cx="5166360" cy="155448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Folders: All,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My pending</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Approved, Drafts, Archived</a:t>
            </a:r>
            <a:endParaRPr lang="en-US" sz="1200" dirty="0"/>
          </a:p>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 New Project</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new folders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Edit · Duplicate · Download · Archive / Restore</a:t>
            </a:r>
            <a:endParaRPr lang="en-US" sz="1200" dirty="0"/>
          </a:p>
        </p:txBody>
      </p:sp>
      <p:sp>
        <p:nvSpPr>
          <p:cNvPr id="20" name="Shape 18"/>
          <p:cNvSpPr/>
          <p:nvPr/>
        </p:nvSpPr>
        <p:spPr>
          <a:xfrm>
            <a:off x="6217920" y="3200400"/>
            <a:ext cx="544068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21" name="Shape 19"/>
          <p:cNvSpPr/>
          <p:nvPr/>
        </p:nvSpPr>
        <p:spPr>
          <a:xfrm>
            <a:off x="6217920" y="3200400"/>
            <a:ext cx="73152" cy="2103120"/>
          </a:xfrm>
          <a:prstGeom prst="rect">
            <a:avLst/>
          </a:prstGeom>
          <a:solidFill>
            <a:srgbClr val="F99239"/>
          </a:solidFill>
          <a:ln w="12700">
            <a:solidFill>
              <a:srgbClr val="F99239"/>
            </a:solidFill>
            <a:prstDash val="solid"/>
          </a:ln>
        </p:spPr>
      </p:sp>
      <p:sp>
        <p:nvSpPr>
          <p:cNvPr id="22" name="Text 20"/>
          <p:cNvSpPr/>
          <p:nvPr/>
        </p:nvSpPr>
        <p:spPr>
          <a:xfrm>
            <a:off x="6419088" y="3291840"/>
            <a:ext cx="5120640" cy="347472"/>
          </a:xfrm>
          <a:prstGeom prst="rect">
            <a:avLst/>
          </a:prstGeom>
          <a:noFill/>
          <a:ln/>
        </p:spPr>
        <p:txBody>
          <a:bodyPr wrap="square" rtlCol="0" anchor="ctr"/>
          <a:lstStyle/>
          <a:p>
            <a:pPr indent="0" marL="0">
              <a:buNone/>
            </a:pPr>
            <a:r>
              <a:rPr lang="en-US" sz="1300" b="1" dirty="0">
                <a:solidFill>
                  <a:srgbClr val="F99239"/>
                </a:solidFill>
                <a:latin typeface="Montserrat" pitchFamily="34" charset="0"/>
                <a:ea typeface="Montserrat" pitchFamily="34" charset="-122"/>
                <a:cs typeface="Montserrat" pitchFamily="34" charset="-120"/>
              </a:rPr>
              <a:t>🖼  Creative Library</a:t>
            </a:r>
            <a:endParaRPr lang="en-US" sz="1300" dirty="0"/>
          </a:p>
        </p:txBody>
      </p:sp>
      <p:sp>
        <p:nvSpPr>
          <p:cNvPr id="23" name="Text 21"/>
          <p:cNvSpPr/>
          <p:nvPr/>
        </p:nvSpPr>
        <p:spPr>
          <a:xfrm>
            <a:off x="6355080" y="3657600"/>
            <a:ext cx="5166360" cy="1554480"/>
          </a:xfrm>
          <a:prstGeom prst="rect">
            <a:avLst/>
          </a:prstGeom>
          <a:noFill/>
          <a:ln/>
        </p:spPr>
        <p:txBody>
          <a:bodyPr wrap="square" rtlCol="0" anchor="t"/>
          <a:lstStyle/>
          <a:p>
            <a:pPr marL="342900" indent="-342900">
              <a:lnSpc>
                <a:spcPct val="105000"/>
              </a:lnSpc>
              <a:spcAft>
                <a:spcPts val="700"/>
              </a:spcAft>
              <a:buSzPct val="100000"/>
              <a:buChar char="●"/>
            </a:pPr>
            <a:r>
              <a:rPr lang="en-US" sz="1200" b="1" dirty="0">
                <a:solidFill>
                  <a:srgbClr val="002D6A"/>
                </a:solidFill>
                <a:latin typeface="Montserrat" pitchFamily="34" charset="0"/>
                <a:ea typeface="Montserrat" pitchFamily="34" charset="-122"/>
                <a:cs typeface="Montserrat" pitchFamily="34" charset="-120"/>
              </a:rPr>
              <a:t>+ Upload Creative</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(images &amp; PDFs)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Uploads stay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pending until an Admin or REC approves</a:t>
            </a:r>
            <a:endParaRPr lang="en-US" sz="1200" dirty="0"/>
          </a:p>
        </p:txBody>
      </p:sp>
      <p:sp>
        <p:nvSpPr>
          <p:cNvPr id="24" name="Shape 22"/>
          <p:cNvSpPr/>
          <p:nvPr/>
        </p:nvSpPr>
        <p:spPr>
          <a:xfrm>
            <a:off x="548640" y="5440680"/>
            <a:ext cx="11109960" cy="502920"/>
          </a:xfrm>
          <a:prstGeom prst="roundRect">
            <a:avLst>
              <a:gd name="adj" fmla="val 14545"/>
            </a:avLst>
          </a:prstGeom>
          <a:solidFill>
            <a:srgbClr val="FFF7ED"/>
          </a:solidFill>
          <a:ln w="12700">
            <a:solidFill>
              <a:srgbClr val="FED7AA"/>
            </a:solidFill>
            <a:prstDash val="solid"/>
          </a:ln>
        </p:spPr>
      </p:sp>
      <p:sp>
        <p:nvSpPr>
          <p:cNvPr id="25" name="Shape 23"/>
          <p:cNvSpPr/>
          <p:nvPr/>
        </p:nvSpPr>
        <p:spPr>
          <a:xfrm>
            <a:off x="548640" y="5440680"/>
            <a:ext cx="73152" cy="502920"/>
          </a:xfrm>
          <a:prstGeom prst="rect">
            <a:avLst/>
          </a:prstGeom>
          <a:solidFill>
            <a:srgbClr val="F99239"/>
          </a:solidFill>
          <a:ln w="12700">
            <a:solidFill>
              <a:srgbClr val="F99239"/>
            </a:solidFill>
            <a:prstDash val="solid"/>
          </a:ln>
        </p:spPr>
      </p:sp>
      <p:sp>
        <p:nvSpPr>
          <p:cNvPr id="26" name="Text 24"/>
          <p:cNvSpPr/>
          <p:nvPr/>
        </p:nvSpPr>
        <p:spPr>
          <a:xfrm>
            <a:off x="731520" y="5440680"/>
            <a:ext cx="10835640" cy="502920"/>
          </a:xfrm>
          <a:prstGeom prst="rect">
            <a:avLst/>
          </a:prstGeom>
          <a:noFill/>
          <a:ln/>
        </p:spPr>
        <p:txBody>
          <a:bodyPr wrap="square" rtlCol="0" anchor="ctr"/>
          <a:lstStyle/>
          <a:p>
            <a:pPr indent="0" marL="0">
              <a:buNone/>
            </a:pPr>
            <a:r>
              <a:rPr lang="en-US" sz="1100" b="1" dirty="0">
                <a:solidFill>
                  <a:srgbClr val="C2410C"/>
                </a:solidFill>
                <a:latin typeface="Montserrat" pitchFamily="34" charset="0"/>
                <a:ea typeface="Montserrat" pitchFamily="34" charset="-122"/>
                <a:cs typeface="Montserrat" pitchFamily="34" charset="-120"/>
              </a:rPr>
              <a:t>TIP  </a:t>
            </a:r>
            <a:pPr indent="0" marL="0">
              <a:buNone/>
            </a:pPr>
            <a:r>
              <a:rPr lang="en-US" sz="1100" dirty="0">
                <a:solidFill>
                  <a:srgbClr val="14213D"/>
                </a:solidFill>
                <a:latin typeface="Montserrat" pitchFamily="34" charset="0"/>
                <a:ea typeface="Montserrat" pitchFamily="34" charset="-122"/>
                <a:cs typeface="Montserrat" pitchFamily="34" charset="-120"/>
              </a:rPr>
              <a:t>Editing approved work sends it back to </a:t>
            </a:r>
            <a:pPr indent="0" marL="0">
              <a:buNone/>
            </a:pPr>
            <a:r>
              <a:rPr lang="en-US" sz="1100" b="1" dirty="0">
                <a:solidFill>
                  <a:srgbClr val="002D6A"/>
                </a:solidFill>
                <a:latin typeface="Montserrat" pitchFamily="34" charset="0"/>
                <a:ea typeface="Montserrat" pitchFamily="34" charset="-122"/>
                <a:cs typeface="Montserrat" pitchFamily="34" charset="-120"/>
              </a:rPr>
              <a:t>pending</a:t>
            </a:r>
            <a:pPr indent="0" marL="0">
              <a:buNone/>
            </a:pPr>
            <a:r>
              <a:rPr lang="en-US" sz="1100" dirty="0">
                <a:solidFill>
                  <a:srgbClr val="14213D"/>
                </a:solidFill>
                <a:latin typeface="Montserrat" pitchFamily="34" charset="0"/>
                <a:ea typeface="Montserrat" pitchFamily="34" charset="-122"/>
                <a:cs typeface="Montserrat" pitchFamily="34" charset="-120"/>
              </a:rPr>
              <a:t>. Never post anything publicly until it is approved.</a:t>
            </a:r>
            <a:endParaRPr lang="en-US" sz="11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WRAP-UP</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Quick reference: RA can / REC &amp; Admin handle</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5440680" cy="3749040"/>
          </a:xfrm>
          <a:prstGeom prst="roundRect">
            <a:avLst>
              <a:gd name="adj" fmla="val 195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548640" y="1783080"/>
            <a:ext cx="73152" cy="3749040"/>
          </a:xfrm>
          <a:prstGeom prst="rect">
            <a:avLst/>
          </a:prstGeom>
          <a:solidFill>
            <a:srgbClr val="16A34A"/>
          </a:solidFill>
          <a:ln w="12700">
            <a:solidFill>
              <a:srgbClr val="16A34A"/>
            </a:solidFill>
            <a:prstDash val="solid"/>
          </a:ln>
        </p:spPr>
      </p:sp>
      <p:sp>
        <p:nvSpPr>
          <p:cNvPr id="7" name="Text 5"/>
          <p:cNvSpPr/>
          <p:nvPr/>
        </p:nvSpPr>
        <p:spPr>
          <a:xfrm>
            <a:off x="749808" y="1874520"/>
            <a:ext cx="5120640" cy="347472"/>
          </a:xfrm>
          <a:prstGeom prst="rect">
            <a:avLst/>
          </a:prstGeom>
          <a:noFill/>
          <a:ln/>
        </p:spPr>
        <p:txBody>
          <a:bodyPr wrap="square" rtlCol="0" anchor="ctr"/>
          <a:lstStyle/>
          <a:p>
            <a:pPr indent="0" marL="0">
              <a:buNone/>
            </a:pPr>
            <a:r>
              <a:rPr lang="en-US" sz="1300" b="1" dirty="0">
                <a:solidFill>
                  <a:srgbClr val="16A34A"/>
                </a:solidFill>
                <a:latin typeface="Montserrat" pitchFamily="34" charset="0"/>
                <a:ea typeface="Montserrat" pitchFamily="34" charset="-122"/>
                <a:cs typeface="Montserrat" pitchFamily="34" charset="-120"/>
              </a:rPr>
              <a:t>✅  You can</a:t>
            </a:r>
            <a:endParaRPr lang="en-US" sz="1300" dirty="0"/>
          </a:p>
        </p:txBody>
      </p:sp>
      <p:sp>
        <p:nvSpPr>
          <p:cNvPr id="8" name="Text 6"/>
          <p:cNvSpPr/>
          <p:nvPr/>
        </p:nvSpPr>
        <p:spPr>
          <a:xfrm>
            <a:off x="685800" y="2240280"/>
            <a:ext cx="5166360" cy="320040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Read announcements &amp; get notifications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Create, submit, edit &amp; evaluate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your</a:t>
            </a:r>
            <a:pPr indent="0" marL="0">
              <a:lnSpc>
                <a:spcPct val="105000"/>
              </a:lnSpc>
              <a:spcAft>
                <a:spcPts val="700"/>
              </a:spcAft>
              <a:buNone/>
            </a:pPr>
            <a:r>
              <a:rPr lang="en-US" sz="1200" dirty="0">
                <a:solidFill>
                  <a:srgbClr val="14213D"/>
                </a:solidFill>
                <a:latin typeface="Montserrat" pitchFamily="34" charset="0"/>
                <a:ea typeface="Montserrat" pitchFamily="34" charset="-122"/>
                <a:cs typeface="Montserrat" pitchFamily="34" charset="-120"/>
              </a:rPr>
              <a:t> programs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Log committee minutes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Offer, swap, pick up shifts; set availability</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Start, add to and submit </a:t>
            </a:r>
            <a:pPr indent="0" marL="0">
              <a:lnSpc>
                <a:spcPct val="105000"/>
              </a:lnSpc>
              <a:spcAft>
                <a:spcPts val="700"/>
              </a:spcAft>
              <a:buNone/>
            </a:pPr>
            <a:r>
              <a:rPr lang="en-US" sz="1200" b="1" dirty="0">
                <a:solidFill>
                  <a:srgbClr val="002D6A"/>
                </a:solidFill>
                <a:latin typeface="Montserrat" pitchFamily="34" charset="0"/>
                <a:ea typeface="Montserrat" pitchFamily="34" charset="-122"/>
                <a:cs typeface="Montserrat" pitchFamily="34" charset="-120"/>
              </a:rPr>
              <a:t>Duty Logs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Check guests in/out; run restricted-access checks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Log incidents, maintenance &amp; key requests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Look up residents; add key/lock entries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Take training quizzes; create &amp; submit creative</a:t>
            </a:r>
            <a:endParaRPr lang="en-US" sz="1200" dirty="0"/>
          </a:p>
        </p:txBody>
      </p:sp>
      <p:sp>
        <p:nvSpPr>
          <p:cNvPr id="9" name="Shape 7"/>
          <p:cNvSpPr/>
          <p:nvPr/>
        </p:nvSpPr>
        <p:spPr>
          <a:xfrm>
            <a:off x="6217920" y="1783080"/>
            <a:ext cx="5440680" cy="3749040"/>
          </a:xfrm>
          <a:prstGeom prst="roundRect">
            <a:avLst>
              <a:gd name="adj" fmla="val 1951"/>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0" name="Shape 8"/>
          <p:cNvSpPr/>
          <p:nvPr/>
        </p:nvSpPr>
        <p:spPr>
          <a:xfrm>
            <a:off x="6217920" y="1783080"/>
            <a:ext cx="73152" cy="3749040"/>
          </a:xfrm>
          <a:prstGeom prst="rect">
            <a:avLst/>
          </a:prstGeom>
          <a:solidFill>
            <a:srgbClr val="002D6A"/>
          </a:solidFill>
          <a:ln w="12700">
            <a:solidFill>
              <a:srgbClr val="002D6A"/>
            </a:solidFill>
            <a:prstDash val="solid"/>
          </a:ln>
        </p:spPr>
      </p:sp>
      <p:sp>
        <p:nvSpPr>
          <p:cNvPr id="11" name="Text 9"/>
          <p:cNvSpPr/>
          <p:nvPr/>
        </p:nvSpPr>
        <p:spPr>
          <a:xfrm>
            <a:off x="6419088" y="1874520"/>
            <a:ext cx="5120640" cy="347472"/>
          </a:xfrm>
          <a:prstGeom prst="rect">
            <a:avLst/>
          </a:prstGeom>
          <a:noFill/>
          <a:ln/>
        </p:spPr>
        <p:txBody>
          <a:bodyPr wrap="square" rtlCol="0" anchor="ctr"/>
          <a:lstStyle/>
          <a:p>
            <a:pPr indent="0" marL="0">
              <a:buNone/>
            </a:pPr>
            <a:r>
              <a:rPr lang="en-US" sz="1300" b="1" dirty="0">
                <a:solidFill>
                  <a:srgbClr val="002D6A"/>
                </a:solidFill>
                <a:latin typeface="Montserrat" pitchFamily="34" charset="0"/>
                <a:ea typeface="Montserrat" pitchFamily="34" charset="-122"/>
                <a:cs typeface="Montserrat" pitchFamily="34" charset="-120"/>
              </a:rPr>
              <a:t>🔒  REC &amp; Admin handle</a:t>
            </a:r>
            <a:endParaRPr lang="en-US" sz="1300" dirty="0"/>
          </a:p>
        </p:txBody>
      </p:sp>
      <p:sp>
        <p:nvSpPr>
          <p:cNvPr id="12" name="Text 10"/>
          <p:cNvSpPr/>
          <p:nvPr/>
        </p:nvSpPr>
        <p:spPr>
          <a:xfrm>
            <a:off x="6355080" y="2240280"/>
            <a:ext cx="5166360" cy="3200400"/>
          </a:xfrm>
          <a:prstGeom prst="rect">
            <a:avLst/>
          </a:prstGeom>
          <a:noFill/>
          <a:ln/>
        </p:spPr>
        <p:txBody>
          <a:bodyPr wrap="square" rtlCol="0" anchor="t"/>
          <a:lstStyle/>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Posting &amp; pinning announcements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Approving programs, budgets &amp; creative</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Building &amp; publishing schedules; approving swaps/time off</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Reopening others’ duty logs; unlocking edits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Resolving incidents &amp; maintenance requests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Editing resident records, tags &amp; notes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Safety records, conduct meetings, accommodations</a:t>
            </a:r>
            <a:endParaRPr lang="en-US" sz="1200" dirty="0"/>
          </a:p>
          <a:p>
            <a:pPr marL="342900" indent="-342900">
              <a:lnSpc>
                <a:spcPct val="105000"/>
              </a:lnSpc>
              <a:spcAft>
                <a:spcPts val="700"/>
              </a:spcAft>
              <a:buSzPct val="100000"/>
              <a:buChar char="●"/>
            </a:pPr>
            <a:r>
              <a:rPr lang="en-US" sz="1200" dirty="0">
                <a:solidFill>
                  <a:srgbClr val="14213D"/>
                </a:solidFill>
                <a:latin typeface="Montserrat" pitchFamily="34" charset="0"/>
                <a:ea typeface="Montserrat" pitchFamily="34" charset="-122"/>
                <a:cs typeface="Montserrat" pitchFamily="34" charset="-120"/>
              </a:rPr>
              <a:t>Managing users, contacts, locations &amp; settings</a:t>
            </a:r>
            <a:endParaRPr lang="en-US" sz="120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48640" y="621792"/>
            <a:ext cx="8229600" cy="274320"/>
          </a:xfrm>
          <a:prstGeom prst="rect">
            <a:avLst/>
          </a:prstGeom>
          <a:noFill/>
          <a:ln/>
        </p:spPr>
        <p:txBody>
          <a:bodyPr wrap="square" rtlCol="0" anchor="ctr"/>
          <a:lstStyle/>
          <a:p>
            <a:pPr indent="0" marL="0">
              <a:buNone/>
            </a:pPr>
            <a:r>
              <a:rPr lang="en-US" sz="1100" b="1" spc="200" kern="0" dirty="0">
                <a:solidFill>
                  <a:srgbClr val="F99239"/>
                </a:solidFill>
                <a:latin typeface="Montserrat" pitchFamily="34" charset="0"/>
                <a:ea typeface="Montserrat" pitchFamily="34" charset="-122"/>
                <a:cs typeface="Montserrat" pitchFamily="34" charset="-120"/>
              </a:rPr>
              <a:t>WRAP-UP</a:t>
            </a:r>
            <a:endParaRPr lang="en-US" sz="1100" dirty="0"/>
          </a:p>
        </p:txBody>
      </p:sp>
      <p:sp>
        <p:nvSpPr>
          <p:cNvPr id="3" name="Text 1"/>
          <p:cNvSpPr/>
          <p:nvPr/>
        </p:nvSpPr>
        <p:spPr>
          <a:xfrm>
            <a:off x="548640" y="868680"/>
            <a:ext cx="10515600" cy="594360"/>
          </a:xfrm>
          <a:prstGeom prst="rect">
            <a:avLst/>
          </a:prstGeom>
          <a:noFill/>
          <a:ln/>
        </p:spPr>
        <p:txBody>
          <a:bodyPr wrap="square" rtlCol="0" anchor="ctr"/>
          <a:lstStyle/>
          <a:p>
            <a:pPr indent="0" marL="0">
              <a:buNone/>
            </a:pPr>
            <a:r>
              <a:rPr lang="en-US" sz="2800" b="1" dirty="0">
                <a:solidFill>
                  <a:srgbClr val="002D6A"/>
                </a:solidFill>
                <a:latin typeface="Montserrat" pitchFamily="34" charset="0"/>
                <a:ea typeface="Montserrat" pitchFamily="34" charset="-122"/>
                <a:cs typeface="Montserrat" pitchFamily="34" charset="-120"/>
              </a:rPr>
              <a:t>Best practices</a:t>
            </a:r>
            <a:endParaRPr lang="en-US" sz="2800" dirty="0"/>
          </a:p>
        </p:txBody>
      </p:sp>
      <p:sp>
        <p:nvSpPr>
          <p:cNvPr id="4" name="Shape 2"/>
          <p:cNvSpPr/>
          <p:nvPr/>
        </p:nvSpPr>
        <p:spPr>
          <a:xfrm>
            <a:off x="566928" y="1481328"/>
            <a:ext cx="822960" cy="64008"/>
          </a:xfrm>
          <a:prstGeom prst="rect">
            <a:avLst/>
          </a:prstGeom>
          <a:solidFill>
            <a:srgbClr val="F99239"/>
          </a:solidFill>
          <a:ln w="12700">
            <a:solidFill>
              <a:srgbClr val="F99239"/>
            </a:solidFill>
            <a:prstDash val="solid"/>
          </a:ln>
        </p:spPr>
      </p:sp>
      <p:sp>
        <p:nvSpPr>
          <p:cNvPr id="5" name="Shape 3"/>
          <p:cNvSpPr/>
          <p:nvPr/>
        </p:nvSpPr>
        <p:spPr>
          <a:xfrm>
            <a:off x="548640" y="1783080"/>
            <a:ext cx="3566160" cy="1691640"/>
          </a:xfrm>
          <a:prstGeom prst="roundRect">
            <a:avLst>
              <a:gd name="adj" fmla="val 4324"/>
            </a:avLst>
          </a:prstGeom>
          <a:solidFill>
            <a:srgbClr val="FBF3E8"/>
          </a:solidFill>
          <a:ln w="12700">
            <a:solidFill>
              <a:srgbClr val="E2E8F0"/>
            </a:solidFill>
            <a:prstDash val="solid"/>
          </a:ln>
        </p:spPr>
      </p:sp>
      <p:sp>
        <p:nvSpPr>
          <p:cNvPr id="6" name="Text 4"/>
          <p:cNvSpPr/>
          <p:nvPr/>
        </p:nvSpPr>
        <p:spPr>
          <a:xfrm>
            <a:off x="685800" y="1920240"/>
            <a:ext cx="548640" cy="54864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7" name="Text 5"/>
          <p:cNvSpPr/>
          <p:nvPr/>
        </p:nvSpPr>
        <p:spPr>
          <a:xfrm>
            <a:off x="1280160" y="1947672"/>
            <a:ext cx="2743200" cy="457200"/>
          </a:xfrm>
          <a:prstGeom prst="rect">
            <a:avLst/>
          </a:prstGeom>
          <a:noFill/>
          <a:ln/>
        </p:spPr>
        <p:txBody>
          <a:bodyPr wrap="square" rtlCol="0" anchor="ctr"/>
          <a:lstStyle/>
          <a:p>
            <a:pPr indent="0" marL="0">
              <a:buNone/>
            </a:pPr>
            <a:r>
              <a:rPr lang="en-US" sz="1500" b="1" dirty="0">
                <a:solidFill>
                  <a:srgbClr val="002D6A"/>
                </a:solidFill>
                <a:latin typeface="Montserrat" pitchFamily="34" charset="0"/>
                <a:ea typeface="Montserrat" pitchFamily="34" charset="-122"/>
                <a:cs typeface="Montserrat" pitchFamily="34" charset="-120"/>
              </a:rPr>
              <a:t>Protect privacy</a:t>
            </a:r>
            <a:endParaRPr lang="en-US" sz="1500" dirty="0"/>
          </a:p>
        </p:txBody>
      </p:sp>
      <p:sp>
        <p:nvSpPr>
          <p:cNvPr id="8" name="Text 6"/>
          <p:cNvSpPr/>
          <p:nvPr/>
        </p:nvSpPr>
        <p:spPr>
          <a:xfrm>
            <a:off x="731520" y="2514600"/>
            <a:ext cx="3246120" cy="868680"/>
          </a:xfrm>
          <a:prstGeom prst="rect">
            <a:avLst/>
          </a:prstGeom>
          <a:noFill/>
          <a:ln/>
        </p:spPr>
        <p:txBody>
          <a:bodyPr wrap="square" rtlCol="0" anchor="t"/>
          <a:lstStyle/>
          <a:p>
            <a:pPr indent="0" marL="0">
              <a:buNone/>
            </a:pPr>
            <a:r>
              <a:rPr lang="en-US" sz="1150" dirty="0">
                <a:solidFill>
                  <a:srgbClr val="14213D"/>
                </a:solidFill>
                <a:latin typeface="Montserrat" pitchFamily="34" charset="0"/>
                <a:ea typeface="Montserrat" pitchFamily="34" charset="-122"/>
                <a:cs typeface="Montserrat" pitchFamily="34" charset="-120"/>
              </a:rPr>
              <a:t>No resident names or Student IDs in Duty Log responses. Resident info is for RA duties only.</a:t>
            </a:r>
            <a:endParaRPr lang="en-US" sz="1150" dirty="0"/>
          </a:p>
        </p:txBody>
      </p:sp>
      <p:sp>
        <p:nvSpPr>
          <p:cNvPr id="9" name="Shape 7"/>
          <p:cNvSpPr/>
          <p:nvPr/>
        </p:nvSpPr>
        <p:spPr>
          <a:xfrm>
            <a:off x="4297680" y="1783080"/>
            <a:ext cx="3566160" cy="1691640"/>
          </a:xfrm>
          <a:prstGeom prst="roundRect">
            <a:avLst>
              <a:gd name="adj" fmla="val 4324"/>
            </a:avLst>
          </a:prstGeom>
          <a:solidFill>
            <a:srgbClr val="DCEBF7"/>
          </a:solidFill>
          <a:ln w="12700">
            <a:solidFill>
              <a:srgbClr val="E2E8F0"/>
            </a:solidFill>
            <a:prstDash val="solid"/>
          </a:ln>
        </p:spPr>
      </p:sp>
      <p:sp>
        <p:nvSpPr>
          <p:cNvPr id="10" name="Text 8"/>
          <p:cNvSpPr/>
          <p:nvPr/>
        </p:nvSpPr>
        <p:spPr>
          <a:xfrm>
            <a:off x="4434840" y="1920240"/>
            <a:ext cx="548640" cy="54864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1" name="Text 9"/>
          <p:cNvSpPr/>
          <p:nvPr/>
        </p:nvSpPr>
        <p:spPr>
          <a:xfrm>
            <a:off x="5029200" y="1947672"/>
            <a:ext cx="2743200" cy="457200"/>
          </a:xfrm>
          <a:prstGeom prst="rect">
            <a:avLst/>
          </a:prstGeom>
          <a:noFill/>
          <a:ln/>
        </p:spPr>
        <p:txBody>
          <a:bodyPr wrap="square" rtlCol="0" anchor="ctr"/>
          <a:lstStyle/>
          <a:p>
            <a:pPr indent="0" marL="0">
              <a:buNone/>
            </a:pPr>
            <a:r>
              <a:rPr lang="en-US" sz="1500" b="1" dirty="0">
                <a:solidFill>
                  <a:srgbClr val="002D6A"/>
                </a:solidFill>
                <a:latin typeface="Montserrat" pitchFamily="34" charset="0"/>
                <a:ea typeface="Montserrat" pitchFamily="34" charset="-122"/>
                <a:cs typeface="Montserrat" pitchFamily="34" charset="-120"/>
              </a:rPr>
              <a:t>Document in real time</a:t>
            </a:r>
            <a:endParaRPr lang="en-US" sz="1500" dirty="0"/>
          </a:p>
        </p:txBody>
      </p:sp>
      <p:sp>
        <p:nvSpPr>
          <p:cNvPr id="12" name="Text 10"/>
          <p:cNvSpPr/>
          <p:nvPr/>
        </p:nvSpPr>
        <p:spPr>
          <a:xfrm>
            <a:off x="4480560" y="2514600"/>
            <a:ext cx="3246120" cy="868680"/>
          </a:xfrm>
          <a:prstGeom prst="rect">
            <a:avLst/>
          </a:prstGeom>
          <a:noFill/>
          <a:ln/>
        </p:spPr>
        <p:txBody>
          <a:bodyPr wrap="square" rtlCol="0" anchor="t"/>
          <a:lstStyle/>
          <a:p>
            <a:pPr indent="0" marL="0">
              <a:buNone/>
            </a:pPr>
            <a:r>
              <a:rPr lang="en-US" sz="1150" dirty="0">
                <a:solidFill>
                  <a:srgbClr val="14213D"/>
                </a:solidFill>
                <a:latin typeface="Montserrat" pitchFamily="34" charset="0"/>
                <a:ea typeface="Montserrat" pitchFamily="34" charset="-122"/>
                <a:cs typeface="Montserrat" pitchFamily="34" charset="-120"/>
              </a:rPr>
              <a:t>Add Duty Log entries as calls happen — not from memory hours later.</a:t>
            </a:r>
            <a:endParaRPr lang="en-US" sz="1150" dirty="0"/>
          </a:p>
        </p:txBody>
      </p:sp>
      <p:sp>
        <p:nvSpPr>
          <p:cNvPr id="13" name="Shape 11"/>
          <p:cNvSpPr/>
          <p:nvPr/>
        </p:nvSpPr>
        <p:spPr>
          <a:xfrm>
            <a:off x="8046720" y="1783080"/>
            <a:ext cx="3566160" cy="1691640"/>
          </a:xfrm>
          <a:prstGeom prst="roundRect">
            <a:avLst>
              <a:gd name="adj" fmla="val 4324"/>
            </a:avLst>
          </a:prstGeom>
          <a:solidFill>
            <a:srgbClr val="FBF3E8"/>
          </a:solidFill>
          <a:ln w="12700">
            <a:solidFill>
              <a:srgbClr val="E2E8F0"/>
            </a:solidFill>
            <a:prstDash val="solid"/>
          </a:ln>
        </p:spPr>
      </p:sp>
      <p:sp>
        <p:nvSpPr>
          <p:cNvPr id="14" name="Text 12"/>
          <p:cNvSpPr/>
          <p:nvPr/>
        </p:nvSpPr>
        <p:spPr>
          <a:xfrm>
            <a:off x="8183880" y="1920240"/>
            <a:ext cx="548640" cy="54864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5" name="Text 13"/>
          <p:cNvSpPr/>
          <p:nvPr/>
        </p:nvSpPr>
        <p:spPr>
          <a:xfrm>
            <a:off x="8778240" y="1947672"/>
            <a:ext cx="2743200" cy="457200"/>
          </a:xfrm>
          <a:prstGeom prst="rect">
            <a:avLst/>
          </a:prstGeom>
          <a:noFill/>
          <a:ln/>
        </p:spPr>
        <p:txBody>
          <a:bodyPr wrap="square" rtlCol="0" anchor="ctr"/>
          <a:lstStyle/>
          <a:p>
            <a:pPr indent="0" marL="0">
              <a:buNone/>
            </a:pPr>
            <a:r>
              <a:rPr lang="en-US" sz="1500" b="1" dirty="0">
                <a:solidFill>
                  <a:srgbClr val="002D6A"/>
                </a:solidFill>
                <a:latin typeface="Montserrat" pitchFamily="34" charset="0"/>
                <a:ea typeface="Montserrat" pitchFamily="34" charset="-122"/>
                <a:cs typeface="Montserrat" pitchFamily="34" charset="-120"/>
              </a:rPr>
              <a:t>Submit on time</a:t>
            </a:r>
            <a:endParaRPr lang="en-US" sz="1500" dirty="0"/>
          </a:p>
        </p:txBody>
      </p:sp>
      <p:sp>
        <p:nvSpPr>
          <p:cNvPr id="16" name="Text 14"/>
          <p:cNvSpPr/>
          <p:nvPr/>
        </p:nvSpPr>
        <p:spPr>
          <a:xfrm>
            <a:off x="8229600" y="2514600"/>
            <a:ext cx="3246120" cy="868680"/>
          </a:xfrm>
          <a:prstGeom prst="rect">
            <a:avLst/>
          </a:prstGeom>
          <a:noFill/>
          <a:ln/>
        </p:spPr>
        <p:txBody>
          <a:bodyPr wrap="square" rtlCol="0" anchor="t"/>
          <a:lstStyle/>
          <a:p>
            <a:pPr indent="0" marL="0">
              <a:buNone/>
            </a:pPr>
            <a:r>
              <a:rPr lang="en-US" sz="1150" dirty="0">
                <a:solidFill>
                  <a:srgbClr val="14213D"/>
                </a:solidFill>
                <a:latin typeface="Montserrat" pitchFamily="34" charset="0"/>
                <a:ea typeface="Montserrat" pitchFamily="34" charset="-122"/>
                <a:cs typeface="Montserrat" pitchFamily="34" charset="-120"/>
              </a:rPr>
              <a:t>Submit your Duty Log at the end of every duty period and meet program deadlines.</a:t>
            </a:r>
            <a:endParaRPr lang="en-US" sz="1150" dirty="0"/>
          </a:p>
        </p:txBody>
      </p:sp>
      <p:sp>
        <p:nvSpPr>
          <p:cNvPr id="17" name="Shape 15"/>
          <p:cNvSpPr/>
          <p:nvPr/>
        </p:nvSpPr>
        <p:spPr>
          <a:xfrm>
            <a:off x="548640" y="3657600"/>
            <a:ext cx="3566160" cy="1691640"/>
          </a:xfrm>
          <a:prstGeom prst="roundRect">
            <a:avLst>
              <a:gd name="adj" fmla="val 4324"/>
            </a:avLst>
          </a:prstGeom>
          <a:solidFill>
            <a:srgbClr val="DCEBF7"/>
          </a:solidFill>
          <a:ln w="12700">
            <a:solidFill>
              <a:srgbClr val="E2E8F0"/>
            </a:solidFill>
            <a:prstDash val="solid"/>
          </a:ln>
        </p:spPr>
      </p:sp>
      <p:sp>
        <p:nvSpPr>
          <p:cNvPr id="18" name="Text 16"/>
          <p:cNvSpPr/>
          <p:nvPr/>
        </p:nvSpPr>
        <p:spPr>
          <a:xfrm>
            <a:off x="685800" y="3794760"/>
            <a:ext cx="548640" cy="54864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9" name="Text 17"/>
          <p:cNvSpPr/>
          <p:nvPr/>
        </p:nvSpPr>
        <p:spPr>
          <a:xfrm>
            <a:off x="1280160" y="3822192"/>
            <a:ext cx="2743200" cy="457200"/>
          </a:xfrm>
          <a:prstGeom prst="rect">
            <a:avLst/>
          </a:prstGeom>
          <a:noFill/>
          <a:ln/>
        </p:spPr>
        <p:txBody>
          <a:bodyPr wrap="square" rtlCol="0" anchor="ctr"/>
          <a:lstStyle/>
          <a:p>
            <a:pPr indent="0" marL="0">
              <a:buNone/>
            </a:pPr>
            <a:r>
              <a:rPr lang="en-US" sz="1500" b="1" dirty="0">
                <a:solidFill>
                  <a:srgbClr val="002D6A"/>
                </a:solidFill>
                <a:latin typeface="Montserrat" pitchFamily="34" charset="0"/>
                <a:ea typeface="Montserrat" pitchFamily="34" charset="-122"/>
                <a:cs typeface="Montserrat" pitchFamily="34" charset="-120"/>
              </a:rPr>
              <a:t>Escalate early</a:t>
            </a:r>
            <a:endParaRPr lang="en-US" sz="1500" dirty="0"/>
          </a:p>
        </p:txBody>
      </p:sp>
      <p:sp>
        <p:nvSpPr>
          <p:cNvPr id="20" name="Text 18"/>
          <p:cNvSpPr/>
          <p:nvPr/>
        </p:nvSpPr>
        <p:spPr>
          <a:xfrm>
            <a:off x="731520" y="4389120"/>
            <a:ext cx="3246120" cy="868680"/>
          </a:xfrm>
          <a:prstGeom prst="rect">
            <a:avLst/>
          </a:prstGeom>
          <a:noFill/>
          <a:ln/>
        </p:spPr>
        <p:txBody>
          <a:bodyPr wrap="square" rtlCol="0" anchor="t"/>
          <a:lstStyle/>
          <a:p>
            <a:pPr indent="0" marL="0">
              <a:buNone/>
            </a:pPr>
            <a:r>
              <a:rPr lang="en-US" sz="1150" dirty="0">
                <a:solidFill>
                  <a:srgbClr val="14213D"/>
                </a:solidFill>
                <a:latin typeface="Montserrat" pitchFamily="34" charset="0"/>
                <a:ea typeface="Montserrat" pitchFamily="34" charset="-122"/>
                <a:cs typeface="Montserrat" pitchFamily="34" charset="-120"/>
              </a:rPr>
              <a:t>Know the on-call escalation list. When in doubt, call your on-call REC.</a:t>
            </a:r>
            <a:endParaRPr lang="en-US" sz="1150" dirty="0"/>
          </a:p>
        </p:txBody>
      </p:sp>
      <p:sp>
        <p:nvSpPr>
          <p:cNvPr id="21" name="Shape 19"/>
          <p:cNvSpPr/>
          <p:nvPr/>
        </p:nvSpPr>
        <p:spPr>
          <a:xfrm>
            <a:off x="4297680" y="3657600"/>
            <a:ext cx="3566160" cy="1691640"/>
          </a:xfrm>
          <a:prstGeom prst="roundRect">
            <a:avLst>
              <a:gd name="adj" fmla="val 4324"/>
            </a:avLst>
          </a:prstGeom>
          <a:solidFill>
            <a:srgbClr val="FBF3E8"/>
          </a:solidFill>
          <a:ln w="12700">
            <a:solidFill>
              <a:srgbClr val="E2E8F0"/>
            </a:solidFill>
            <a:prstDash val="solid"/>
          </a:ln>
        </p:spPr>
      </p:sp>
      <p:sp>
        <p:nvSpPr>
          <p:cNvPr id="22" name="Text 20"/>
          <p:cNvSpPr/>
          <p:nvPr/>
        </p:nvSpPr>
        <p:spPr>
          <a:xfrm>
            <a:off x="4434840" y="3794760"/>
            <a:ext cx="548640" cy="54864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23" name="Text 21"/>
          <p:cNvSpPr/>
          <p:nvPr/>
        </p:nvSpPr>
        <p:spPr>
          <a:xfrm>
            <a:off x="5029200" y="3822192"/>
            <a:ext cx="2743200" cy="457200"/>
          </a:xfrm>
          <a:prstGeom prst="rect">
            <a:avLst/>
          </a:prstGeom>
          <a:noFill/>
          <a:ln/>
        </p:spPr>
        <p:txBody>
          <a:bodyPr wrap="square" rtlCol="0" anchor="ctr"/>
          <a:lstStyle/>
          <a:p>
            <a:pPr indent="0" marL="0">
              <a:buNone/>
            </a:pPr>
            <a:r>
              <a:rPr lang="en-US" sz="1500" b="1" dirty="0">
                <a:solidFill>
                  <a:srgbClr val="002D6A"/>
                </a:solidFill>
                <a:latin typeface="Montserrat" pitchFamily="34" charset="0"/>
                <a:ea typeface="Montserrat" pitchFamily="34" charset="-122"/>
                <a:cs typeface="Montserrat" pitchFamily="34" charset="-120"/>
              </a:rPr>
              <a:t>Follow purchasing rules</a:t>
            </a:r>
            <a:endParaRPr lang="en-US" sz="1500" dirty="0"/>
          </a:p>
        </p:txBody>
      </p:sp>
      <p:sp>
        <p:nvSpPr>
          <p:cNvPr id="24" name="Text 22"/>
          <p:cNvSpPr/>
          <p:nvPr/>
        </p:nvSpPr>
        <p:spPr>
          <a:xfrm>
            <a:off x="4480560" y="4389120"/>
            <a:ext cx="3246120" cy="868680"/>
          </a:xfrm>
          <a:prstGeom prst="rect">
            <a:avLst/>
          </a:prstGeom>
          <a:noFill/>
          <a:ln/>
        </p:spPr>
        <p:txBody>
          <a:bodyPr wrap="square" rtlCol="0" anchor="t"/>
          <a:lstStyle/>
          <a:p>
            <a:pPr indent="0" marL="0">
              <a:buNone/>
            </a:pPr>
            <a:r>
              <a:rPr lang="en-US" sz="1150" dirty="0">
                <a:solidFill>
                  <a:srgbClr val="14213D"/>
                </a:solidFill>
                <a:latin typeface="Montserrat" pitchFamily="34" charset="0"/>
                <a:ea typeface="Montserrat" pitchFamily="34" charset="-122"/>
                <a:cs typeface="Montserrat" pitchFamily="34" charset="-120"/>
              </a:rPr>
              <a:t>Emburse card only, local vendors for food, include all fees and tips.</a:t>
            </a:r>
            <a:endParaRPr lang="en-US" sz="1150" dirty="0"/>
          </a:p>
        </p:txBody>
      </p:sp>
      <p:sp>
        <p:nvSpPr>
          <p:cNvPr id="25" name="Shape 23"/>
          <p:cNvSpPr/>
          <p:nvPr/>
        </p:nvSpPr>
        <p:spPr>
          <a:xfrm>
            <a:off x="8046720" y="3657600"/>
            <a:ext cx="3566160" cy="1691640"/>
          </a:xfrm>
          <a:prstGeom prst="roundRect">
            <a:avLst>
              <a:gd name="adj" fmla="val 4324"/>
            </a:avLst>
          </a:prstGeom>
          <a:solidFill>
            <a:srgbClr val="DCEBF7"/>
          </a:solidFill>
          <a:ln w="12700">
            <a:solidFill>
              <a:srgbClr val="E2E8F0"/>
            </a:solidFill>
            <a:prstDash val="solid"/>
          </a:ln>
        </p:spPr>
      </p:sp>
      <p:sp>
        <p:nvSpPr>
          <p:cNvPr id="26" name="Text 24"/>
          <p:cNvSpPr/>
          <p:nvPr/>
        </p:nvSpPr>
        <p:spPr>
          <a:xfrm>
            <a:off x="8183880" y="3794760"/>
            <a:ext cx="548640" cy="54864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27" name="Text 25"/>
          <p:cNvSpPr/>
          <p:nvPr/>
        </p:nvSpPr>
        <p:spPr>
          <a:xfrm>
            <a:off x="8778240" y="3822192"/>
            <a:ext cx="2743200" cy="457200"/>
          </a:xfrm>
          <a:prstGeom prst="rect">
            <a:avLst/>
          </a:prstGeom>
          <a:noFill/>
          <a:ln/>
        </p:spPr>
        <p:txBody>
          <a:bodyPr wrap="square" rtlCol="0" anchor="ctr"/>
          <a:lstStyle/>
          <a:p>
            <a:pPr indent="0" marL="0">
              <a:buNone/>
            </a:pPr>
            <a:r>
              <a:rPr lang="en-US" sz="1500" b="1" dirty="0">
                <a:solidFill>
                  <a:srgbClr val="002D6A"/>
                </a:solidFill>
                <a:latin typeface="Montserrat" pitchFamily="34" charset="0"/>
                <a:ea typeface="Montserrat" pitchFamily="34" charset="-122"/>
                <a:cs typeface="Montserrat" pitchFamily="34" charset="-120"/>
              </a:rPr>
              <a:t>Speak up</a:t>
            </a:r>
            <a:endParaRPr lang="en-US" sz="1500" dirty="0"/>
          </a:p>
        </p:txBody>
      </p:sp>
      <p:sp>
        <p:nvSpPr>
          <p:cNvPr id="28" name="Text 26"/>
          <p:cNvSpPr/>
          <p:nvPr/>
        </p:nvSpPr>
        <p:spPr>
          <a:xfrm>
            <a:off x="8229600" y="4389120"/>
            <a:ext cx="3246120" cy="868680"/>
          </a:xfrm>
          <a:prstGeom prst="rect">
            <a:avLst/>
          </a:prstGeom>
          <a:noFill/>
          <a:ln/>
        </p:spPr>
        <p:txBody>
          <a:bodyPr wrap="square" rtlCol="0" anchor="t"/>
          <a:lstStyle/>
          <a:p>
            <a:pPr indent="0" marL="0">
              <a:buNone/>
            </a:pPr>
            <a:r>
              <a:rPr lang="en-US" sz="1150" dirty="0">
                <a:solidFill>
                  <a:srgbClr val="14213D"/>
                </a:solidFill>
                <a:latin typeface="Montserrat" pitchFamily="34" charset="0"/>
                <a:ea typeface="Montserrat" pitchFamily="34" charset="-122"/>
                <a:cs typeface="Montserrat" pitchFamily="34" charset="-120"/>
              </a:rPr>
              <a:t>Use the Feedback button to report bugs or suggest improvements.</a:t>
            </a:r>
            <a:endParaRPr lang="en-US" sz="1150" dirty="0"/>
          </a:p>
        </p:txBody>
      </p:sp>
      <p:sp>
        <p:nvSpPr>
          <p:cNvPr id="25" name="Slide Number Placeholder 0"/>
          <p:cNvSpPr>
            <a:spLocks noGrp="1"/>
          </p:cNvSpPr>
          <p:nvPr>
            <p:ph type="sldNum" sz="quarter" idx="4294967295"/>
          </p:nvPr>
        </p:nvSpPr>
        <p:spPr>
          <a:xfrm>
            <a:off x="113842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2D6A"/>
                </a:solidFill>
                <a:latin typeface="Montserrat"/>
                <a:ea typeface="Montserrat"/>
                <a:cs typeface="Montserrat"/>
              </a:defRPr>
            </a:lvl1pPr>
          </a:lstStyle>
          <a:p>
            <a:pPr algn="l"/>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C:\Users\brian\AppData\Local\Temp\kilo\ppt\img\rooftop-terrace-0235.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2D6A">
              <a:alpha val="82000"/>
            </a:srgbClr>
          </a:solidFill>
          <a:ln w="12700">
            <a:solidFill>
              <a:srgbClr val="002D6A">
                <a:alpha val="0"/>
              </a:srgbClr>
            </a:solidFill>
            <a:prstDash val="solid"/>
          </a:ln>
        </p:spPr>
      </p:sp>
      <p:pic>
        <p:nvPicPr>
          <p:cNvPr id="4" name="Image 1" descr="C:\Users\brian\AppData\Local\Temp\kilo\ppt\img\logo-white.png">    </p:cNvPr>
          <p:cNvPicPr>
            <a:picLocks noChangeAspect="1"/>
          </p:cNvPicPr>
          <p:nvPr/>
        </p:nvPicPr>
        <p:blipFill>
          <a:blip r:embed="rId2"/>
          <a:stretch>
            <a:fillRect/>
          </a:stretch>
        </p:blipFill>
        <p:spPr>
          <a:xfrm>
            <a:off x="4632808" y="1097280"/>
            <a:ext cx="2926080" cy="1152144"/>
          </a:xfrm>
          <a:prstGeom prst="rect">
            <a:avLst/>
          </a:prstGeom>
        </p:spPr>
      </p:pic>
      <p:sp>
        <p:nvSpPr>
          <p:cNvPr id="5" name="Text 1"/>
          <p:cNvSpPr/>
          <p:nvPr/>
        </p:nvSpPr>
        <p:spPr>
          <a:xfrm>
            <a:off x="0" y="2651760"/>
            <a:ext cx="12191695" cy="914400"/>
          </a:xfrm>
          <a:prstGeom prst="rect">
            <a:avLst/>
          </a:prstGeom>
          <a:noFill/>
          <a:ln/>
        </p:spPr>
        <p:txBody>
          <a:bodyPr wrap="square" rtlCol="0" anchor="ctr"/>
          <a:lstStyle/>
          <a:p>
            <a:pPr algn="ctr" indent="0" marL="0">
              <a:buNone/>
            </a:pPr>
            <a:r>
              <a:rPr lang="en-US" sz="4400" b="1" dirty="0">
                <a:solidFill>
                  <a:srgbClr val="FFFFFF"/>
                </a:solidFill>
                <a:latin typeface="Montserrat" pitchFamily="34" charset="0"/>
                <a:ea typeface="Montserrat" pitchFamily="34" charset="-122"/>
                <a:cs typeface="Montserrat" pitchFamily="34" charset="-120"/>
              </a:rPr>
              <a:t>You’re ready!</a:t>
            </a:r>
            <a:endParaRPr lang="en-US" sz="4400" dirty="0"/>
          </a:p>
        </p:txBody>
      </p:sp>
      <p:sp>
        <p:nvSpPr>
          <p:cNvPr id="6" name="Shape 2"/>
          <p:cNvSpPr/>
          <p:nvPr/>
        </p:nvSpPr>
        <p:spPr>
          <a:xfrm>
            <a:off x="5455768" y="3611880"/>
            <a:ext cx="1280160" cy="73152"/>
          </a:xfrm>
          <a:prstGeom prst="rect">
            <a:avLst/>
          </a:prstGeom>
          <a:solidFill>
            <a:srgbClr val="F99239"/>
          </a:solidFill>
          <a:ln w="12700">
            <a:solidFill>
              <a:srgbClr val="F99239"/>
            </a:solidFill>
            <a:prstDash val="solid"/>
          </a:ln>
        </p:spPr>
      </p:sp>
      <p:sp>
        <p:nvSpPr>
          <p:cNvPr id="7" name="Text 3"/>
          <p:cNvSpPr/>
          <p:nvPr/>
        </p:nvSpPr>
        <p:spPr>
          <a:xfrm>
            <a:off x="914400" y="3886200"/>
            <a:ext cx="10362895" cy="548640"/>
          </a:xfrm>
          <a:prstGeom prst="rect">
            <a:avLst/>
          </a:prstGeom>
          <a:noFill/>
          <a:ln/>
        </p:spPr>
        <p:txBody>
          <a:bodyPr wrap="square" rtlCol="0" anchor="ctr"/>
          <a:lstStyle/>
          <a:p>
            <a:pPr algn="ctr" indent="0" marL="0">
              <a:buNone/>
            </a:pPr>
            <a:r>
              <a:rPr lang="en-US" sz="1800" dirty="0">
                <a:solidFill>
                  <a:srgbClr val="DCEBF7"/>
                </a:solidFill>
                <a:latin typeface="Montserrat" pitchFamily="34" charset="0"/>
                <a:ea typeface="Montserrat" pitchFamily="34" charset="-122"/>
                <a:cs typeface="Montserrat" pitchFamily="34" charset="-120"/>
              </a:rPr>
              <a:t>Questions? Ask your REC, or use the Feedback button in the Hub.</a:t>
            </a:r>
            <a:endParaRPr lang="en-US" sz="1800" dirty="0"/>
          </a:p>
        </p:txBody>
      </p:sp>
      <p:sp>
        <p:nvSpPr>
          <p:cNvPr id="8" name="Text 4"/>
          <p:cNvSpPr/>
          <p:nvPr/>
        </p:nvSpPr>
        <p:spPr>
          <a:xfrm>
            <a:off x="0" y="6035040"/>
            <a:ext cx="12191695" cy="365760"/>
          </a:xfrm>
          <a:prstGeom prst="rect">
            <a:avLst/>
          </a:prstGeom>
          <a:noFill/>
          <a:ln/>
        </p:spPr>
        <p:txBody>
          <a:bodyPr wrap="square" rtlCol="0" anchor="ctr"/>
          <a:lstStyle/>
          <a:p>
            <a:pPr algn="ctr" indent="0" marL="0">
              <a:buNone/>
            </a:pPr>
            <a:r>
              <a:rPr lang="en-US" sz="1300" b="1" dirty="0">
                <a:solidFill>
                  <a:srgbClr val="F99239"/>
                </a:solidFill>
                <a:latin typeface="Montserrat" pitchFamily="34" charset="0"/>
                <a:ea typeface="Montserrat" pitchFamily="34" charset="-122"/>
                <a:cs typeface="Montserrat" pitchFamily="34" charset="-120"/>
              </a:rPr>
              <a:t>theharbourocc.com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ResLife Hub &amp; Creative Studio — RA Training</dc:title>
  <dc:subject>PptxGenJS Presentation</dc:subject>
  <dc:creator>The Harbour at OCC — Resident Life</dc:creator>
  <cp:lastModifiedBy>The Harbour at OCC — Resident Life</cp:lastModifiedBy>
  <cp:revision>1</cp:revision>
  <dcterms:created xsi:type="dcterms:W3CDTF">2026-10-13T21:27:26Z</dcterms:created>
  <dcterms:modified xsi:type="dcterms:W3CDTF">2026-10-13T21:27:26Z</dcterms:modified>
</cp:coreProperties>
</file>